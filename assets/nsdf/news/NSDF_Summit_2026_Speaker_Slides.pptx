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93" r:id="rId44"/>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92" r:id="rId43"/>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2" roundtripDataSignature="AMtx7mgfj6uwlpM7LXIahgxPHM0J2aII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  <Relationship Id="rId43" Type="http://schemas.openxmlformats.org/officeDocument/2006/relationships/slide" Target="slides/slide37.xml"/>
  <Relationship Id="rId44" Type="http://schemas.openxmlformats.org/officeDocument/2006/relationships/slide" Target="slides/slide3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6" name="Google Shape;7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Welcome: The Collaboration Challenge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Welcome (15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NSDF Summit on Federated Autonomous Science (Monday, October 19, 2026 · 9:00–9:15 AM CT).</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Also: Commitments and Close (with Valerio Pascucci), Mon 4:50–5:00 PM CT; PACT 2026 Welcome (with Jaejin Lee and Lawrence Rauchwerger), Tue 9:00–9:30 AM CT. Contact: mtaufer@utk.edu.</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787" name="Google Shape;7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 name="Google Shape;88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Welcome: The Collaboration Challenge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Welcome (15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NSDF Summit on Federated Autonomous Science (Monday, October 19, 2026 · 9:00–9:15 AM CT).</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Also: Commitments and Close (with Michela Taufer), Mon 4:50–5:00 PM CT. Contact: pascucci.valerio@gmail.com.</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889" name="Google Shape;88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2" name="Google Shape;99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Materials Science: Artificial Intelligence for Materials Design PCL Node AIMD-Net</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Foundations for Federated Autonomous Science (Monday, October 19, 2026 · 9:15–10:00 AM CT). Chair: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993" name="Google Shape;99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Energy: Trustworthy Autonomous Control of Nuclear Reactors Through Federated Science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Foundations for Federated Autonomous Science (Monday, October 19, 2026 · 9:15–10:00 AM CT). Chair: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The program page lists this affiliation as "Utah Nuclear Engineering Program..." (text appears truncated on the site).</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093" name="Google Shape;109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3" name="Google Shape;11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Health/medical: The Need for Community Standards</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Foundations for Federated Autonomous Science (Monday, October 19, 2026 · 9:15–10:00 AM CT). Chair: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194" name="Google Shape;11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5" name="Google Shape;12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Science Domains and Trustworthy Autonomy</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Moderator (90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296" name="Google Shape;12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4" name="Google Shape;139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Internet2 and the Future of Federated Autonomous Science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395" name="Google Shape;139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6" name="Google Shape;149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Quantum Mechanics-Based Multitensor AI/ML Uniquely Able to Discover, Validate and Interpret Predictors of Patient Outcomes and Drug Targets from Small-Cohort, Noisy and High-Dimensional Multiomic Data</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497" name="Google Shape;149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7" name="Google Shape;15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Challenges for Distributed Digital Infrastructure at LLNL</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Also moderating: From Position Papers to Collaborative Pilots, Mon 3:30–4:10 PM CT.</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598" name="Google Shape;15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Trust but Verify: Secure and Trustworthy AI in Science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700" name="Google Shape;170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9" name="Google Shape;179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FedReady: Bounded Agents for Federation Formation</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800" name="Google Shape;180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1" name="Google Shape;190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Computing Infrastructure for Clinical AI — Needs and Challenges</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1902" name="Google Shape;190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2" name="Shape 2002"/>
        <p:cNvGrpSpPr/>
        <p:nvPr/>
      </p:nvGrpSpPr>
      <p:grpSpPr>
        <a:xfrm>
          <a:off x="0" y="0"/>
          <a:ext cx="0" cy="0"/>
          <a:chOff x="0" y="0"/>
          <a:chExt cx="0" cy="0"/>
        </a:xfrm>
      </p:grpSpPr>
      <p:sp>
        <p:nvSpPr>
          <p:cNvPr id="2003" name="Google Shape;20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4" name="Google Shape;200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Introducing AURORA: A Utah Programmable Cloud Laboratory (PCL) Node for Quantum Materials and Beyond</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Talk (10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Science Domains and Trustworthy Autonomy (Monday, October 19, 2026 · 10:30 AM–12:00 PM CT). Moderator: Mike Papka, Argonne National Laboratory; University of Illinois Chicago.</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005" name="Google Shape;200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2" name="Shape 2102"/>
        <p:cNvGrpSpPr/>
        <p:nvPr/>
      </p:nvGrpSpPr>
      <p:grpSpPr>
        <a:xfrm>
          <a:off x="0" y="0"/>
          <a:ext cx="0" cy="0"/>
          <a:chOff x="0" y="0"/>
          <a:chExt cx="0" cy="0"/>
        </a:xfrm>
      </p:grpSpPr>
      <p:sp>
        <p:nvSpPr>
          <p:cNvPr id="2103" name="Google Shape;210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4" name="Google Shape;21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Cross-Cutting Perspectives: Data, AI, and Federation</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Moderator (45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Cross-Cutting Perspectives: Data, AI, and Federation (Monday, October 19, 2026 · 1:30–2:15 PM CT). Moderator: Carol Song, Purdue University.</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105" name="Google Shape;210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1" name="Shape 2201"/>
        <p:cNvGrpSpPr/>
        <p:nvPr/>
      </p:nvGrpSpPr>
      <p:grpSpPr>
        <a:xfrm>
          <a:off x="0" y="0"/>
          <a:ext cx="0" cy="0"/>
          <a:chOff x="0" y="0"/>
          <a:chExt cx="0" cy="0"/>
        </a:xfrm>
      </p:grpSpPr>
      <p:sp>
        <p:nvSpPr>
          <p:cNvPr id="2202" name="Google Shape;22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3" name="Google Shape;22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Knowledge Representation &amp; Semantics in AI Science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Cross-Cutting Perspectives: Data, AI, and Federation (Monday, October 19, 2026 · 1:30–2:15 PM CT). Moderator: Carol Song, Purdue University.</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204" name="Google Shape;22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1" name="Shape 2301"/>
        <p:cNvGrpSpPr/>
        <p:nvPr/>
      </p:nvGrpSpPr>
      <p:grpSpPr>
        <a:xfrm>
          <a:off x="0" y="0"/>
          <a:ext cx="0" cy="0"/>
          <a:chOff x="0" y="0"/>
          <a:chExt cx="0" cy="0"/>
        </a:xfrm>
      </p:grpSpPr>
      <p:sp>
        <p:nvSpPr>
          <p:cNvPr id="2302" name="Google Shape;230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3" name="Google Shape;230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AI-Driven Autonomous Data Factories for Scientific Applications</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Cross-Cutting Perspectives: Data, AI, and Federation (Monday, October 19, 2026 · 1:30–2:15 PM CT). Moderator: Carol Song, Purdue University.</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304" name="Google Shape;230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3" name="Shape 2403"/>
        <p:cNvGrpSpPr/>
        <p:nvPr/>
      </p:nvGrpSpPr>
      <p:grpSpPr>
        <a:xfrm>
          <a:off x="0" y="0"/>
          <a:ext cx="0" cy="0"/>
          <a:chOff x="0" y="0"/>
          <a:chExt cx="0" cy="0"/>
        </a:xfrm>
      </p:grpSpPr>
      <p:sp>
        <p:nvSpPr>
          <p:cNvPr id="2404" name="Google Shape;24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5" name="Google Shape;24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Federating Research Infrastructure for Portable, Flexible Scientific Workflows</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Cross-Cutting Perspectives: Data, AI, and Federation (Monday, October 19, 2026 · 1:30–2:15 PM CT). Moderator: Carol Song, Purdue University.</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406" name="Google Shape;240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4" name="Shape 2504"/>
        <p:cNvGrpSpPr/>
        <p:nvPr/>
      </p:nvGrpSpPr>
      <p:grpSpPr>
        <a:xfrm>
          <a:off x="0" y="0"/>
          <a:ext cx="0" cy="0"/>
          <a:chOff x="0" y="0"/>
          <a:chExt cx="0" cy="0"/>
        </a:xfrm>
      </p:grpSpPr>
      <p:sp>
        <p:nvSpPr>
          <p:cNvPr id="2505" name="Google Shape;25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6" name="Google Shape;250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Learning from Private Data Repositories</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Cross-Cutting Perspectives: Data, AI, and Federation (Monday, October 19, 2026 · 1:30–2:15 PM CT). Moderator: Carol Song, Purdue University.</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507" name="Google Shape;250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5" name="Shape 2605"/>
        <p:cNvGrpSpPr/>
        <p:nvPr/>
      </p:nvGrpSpPr>
      <p:grpSpPr>
        <a:xfrm>
          <a:off x="0" y="0"/>
          <a:ext cx="0" cy="0"/>
          <a:chOff x="0" y="0"/>
          <a:chExt cx="0" cy="0"/>
        </a:xfrm>
      </p:grpSpPr>
      <p:sp>
        <p:nvSpPr>
          <p:cNvPr id="2606" name="Google Shape;26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7" name="Google Shape;260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Federated Surgical Intelligence: Toward a Distributed Measurement Infrastructure for Surgery</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Cross-Cutting Perspectives: Data, AI, and Federation (Monday, October 19, 2026 · 1:30–2:15 PM CT). Moderator: Carol Song, Purdue University.</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608" name="Google Shape;260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5" name="Shape 2705"/>
        <p:cNvGrpSpPr/>
        <p:nvPr/>
      </p:nvGrpSpPr>
      <p:grpSpPr>
        <a:xfrm>
          <a:off x="0" y="0"/>
          <a:ext cx="0" cy="0"/>
          <a:chOff x="0" y="0"/>
          <a:chExt cx="0" cy="0"/>
        </a:xfrm>
      </p:grpSpPr>
      <p:sp>
        <p:nvSpPr>
          <p:cNvPr id="2706" name="Google Shape;27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7" name="Google Shape;27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Shared Requirements for Federated Autonomous Science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Moderator (45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Requirements for Federated Autonomous Science (Monday, October 19, 2026 · 2:15–3:00 PM CT). Moderator: Virginia Trueheart, TACC.</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708" name="Google Shape;270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3" name="Shape 2803"/>
        <p:cNvGrpSpPr/>
        <p:nvPr/>
      </p:nvGrpSpPr>
      <p:grpSpPr>
        <a:xfrm>
          <a:off x="0" y="0"/>
          <a:ext cx="0" cy="0"/>
          <a:chOff x="0" y="0"/>
          <a:chExt cx="0" cy="0"/>
        </a:xfrm>
      </p:grpSpPr>
      <p:sp>
        <p:nvSpPr>
          <p:cNvPr id="2804" name="Google Shape;280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5" name="Google Shape;280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Reproducibility, repeatability, and trustworthiness in scientific discovery</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Requirements for Federated Autonomous Science (Monday, October 19, 2026 · 2:15–3:00 PM CT). Moderator: Virginia Trueheart, TACC.</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806" name="Google Shape;280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5" name="Google Shape;290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Dissolving the Data/Compute Boundary — in Both Directions, at Runtime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Requirements for Federated Autonomous Science (Monday, October 19, 2026 · 2:15–3:00 PM CT). Moderator: Virginia Trueheart, TACC.</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2906" name="Google Shape;290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2" name="Shape 3002"/>
        <p:cNvGrpSpPr/>
        <p:nvPr/>
      </p:nvGrpSpPr>
      <p:grpSpPr>
        <a:xfrm>
          <a:off x="0" y="0"/>
          <a:ext cx="0" cy="0"/>
          <a:chOff x="0" y="0"/>
          <a:chExt cx="0" cy="0"/>
        </a:xfrm>
      </p:grpSpPr>
      <p:sp>
        <p:nvSpPr>
          <p:cNvPr id="3003" name="Google Shape;300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4" name="Google Shape;300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FAIR4AI-Bio: AI-Ready Data Infrastructure for Ecology and Biodiversity / NEON</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Requirements for Federated Autonomous Science (Monday, October 19, 2026 · 2:15–3:00 PM CT). Moderator: Virginia Trueheart, TACC.</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005" name="Google Shape;300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2" name="Shape 3102"/>
        <p:cNvGrpSpPr/>
        <p:nvPr/>
      </p:nvGrpSpPr>
      <p:grpSpPr>
        <a:xfrm>
          <a:off x="0" y="0"/>
          <a:ext cx="0" cy="0"/>
          <a:chOff x="0" y="0"/>
          <a:chExt cx="0" cy="0"/>
        </a:xfrm>
      </p:grpSpPr>
      <p:sp>
        <p:nvSpPr>
          <p:cNvPr id="3103" name="Google Shape;310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4" name="Google Shape;310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The Need for Effective Data Fusion Methods in Materials Manufacturing</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Requirements for Federated Autonomous Science (Monday, October 19, 2026 · 2:15–3:00 PM CT). Moderator: Virginia Trueheart, TACC.</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105" name="Google Shape;310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2" name="Shape 3202"/>
        <p:cNvGrpSpPr/>
        <p:nvPr/>
      </p:nvGrpSpPr>
      <p:grpSpPr>
        <a:xfrm>
          <a:off x="0" y="0"/>
          <a:ext cx="0" cy="0"/>
          <a:chOff x="0" y="0"/>
          <a:chExt cx="0" cy="0"/>
        </a:xfrm>
      </p:grpSpPr>
      <p:sp>
        <p:nvSpPr>
          <p:cNvPr id="3203" name="Google Shape;320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4" name="Google Shape;320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AI-BIOME: The AI-Enabled Bio-Inspired Materials Ecosystem</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Requirements for Federated Autonomous Science (Monday, October 19, 2026 · 2:15–3:00 PM CT). Moderator: Virginia Trueheart, TACC.</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affiliation,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205" name="Google Shape;320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2" name="Shape 3302"/>
        <p:cNvGrpSpPr/>
        <p:nvPr/>
      </p:nvGrpSpPr>
      <p:grpSpPr>
        <a:xfrm>
          <a:off x="0" y="0"/>
          <a:ext cx="0" cy="0"/>
          <a:chOff x="0" y="0"/>
          <a:chExt cx="0" cy="0"/>
        </a:xfrm>
      </p:grpSpPr>
      <p:sp>
        <p:nvSpPr>
          <p:cNvPr id="3303" name="Google Shape;330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4" name="Google Shape;330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Real-Time Experiment Steering in 3D Biological Microscopy</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Pilot Pitch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From Position Papers to Collaborative Pilots (Monday, October 19, 2026 · 3:30–4:10 PM CT). Moderator: Timo Bremer, Lawrence Livermore National Laboratory and University of Utah.</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305" name="Google Shape;330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3" name="Shape 3403"/>
        <p:cNvGrpSpPr/>
        <p:nvPr/>
      </p:nvGrpSpPr>
      <p:grpSpPr>
        <a:xfrm>
          <a:off x="0" y="0"/>
          <a:ext cx="0" cy="0"/>
          <a:chOff x="0" y="0"/>
          <a:chExt cx="0" cy="0"/>
        </a:xfrm>
      </p:grpSpPr>
      <p:sp>
        <p:nvSpPr>
          <p:cNvPr id="3404" name="Google Shape;340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5" name="Google Shape;340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Applications of ML in Life STEM</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Pilot Pitch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From Position Papers to Collaborative Pilots (Monday, October 19, 2026 · 3:30–4:10 PM CT). Moderator: Timo Bremer, Lawrence Livermore National Laboratory and University of Utah.</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406" name="Google Shape;340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3" name="Shape 3503"/>
        <p:cNvGrpSpPr/>
        <p:nvPr/>
      </p:nvGrpSpPr>
      <p:grpSpPr>
        <a:xfrm>
          <a:off x="0" y="0"/>
          <a:ext cx="0" cy="0"/>
          <a:chOff x="0" y="0"/>
          <a:chExt cx="0" cy="0"/>
        </a:xfrm>
      </p:grpSpPr>
      <p:sp>
        <p:nvSpPr>
          <p:cNvPr id="3504" name="Google Shape;350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5" name="Google Shape;350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In-Space Manufacturing</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Pilot Pitch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From Position Papers to Collaborative Pilots (Monday, October 19, 2026 · 3:30–4:10 PM CT). Moderator: Timo Bremer, Lawrence Livermore National Laboratory and University of Utah.</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506" name="Google Shape;350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3" name="Shape 3603"/>
        <p:cNvGrpSpPr/>
        <p:nvPr/>
      </p:nvGrpSpPr>
      <p:grpSpPr>
        <a:xfrm>
          <a:off x="0" y="0"/>
          <a:ext cx="0" cy="0"/>
          <a:chOff x="0" y="0"/>
          <a:chExt cx="0" cy="0"/>
        </a:xfrm>
      </p:grpSpPr>
      <p:sp>
        <p:nvSpPr>
          <p:cNvPr id="3604" name="Google Shape;360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5" name="Google Shape;360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From Browser to DGX: Federated AI and Computing for Interactive Science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Pilot Pitch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From Position Papers to Collaborative Pilots (Monday, October 19, 2026 · 3:30–4:10 PM CT). Moderator: Timo Bremer, Lawrence Livermore National Laboratory and University of Utah.</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606" name="Google Shape;360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3" name="Shape 3703"/>
        <p:cNvGrpSpPr/>
        <p:nvPr/>
      </p:nvGrpSpPr>
      <p:grpSpPr>
        <a:xfrm>
          <a:off x="0" y="0"/>
          <a:ext cx="0" cy="0"/>
          <a:chOff x="0" y="0"/>
          <a:chExt cx="0" cy="0"/>
        </a:xfrm>
      </p:grpSpPr>
      <p:sp>
        <p:nvSpPr>
          <p:cNvPr id="3704" name="Google Shape;370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5" name="Google Shape;370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From Explainable to Informative AI: Understanding the World, Not Just the Model</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Pilot Pitch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From Position Papers to Collaborative Pilots (Monday, October 19, 2026 · 3:30–4:10 PM CT). Moderator: Timo Bremer, Lawrence Livermore National Laboratory and University of Utah.</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706" name="Google Shape;370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3" name="Shape 3803"/>
        <p:cNvGrpSpPr/>
        <p:nvPr/>
      </p:nvGrpSpPr>
      <p:grpSpPr>
        <a:xfrm>
          <a:off x="0" y="0"/>
          <a:ext cx="0" cy="0"/>
          <a:chOff x="0" y="0"/>
          <a:chExt cx="0" cy="0"/>
        </a:xfrm>
      </p:grpSpPr>
      <p:sp>
        <p:nvSpPr>
          <p:cNvPr id="3804" name="Google Shape;380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5" name="Google Shape;380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0" name="Shape 3900"/>
        <p:cNvGrpSpPr/>
        <p:nvPr/>
      </p:nvGrpSpPr>
      <p:grpSpPr>
        <a:xfrm>
          <a:off x="0" y="0"/>
          <a:ext cx="0" cy="0"/>
          <a:chOff x="0" y="0"/>
          <a:chExt cx="0" cy="0"/>
        </a:xfrm>
      </p:grpSpPr>
      <p:sp>
        <p:nvSpPr>
          <p:cNvPr id="3901" name="Google Shape;390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2" name="Google Shape;390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Academy: A Federated Platform for Scientific AI Agents</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Agenda for NSDF and Federal Agencies and Labs (Monday, October 19, 2026 · 4:10–4:50 PM CT). Moderator: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3903" name="Google Shape;390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9" name="Shape 3999"/>
        <p:cNvGrpSpPr/>
        <p:nvPr/>
      </p:nvGrpSpPr>
      <p:grpSpPr>
        <a:xfrm>
          <a:off x="0" y="0"/>
          <a:ext cx="0" cy="0"/>
          <a:chOff x="0" y="0"/>
          <a:chExt cx="0" cy="0"/>
        </a:xfrm>
      </p:grpSpPr>
      <p:sp>
        <p:nvSpPr>
          <p:cNvPr id="4000" name="Google Shape;40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1" name="Google Shape;40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Agenda for NSDF and Federal Agencies and Labs (Monday, October 19, 2026 · 4:10–4:50 PM CT). Moderator: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4002" name="Google Shape;40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9" name="Shape 4099"/>
        <p:cNvGrpSpPr/>
        <p:nvPr/>
      </p:nvGrpSpPr>
      <p:grpSpPr>
        <a:xfrm>
          <a:off x="0" y="0"/>
          <a:ext cx="0" cy="0"/>
          <a:chOff x="0" y="0"/>
          <a:chExt cx="0" cy="0"/>
        </a:xfrm>
      </p:grpSpPr>
      <p:sp>
        <p:nvSpPr>
          <p:cNvPr id="4100" name="Google Shape;410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1" name="Google Shape;410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Autonomous Science at NLR</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Agenda for NSDF and Federal Agencies and Labs (Monday, October 19, 2026 · 4:10–4:50 PM CT). Moderator: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4102" name="Google Shape;410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9" name="Shape 4199"/>
        <p:cNvGrpSpPr/>
        <p:nvPr/>
      </p:nvGrpSpPr>
      <p:grpSpPr>
        <a:xfrm>
          <a:off x="0" y="0"/>
          <a:ext cx="0" cy="0"/>
          <a:chOff x="0" y="0"/>
          <a:chExt cx="0" cy="0"/>
        </a:xfrm>
      </p:grpSpPr>
      <p:sp>
        <p:nvSpPr>
          <p:cNvPr id="4200" name="Google Shape;420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1" name="Google Shape;420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Integrating AI-Ready Computational and Experimental Data for Materials Science</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Agenda for NSDF and Federal Agencies and Labs (Monday, October 19, 2026 · 4:10–4:50 PM CT). Moderator: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4202" name="Google Shape;420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8" name="Shape 4298"/>
        <p:cNvGrpSpPr/>
        <p:nvPr/>
      </p:nvGrpSpPr>
      <p:grpSpPr>
        <a:xfrm>
          <a:off x="0" y="0"/>
          <a:ext cx="0" cy="0"/>
          <a:chOff x="0" y="0"/>
          <a:chExt cx="0" cy="0"/>
        </a:xfrm>
      </p:grpSpPr>
      <p:sp>
        <p:nvSpPr>
          <p:cNvPr id="4299" name="Google Shape;429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0" name="Google Shape;430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Arial"/>
                <a:ea typeface="Arial"/>
                <a:cs typeface="Arial"/>
                <a:sym typeface="Arial"/>
              </a:rPr>
              <a:t>Talk: AI Readiness and the User Facilities: Autonomy, Metadata, and Agentic AI at the NCNR User Facility</a:t>
            </a:r>
            <a:endParaRPr/>
          </a:p>
          <a:p>
            <a:pPr indent="0" lvl="0" marL="0" rtl="0" algn="l">
              <a:spcBef>
                <a:spcPts val="0"/>
              </a:spcBef>
              <a:spcAft>
                <a:spcPts val="0"/>
              </a:spcAft>
              <a:buNone/>
            </a:pPr>
            <a:r>
              <a:rPr lang="en-US" sz="1200">
                <a:solidFill>
                  <a:schemeClr val="dk1"/>
                </a:solidFill>
                <a:latin typeface="Arial"/>
                <a:ea typeface="Arial"/>
                <a:cs typeface="Arial"/>
                <a:sym typeface="Arial"/>
              </a:rPr>
              <a:t>Format: Position Statement (5 min).</a:t>
            </a:r>
            <a:endParaRPr/>
          </a:p>
          <a:p>
            <a:pPr indent="0" lvl="0" marL="0" rtl="0" algn="l">
              <a:spcBef>
                <a:spcPts val="0"/>
              </a:spcBef>
              <a:spcAft>
                <a:spcPts val="0"/>
              </a:spcAft>
              <a:buNone/>
            </a:pPr>
            <a:r>
              <a:rPr lang="en-US" sz="1200">
                <a:solidFill>
                  <a:schemeClr val="dk1"/>
                </a:solidFill>
                <a:latin typeface="Arial"/>
                <a:ea typeface="Arial"/>
                <a:cs typeface="Arial"/>
                <a:sym typeface="Arial"/>
              </a:rPr>
              <a:t>Session: Shared Agenda for NSDF and Federal Agencies and Labs (Monday, October 19, 2026 · 4:10–4:50 PM CT). Moderator: TBA.</a:t>
            </a:r>
            <a:endParaRPr/>
          </a:p>
          <a:p>
            <a:pPr indent="0" lvl="0" marL="0" rtl="0" algn="l">
              <a:spcBef>
                <a:spcPts val="0"/>
              </a:spcBef>
              <a:spcAft>
                <a:spcPts val="0"/>
              </a:spcAft>
              <a:buNone/>
            </a:pPr>
            <a:r>
              <a:rPr lang="en-US" sz="1200">
                <a:solidFill>
                  <a:schemeClr val="dk1"/>
                </a:solidFill>
                <a:latin typeface="Arial"/>
                <a:ea typeface="Arial"/>
                <a:cs typeface="Arial"/>
                <a:sym typeface="Arial"/>
              </a:rPr>
              <a:t>Individual talk times within a session are not listed on the program page; the time above is the session block.</a:t>
            </a:r>
            <a:endParaRPr/>
          </a:p>
          <a:p>
            <a:pPr indent="0" lvl="0" marL="0" rtl="0" algn="l">
              <a:spcBef>
                <a:spcPts val="0"/>
              </a:spcBef>
              <a:spcAft>
                <a:spcPts val="0"/>
              </a:spcAft>
              <a:buNone/>
            </a:pPr>
            <a:r>
              <a:rPr lang="en-US" sz="1200">
                <a:solidFill>
                  <a:schemeClr val="dk1"/>
                </a:solidFill>
                <a:latin typeface="Arial"/>
                <a:ea typeface="Arial"/>
                <a:cs typeface="Arial"/>
                <a:sym typeface="Arial"/>
              </a:rPr>
              <a:t>Event: NSDF Summit on Federated Autonomous Science, Oct 19 (all day) and Oct 20 (morning), 2026. Discovery Partners Institute, 200 S Wacker, Chicago, IL 60606, 4th floor. Held in conjunction with PACT 2026. All times Central.</a:t>
            </a:r>
            <a:endParaRPr/>
          </a:p>
          <a:p>
            <a:pPr indent="0" lvl="0" marL="0" rtl="0" algn="l">
              <a:spcBef>
                <a:spcPts val="0"/>
              </a:spcBef>
              <a:spcAft>
                <a:spcPts val="0"/>
              </a:spcAft>
              <a:buNone/>
            </a:pPr>
            <a:r>
              <a:rPr lang="en-US" sz="1200">
                <a:solidFill>
                  <a:schemeClr val="dk1"/>
                </a:solidFill>
                <a:latin typeface="Arial"/>
                <a:ea typeface="Arial"/>
                <a:cs typeface="Arial"/>
                <a:sym typeface="Arial"/>
              </a:rPr>
              <a:t>Not on the program page (left blank): title/role, headshot, organization logo, talk summary, speaker bio.</a:t>
            </a:r>
            <a:endParaRPr/>
          </a:p>
          <a:p>
            <a:pPr indent="0" lvl="0" marL="0" rtl="0" algn="l">
              <a:spcBef>
                <a:spcPts val="0"/>
              </a:spcBef>
              <a:spcAft>
                <a:spcPts val="0"/>
              </a:spcAft>
              <a:buNone/>
            </a:pPr>
            <a:r>
              <a:rPr lang="en-US" sz="1200">
                <a:solidFill>
                  <a:schemeClr val="dk1"/>
                </a:solidFill>
                <a:latin typeface="Arial"/>
                <a:ea typeface="Arial"/>
                <a:cs typeface="Arial"/>
                <a:sym typeface="Arial"/>
              </a:rPr>
              <a:t>Source: https://nationalsciencedatafabric.org/news/event-nsdf-summit/#program</a:t>
            </a:r>
            <a:endParaRPr/>
          </a:p>
        </p:txBody>
      </p:sp>
      <p:sp>
        <p:nvSpPr>
          <p:cNvPr id="4301" name="Google Shape;430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3" name="Google Shape;63;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4" name="Google Shape;64;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4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46"/>
          <p:cNvSpPr/>
          <p:nvPr>
            <p:ph idx="2" type="pic"/>
          </p:nvPr>
        </p:nvSpPr>
        <p:spPr>
          <a:xfrm>
            <a:off x="1792288" y="612775"/>
            <a:ext cx="5486400" cy="4114800"/>
          </a:xfrm>
          <a:prstGeom prst="rect">
            <a:avLst/>
          </a:prstGeom>
          <a:noFill/>
          <a:ln>
            <a:noFill/>
          </a:ln>
        </p:spPr>
      </p:sp>
      <p:sp>
        <p:nvSpPr>
          <p:cNvPr id="70" name="Google Shape;70;p4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4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Title" showMasterSp="0">
  <p:cSld name="NSDF — Title">
    <p:spTree>
      <p:nvGrpSpPr>
        <p:cNvPr id="86" name="Shape 86"/>
        <p:cNvGrpSpPr/>
        <p:nvPr/>
      </p:nvGrpSpPr>
      <p:grpSpPr>
        <a:xfrm>
          <a:off x="0" y="0"/>
          <a:ext cx="0" cy="0"/>
          <a:chOff x="0" y="0"/>
          <a:chExt cx="0" cy="0"/>
        </a:xfrm>
      </p:grpSpPr>
      <p:sp>
        <p:nvSpPr>
          <p:cNvPr id="87" name="Google Shape;87;p49"/>
          <p:cNvSpPr/>
          <p:nvPr/>
        </p:nvSpPr>
        <p:spPr>
          <a:xfrm>
            <a:off x="0" y="287832"/>
            <a:ext cx="12191695"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 name="Google Shape;88;p49"/>
          <p:cNvSpPr/>
          <p:nvPr/>
        </p:nvSpPr>
        <p:spPr>
          <a:xfrm>
            <a:off x="0" y="5166360"/>
            <a:ext cx="12191695" cy="1691640"/>
          </a:xfrm>
          <a:prstGeom prst="rect">
            <a:avLst/>
          </a:prstGeom>
          <a:solidFill>
            <a:srgbClr val="0A365E"/>
          </a:solidFill>
          <a:ln cap="flat" cmpd="sng" w="9525">
            <a:solidFill>
              <a:srgbClr val="0A365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 name="Google Shape;89;p49"/>
          <p:cNvSpPr/>
          <p:nvPr/>
        </p:nvSpPr>
        <p:spPr>
          <a:xfrm>
            <a:off x="0" y="5897880"/>
            <a:ext cx="12191695" cy="960120"/>
          </a:xfrm>
          <a:prstGeom prst="rect">
            <a:avLst/>
          </a:prstGeom>
          <a:solidFill>
            <a:srgbClr val="0D456F"/>
          </a:solidFill>
          <a:ln cap="flat" cmpd="sng" w="9525">
            <a:solidFill>
              <a:srgbClr val="0D456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49"/>
          <p:cNvSpPr/>
          <p:nvPr/>
        </p:nvSpPr>
        <p:spPr>
          <a:xfrm>
            <a:off x="7589520" y="822959"/>
            <a:ext cx="4297680" cy="4297680"/>
          </a:xfrm>
          <a:prstGeom prst="ellipse">
            <a:avLst/>
          </a:prstGeom>
          <a:solidFill>
            <a:srgbClr val="0A416C"/>
          </a:solidFill>
          <a:ln cap="flat" cmpd="sng" w="9525">
            <a:solidFill>
              <a:srgbClr val="1D6F9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 name="Google Shape;91;p49"/>
          <p:cNvSpPr/>
          <p:nvPr/>
        </p:nvSpPr>
        <p:spPr>
          <a:xfrm>
            <a:off x="8046720" y="1280160"/>
            <a:ext cx="3383280" cy="3383280"/>
          </a:xfrm>
          <a:prstGeom prst="ellipse">
            <a:avLst/>
          </a:prstGeom>
          <a:solidFill>
            <a:srgbClr val="0B527F"/>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92" name="Google Shape;92;p49"/>
          <p:cNvCxnSpPr/>
          <p:nvPr/>
        </p:nvCxnSpPr>
        <p:spPr>
          <a:xfrm>
            <a:off x="9529348" y="3303725"/>
            <a:ext cx="243428" cy="11109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 name="Google Shape;93;p49"/>
          <p:cNvCxnSpPr/>
          <p:nvPr/>
        </p:nvCxnSpPr>
        <p:spPr>
          <a:xfrm>
            <a:off x="9529348" y="3303725"/>
            <a:ext cx="292950" cy="32395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4" name="Google Shape;94;p49"/>
          <p:cNvCxnSpPr/>
          <p:nvPr/>
        </p:nvCxnSpPr>
        <p:spPr>
          <a:xfrm flipH="1">
            <a:off x="11539092" y="2925037"/>
            <a:ext cx="61179" cy="174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5" name="Google Shape;95;p49"/>
          <p:cNvCxnSpPr/>
          <p:nvPr/>
        </p:nvCxnSpPr>
        <p:spPr>
          <a:xfrm flipH="1" rot="10800000">
            <a:off x="11600271" y="2650541"/>
            <a:ext cx="246442" cy="27449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6" name="Google Shape;96;p49"/>
          <p:cNvCxnSpPr/>
          <p:nvPr/>
        </p:nvCxnSpPr>
        <p:spPr>
          <a:xfrm>
            <a:off x="9772776" y="3414820"/>
            <a:ext cx="49522" cy="2128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7" name="Google Shape;97;p49"/>
          <p:cNvCxnSpPr/>
          <p:nvPr/>
        </p:nvCxnSpPr>
        <p:spPr>
          <a:xfrm rot="10800000">
            <a:off x="9529348" y="3303725"/>
            <a:ext cx="243428" cy="11109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8" name="Google Shape;98;p49"/>
          <p:cNvCxnSpPr/>
          <p:nvPr/>
        </p:nvCxnSpPr>
        <p:spPr>
          <a:xfrm flipH="1">
            <a:off x="7864374" y="3111152"/>
            <a:ext cx="489922" cy="4729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9" name="Google Shape;99;p49"/>
          <p:cNvCxnSpPr/>
          <p:nvPr/>
        </p:nvCxnSpPr>
        <p:spPr>
          <a:xfrm rot="10800000">
            <a:off x="7675836" y="2918135"/>
            <a:ext cx="678460" cy="1930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 name="Google Shape;100;p49"/>
          <p:cNvCxnSpPr/>
          <p:nvPr/>
        </p:nvCxnSpPr>
        <p:spPr>
          <a:xfrm flipH="1" rot="10800000">
            <a:off x="10308430" y="3528190"/>
            <a:ext cx="105514" cy="71380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 name="Google Shape;101;p49"/>
          <p:cNvCxnSpPr/>
          <p:nvPr/>
        </p:nvCxnSpPr>
        <p:spPr>
          <a:xfrm rot="10800000">
            <a:off x="9737364" y="3716832"/>
            <a:ext cx="571066" cy="52515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 name="Google Shape;102;p49"/>
          <p:cNvCxnSpPr/>
          <p:nvPr/>
        </p:nvCxnSpPr>
        <p:spPr>
          <a:xfrm flipH="1" rot="10800000">
            <a:off x="7956919" y="2024983"/>
            <a:ext cx="421727" cy="24726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 name="Google Shape;103;p49"/>
          <p:cNvCxnSpPr/>
          <p:nvPr/>
        </p:nvCxnSpPr>
        <p:spPr>
          <a:xfrm rot="10800000">
            <a:off x="7546191" y="1895328"/>
            <a:ext cx="410728" cy="37692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4" name="Google Shape;104;p49"/>
          <p:cNvCxnSpPr/>
          <p:nvPr/>
        </p:nvCxnSpPr>
        <p:spPr>
          <a:xfrm rot="10800000">
            <a:off x="7864374" y="3584083"/>
            <a:ext cx="77389" cy="72496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5" name="Google Shape;105;p49"/>
          <p:cNvCxnSpPr/>
          <p:nvPr/>
        </p:nvCxnSpPr>
        <p:spPr>
          <a:xfrm flipH="1" rot="10800000">
            <a:off x="7941763" y="3111152"/>
            <a:ext cx="412533" cy="119789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6" name="Google Shape;106;p49"/>
          <p:cNvCxnSpPr/>
          <p:nvPr/>
        </p:nvCxnSpPr>
        <p:spPr>
          <a:xfrm flipH="1">
            <a:off x="9862928" y="1220059"/>
            <a:ext cx="724456" cy="7109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7" name="Google Shape;107;p49"/>
          <p:cNvCxnSpPr/>
          <p:nvPr/>
        </p:nvCxnSpPr>
        <p:spPr>
          <a:xfrm>
            <a:off x="10587384" y="1220059"/>
            <a:ext cx="373393" cy="91690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8" name="Google Shape;108;p49"/>
          <p:cNvCxnSpPr/>
          <p:nvPr/>
        </p:nvCxnSpPr>
        <p:spPr>
          <a:xfrm>
            <a:off x="11854764" y="4933127"/>
            <a:ext cx="67868" cy="12445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9" name="Google Shape;109;p49"/>
          <p:cNvCxnSpPr/>
          <p:nvPr/>
        </p:nvCxnSpPr>
        <p:spPr>
          <a:xfrm rot="10800000">
            <a:off x="11748762" y="4460592"/>
            <a:ext cx="106002" cy="47253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 name="Google Shape;110;p49"/>
          <p:cNvCxnSpPr/>
          <p:nvPr/>
        </p:nvCxnSpPr>
        <p:spPr>
          <a:xfrm flipH="1">
            <a:off x="9822298" y="3528190"/>
            <a:ext cx="591646" cy="9949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 name="Google Shape;111;p49"/>
          <p:cNvCxnSpPr/>
          <p:nvPr/>
        </p:nvCxnSpPr>
        <p:spPr>
          <a:xfrm rot="10800000">
            <a:off x="9772776" y="3414820"/>
            <a:ext cx="641168" cy="11337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 name="Google Shape;112;p49"/>
          <p:cNvCxnSpPr/>
          <p:nvPr/>
        </p:nvCxnSpPr>
        <p:spPr>
          <a:xfrm>
            <a:off x="8235060" y="1111913"/>
            <a:ext cx="577371" cy="22218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 name="Google Shape;113;p49"/>
          <p:cNvCxnSpPr/>
          <p:nvPr/>
        </p:nvCxnSpPr>
        <p:spPr>
          <a:xfrm>
            <a:off x="8235060" y="1111913"/>
            <a:ext cx="143586" cy="91307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4" name="Google Shape;114;p49"/>
          <p:cNvCxnSpPr/>
          <p:nvPr/>
        </p:nvCxnSpPr>
        <p:spPr>
          <a:xfrm flipH="1" rot="10800000">
            <a:off x="9862928" y="1220059"/>
            <a:ext cx="724456" cy="7109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5" name="Google Shape;115;p49"/>
          <p:cNvCxnSpPr/>
          <p:nvPr/>
        </p:nvCxnSpPr>
        <p:spPr>
          <a:xfrm flipH="1">
            <a:off x="9551075" y="1291155"/>
            <a:ext cx="311853" cy="87955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6" name="Google Shape;116;p49"/>
          <p:cNvCxnSpPr/>
          <p:nvPr/>
        </p:nvCxnSpPr>
        <p:spPr>
          <a:xfrm flipH="1">
            <a:off x="7956919" y="2024983"/>
            <a:ext cx="421727" cy="24726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7" name="Google Shape;117;p49"/>
          <p:cNvCxnSpPr/>
          <p:nvPr/>
        </p:nvCxnSpPr>
        <p:spPr>
          <a:xfrm flipH="1" rot="10800000">
            <a:off x="8378646" y="1975588"/>
            <a:ext cx="548943" cy="4939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8" name="Google Shape;118;p49"/>
          <p:cNvCxnSpPr/>
          <p:nvPr/>
        </p:nvCxnSpPr>
        <p:spPr>
          <a:xfrm>
            <a:off x="7675836" y="2918135"/>
            <a:ext cx="188538" cy="6659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9" name="Google Shape;119;p49"/>
          <p:cNvCxnSpPr/>
          <p:nvPr/>
        </p:nvCxnSpPr>
        <p:spPr>
          <a:xfrm flipH="1" rot="10800000">
            <a:off x="7675836" y="2272252"/>
            <a:ext cx="281083" cy="6458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 name="Google Shape;120;p49"/>
          <p:cNvCxnSpPr/>
          <p:nvPr/>
        </p:nvCxnSpPr>
        <p:spPr>
          <a:xfrm flipH="1" rot="10800000">
            <a:off x="9477343" y="3716832"/>
            <a:ext cx="260021" cy="7241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 name="Google Shape;121;p49"/>
          <p:cNvCxnSpPr/>
          <p:nvPr/>
        </p:nvCxnSpPr>
        <p:spPr>
          <a:xfrm flipH="1" rot="10800000">
            <a:off x="9477343" y="4241991"/>
            <a:ext cx="831087" cy="198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 name="Google Shape;122;p49"/>
          <p:cNvCxnSpPr/>
          <p:nvPr/>
        </p:nvCxnSpPr>
        <p:spPr>
          <a:xfrm flipH="1">
            <a:off x="9737364" y="3627684"/>
            <a:ext cx="84934" cy="891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 name="Google Shape;123;p49"/>
          <p:cNvCxnSpPr/>
          <p:nvPr/>
        </p:nvCxnSpPr>
        <p:spPr>
          <a:xfrm rot="10800000">
            <a:off x="9772776" y="3414820"/>
            <a:ext cx="49522" cy="2128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4" name="Google Shape;124;p49"/>
          <p:cNvCxnSpPr/>
          <p:nvPr/>
        </p:nvCxnSpPr>
        <p:spPr>
          <a:xfrm flipH="1" rot="10800000">
            <a:off x="9737364" y="3627684"/>
            <a:ext cx="84934" cy="891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5" name="Google Shape;125;p49"/>
          <p:cNvCxnSpPr/>
          <p:nvPr/>
        </p:nvCxnSpPr>
        <p:spPr>
          <a:xfrm flipH="1" rot="10800000">
            <a:off x="9737364" y="3414820"/>
            <a:ext cx="35412" cy="30201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6" name="Google Shape;126;p49"/>
          <p:cNvCxnSpPr/>
          <p:nvPr/>
        </p:nvCxnSpPr>
        <p:spPr>
          <a:xfrm rot="10800000">
            <a:off x="8927589" y="1975588"/>
            <a:ext cx="623486" cy="19512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7" name="Google Shape;127;p49"/>
          <p:cNvCxnSpPr/>
          <p:nvPr/>
        </p:nvCxnSpPr>
        <p:spPr>
          <a:xfrm flipH="1" rot="10800000">
            <a:off x="9551075" y="1291155"/>
            <a:ext cx="311853" cy="87955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8" name="Google Shape;128;p49"/>
          <p:cNvCxnSpPr/>
          <p:nvPr/>
        </p:nvCxnSpPr>
        <p:spPr>
          <a:xfrm rot="10800000">
            <a:off x="11854764" y="4933127"/>
            <a:ext cx="67868" cy="12445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9" name="Google Shape;129;p49"/>
          <p:cNvCxnSpPr/>
          <p:nvPr/>
        </p:nvCxnSpPr>
        <p:spPr>
          <a:xfrm rot="10800000">
            <a:off x="11748762" y="4460592"/>
            <a:ext cx="173870" cy="59699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 name="Google Shape;130;p49"/>
          <p:cNvCxnSpPr/>
          <p:nvPr/>
        </p:nvCxnSpPr>
        <p:spPr>
          <a:xfrm>
            <a:off x="11231606" y="3899332"/>
            <a:ext cx="517156" cy="56126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 name="Google Shape;131;p49"/>
          <p:cNvCxnSpPr/>
          <p:nvPr/>
        </p:nvCxnSpPr>
        <p:spPr>
          <a:xfrm rot="10800000">
            <a:off x="10413944" y="3528190"/>
            <a:ext cx="817662" cy="3711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 name="Google Shape;132;p49"/>
          <p:cNvCxnSpPr/>
          <p:nvPr/>
        </p:nvCxnSpPr>
        <p:spPr>
          <a:xfrm flipH="1">
            <a:off x="8378646" y="1975588"/>
            <a:ext cx="548943" cy="4939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 name="Google Shape;133;p49"/>
          <p:cNvCxnSpPr/>
          <p:nvPr/>
        </p:nvCxnSpPr>
        <p:spPr>
          <a:xfrm rot="10800000">
            <a:off x="8812431" y="1334094"/>
            <a:ext cx="115158" cy="64149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 name="Google Shape;134;p49"/>
          <p:cNvCxnSpPr/>
          <p:nvPr/>
        </p:nvCxnSpPr>
        <p:spPr>
          <a:xfrm rot="10800000">
            <a:off x="8235060" y="1111913"/>
            <a:ext cx="577371" cy="22218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5" name="Google Shape;135;p49"/>
          <p:cNvCxnSpPr/>
          <p:nvPr/>
        </p:nvCxnSpPr>
        <p:spPr>
          <a:xfrm>
            <a:off x="8812431" y="1334094"/>
            <a:ext cx="115158" cy="64149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6" name="Google Shape;136;p49"/>
          <p:cNvCxnSpPr/>
          <p:nvPr/>
        </p:nvCxnSpPr>
        <p:spPr>
          <a:xfrm flipH="1" rot="10800000">
            <a:off x="10907129" y="2606643"/>
            <a:ext cx="352428" cy="5586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7" name="Google Shape;137;p49"/>
          <p:cNvCxnSpPr/>
          <p:nvPr/>
        </p:nvCxnSpPr>
        <p:spPr>
          <a:xfrm flipH="1" rot="10800000">
            <a:off x="10907129" y="2136964"/>
            <a:ext cx="53648" cy="5255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8" name="Google Shape;138;p49"/>
          <p:cNvCxnSpPr/>
          <p:nvPr/>
        </p:nvCxnSpPr>
        <p:spPr>
          <a:xfrm flipH="1">
            <a:off x="10907129" y="2606643"/>
            <a:ext cx="352428" cy="5586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9" name="Google Shape;139;p49"/>
          <p:cNvCxnSpPr/>
          <p:nvPr/>
        </p:nvCxnSpPr>
        <p:spPr>
          <a:xfrm>
            <a:off x="11259557" y="2606643"/>
            <a:ext cx="279535" cy="33584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 name="Google Shape;140;p49"/>
          <p:cNvCxnSpPr/>
          <p:nvPr/>
        </p:nvCxnSpPr>
        <p:spPr>
          <a:xfrm>
            <a:off x="11748762" y="4460592"/>
            <a:ext cx="106002" cy="47253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 name="Google Shape;141;p49"/>
          <p:cNvCxnSpPr/>
          <p:nvPr/>
        </p:nvCxnSpPr>
        <p:spPr>
          <a:xfrm>
            <a:off x="11748762" y="4460592"/>
            <a:ext cx="173870" cy="59699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 name="Google Shape;142;p49"/>
          <p:cNvCxnSpPr/>
          <p:nvPr/>
        </p:nvCxnSpPr>
        <p:spPr>
          <a:xfrm>
            <a:off x="7546191" y="1895328"/>
            <a:ext cx="410728" cy="37692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 name="Google Shape;143;p49"/>
          <p:cNvCxnSpPr/>
          <p:nvPr/>
        </p:nvCxnSpPr>
        <p:spPr>
          <a:xfrm>
            <a:off x="7546191" y="1895328"/>
            <a:ext cx="832455" cy="12965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 name="Google Shape;144;p49"/>
          <p:cNvCxnSpPr/>
          <p:nvPr/>
        </p:nvCxnSpPr>
        <p:spPr>
          <a:xfrm flipH="1" rot="10800000">
            <a:off x="11539092" y="2925037"/>
            <a:ext cx="61179" cy="174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5" name="Google Shape;145;p49"/>
          <p:cNvCxnSpPr/>
          <p:nvPr/>
        </p:nvCxnSpPr>
        <p:spPr>
          <a:xfrm flipH="1" rot="10800000">
            <a:off x="11539092" y="2650541"/>
            <a:ext cx="307621" cy="2919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6" name="Google Shape;146;p49"/>
          <p:cNvCxnSpPr/>
          <p:nvPr/>
        </p:nvCxnSpPr>
        <p:spPr>
          <a:xfrm flipH="1">
            <a:off x="11600271" y="2650541"/>
            <a:ext cx="246442" cy="27449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7" name="Google Shape;147;p49"/>
          <p:cNvCxnSpPr/>
          <p:nvPr/>
        </p:nvCxnSpPr>
        <p:spPr>
          <a:xfrm flipH="1">
            <a:off x="11539092" y="2650541"/>
            <a:ext cx="307621" cy="2919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8" name="Google Shape;148;p49"/>
          <p:cNvCxnSpPr/>
          <p:nvPr/>
        </p:nvCxnSpPr>
        <p:spPr>
          <a:xfrm flipH="1" rot="10800000">
            <a:off x="7864374" y="3111152"/>
            <a:ext cx="489922" cy="4729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9" name="Google Shape;149;p49"/>
          <p:cNvCxnSpPr/>
          <p:nvPr/>
        </p:nvCxnSpPr>
        <p:spPr>
          <a:xfrm rot="10800000">
            <a:off x="7675836" y="2918135"/>
            <a:ext cx="188538" cy="6659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 name="Google Shape;150;p49"/>
          <p:cNvCxnSpPr/>
          <p:nvPr/>
        </p:nvCxnSpPr>
        <p:spPr>
          <a:xfrm flipH="1">
            <a:off x="10907129" y="2136964"/>
            <a:ext cx="53648" cy="5255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 name="Google Shape;151;p49"/>
          <p:cNvCxnSpPr/>
          <p:nvPr/>
        </p:nvCxnSpPr>
        <p:spPr>
          <a:xfrm>
            <a:off x="10960777" y="2136964"/>
            <a:ext cx="298780" cy="46967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52" name="Google Shape;152;p49"/>
          <p:cNvSpPr/>
          <p:nvPr/>
        </p:nvSpPr>
        <p:spPr>
          <a:xfrm>
            <a:off x="9460768" y="3235145"/>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49"/>
          <p:cNvSpPr/>
          <p:nvPr/>
        </p:nvSpPr>
        <p:spPr>
          <a:xfrm>
            <a:off x="11559123" y="288388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49"/>
          <p:cNvSpPr/>
          <p:nvPr/>
        </p:nvSpPr>
        <p:spPr>
          <a:xfrm>
            <a:off x="9731628" y="337367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49"/>
          <p:cNvSpPr/>
          <p:nvPr/>
        </p:nvSpPr>
        <p:spPr>
          <a:xfrm>
            <a:off x="8313148" y="307000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49"/>
          <p:cNvSpPr/>
          <p:nvPr/>
        </p:nvSpPr>
        <p:spPr>
          <a:xfrm>
            <a:off x="10267282" y="4200843"/>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49"/>
          <p:cNvSpPr/>
          <p:nvPr/>
        </p:nvSpPr>
        <p:spPr>
          <a:xfrm>
            <a:off x="7888339" y="220367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49"/>
          <p:cNvSpPr/>
          <p:nvPr/>
        </p:nvSpPr>
        <p:spPr>
          <a:xfrm>
            <a:off x="7900615" y="426790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49"/>
          <p:cNvSpPr/>
          <p:nvPr/>
        </p:nvSpPr>
        <p:spPr>
          <a:xfrm>
            <a:off x="10546236" y="117891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49"/>
          <p:cNvSpPr/>
          <p:nvPr/>
        </p:nvSpPr>
        <p:spPr>
          <a:xfrm>
            <a:off x="11813616" y="489197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49"/>
          <p:cNvSpPr/>
          <p:nvPr/>
        </p:nvSpPr>
        <p:spPr>
          <a:xfrm>
            <a:off x="10372796" y="348704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49"/>
          <p:cNvSpPr/>
          <p:nvPr/>
        </p:nvSpPr>
        <p:spPr>
          <a:xfrm>
            <a:off x="8166480" y="1043333"/>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49"/>
          <p:cNvSpPr/>
          <p:nvPr/>
        </p:nvSpPr>
        <p:spPr>
          <a:xfrm>
            <a:off x="9821780" y="125000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49"/>
          <p:cNvSpPr/>
          <p:nvPr/>
        </p:nvSpPr>
        <p:spPr>
          <a:xfrm>
            <a:off x="8337498" y="198383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49"/>
          <p:cNvSpPr/>
          <p:nvPr/>
        </p:nvSpPr>
        <p:spPr>
          <a:xfrm>
            <a:off x="7634688" y="287698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49"/>
          <p:cNvSpPr/>
          <p:nvPr/>
        </p:nvSpPr>
        <p:spPr>
          <a:xfrm>
            <a:off x="9436195" y="43997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49"/>
          <p:cNvSpPr/>
          <p:nvPr/>
        </p:nvSpPr>
        <p:spPr>
          <a:xfrm>
            <a:off x="9753718" y="3559104"/>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49"/>
          <p:cNvSpPr/>
          <p:nvPr/>
        </p:nvSpPr>
        <p:spPr>
          <a:xfrm>
            <a:off x="9696216" y="3675684"/>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49"/>
          <p:cNvSpPr/>
          <p:nvPr/>
        </p:nvSpPr>
        <p:spPr>
          <a:xfrm>
            <a:off x="9509927" y="212956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49"/>
          <p:cNvSpPr/>
          <p:nvPr/>
        </p:nvSpPr>
        <p:spPr>
          <a:xfrm>
            <a:off x="11881484" y="501643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49"/>
          <p:cNvSpPr/>
          <p:nvPr/>
        </p:nvSpPr>
        <p:spPr>
          <a:xfrm>
            <a:off x="11190458" y="385818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49"/>
          <p:cNvSpPr/>
          <p:nvPr/>
        </p:nvSpPr>
        <p:spPr>
          <a:xfrm>
            <a:off x="8859009" y="1907008"/>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49"/>
          <p:cNvSpPr/>
          <p:nvPr/>
        </p:nvSpPr>
        <p:spPr>
          <a:xfrm>
            <a:off x="8771283" y="129294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49"/>
          <p:cNvSpPr/>
          <p:nvPr/>
        </p:nvSpPr>
        <p:spPr>
          <a:xfrm>
            <a:off x="10865981" y="26213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49"/>
          <p:cNvSpPr/>
          <p:nvPr/>
        </p:nvSpPr>
        <p:spPr>
          <a:xfrm>
            <a:off x="11218409" y="256549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49"/>
          <p:cNvSpPr/>
          <p:nvPr/>
        </p:nvSpPr>
        <p:spPr>
          <a:xfrm>
            <a:off x="11707614" y="4419444"/>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49"/>
          <p:cNvSpPr/>
          <p:nvPr/>
        </p:nvSpPr>
        <p:spPr>
          <a:xfrm>
            <a:off x="7477611" y="1826748"/>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49"/>
          <p:cNvSpPr/>
          <p:nvPr/>
        </p:nvSpPr>
        <p:spPr>
          <a:xfrm>
            <a:off x="11497944" y="29013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49"/>
          <p:cNvSpPr/>
          <p:nvPr/>
        </p:nvSpPr>
        <p:spPr>
          <a:xfrm>
            <a:off x="11805565" y="260939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49"/>
          <p:cNvSpPr/>
          <p:nvPr/>
        </p:nvSpPr>
        <p:spPr>
          <a:xfrm>
            <a:off x="7823226" y="354293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49"/>
          <p:cNvSpPr/>
          <p:nvPr/>
        </p:nvSpPr>
        <p:spPr>
          <a:xfrm>
            <a:off x="10919629" y="209581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82" name="Google Shape;182;p49"/>
          <p:cNvCxnSpPr/>
          <p:nvPr/>
        </p:nvCxnSpPr>
        <p:spPr>
          <a:xfrm flipH="1" rot="10800000">
            <a:off x="6629400" y="1325880"/>
            <a:ext cx="5120640" cy="502920"/>
          </a:xfrm>
          <a:prstGeom prst="straightConnector1">
            <a:avLst/>
          </a:prstGeom>
          <a:noFill/>
          <a:ln cap="flat" cmpd="sng" w="27925">
            <a:solidFill>
              <a:srgbClr val="2BB9D6"/>
            </a:solidFill>
            <a:prstDash val="solid"/>
            <a:round/>
            <a:headEnd len="sm" w="sm" type="none"/>
            <a:tailEnd len="sm" w="sm" type="none"/>
          </a:ln>
          <a:effectLst>
            <a:outerShdw blurRad="40000" rotWithShape="0" dir="5400000" dist="20000">
              <a:srgbClr val="000000">
                <a:alpha val="38039"/>
              </a:srgbClr>
            </a:outerShdw>
          </a:effectLst>
        </p:spPr>
      </p:cxnSp>
      <p:cxnSp>
        <p:nvCxnSpPr>
          <p:cNvPr id="183" name="Google Shape;183;p49"/>
          <p:cNvCxnSpPr/>
          <p:nvPr/>
        </p:nvCxnSpPr>
        <p:spPr>
          <a:xfrm flipH="1" rot="10800000">
            <a:off x="6629400" y="1993391"/>
            <a:ext cx="5120640" cy="338329"/>
          </a:xfrm>
          <a:prstGeom prst="straightConnector1">
            <a:avLst/>
          </a:prstGeom>
          <a:noFill/>
          <a:ln cap="flat" cmpd="sng" w="27925">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 name="Google Shape;184;p49"/>
          <p:cNvCxnSpPr/>
          <p:nvPr/>
        </p:nvCxnSpPr>
        <p:spPr>
          <a:xfrm flipH="1" rot="10800000">
            <a:off x="6629400" y="2660903"/>
            <a:ext cx="5120640" cy="173737"/>
          </a:xfrm>
          <a:prstGeom prst="straightConnector1">
            <a:avLst/>
          </a:prstGeom>
          <a:noFill/>
          <a:ln cap="flat" cmpd="sng" w="27925">
            <a:solidFill>
              <a:srgbClr val="2BB9D6"/>
            </a:solidFill>
            <a:prstDash val="solid"/>
            <a:round/>
            <a:headEnd len="sm" w="sm" type="none"/>
            <a:tailEnd len="sm" w="sm" type="none"/>
          </a:ln>
          <a:effectLst>
            <a:outerShdw blurRad="40000" rotWithShape="0" dir="5400000" dist="20000">
              <a:srgbClr val="000000">
                <a:alpha val="38039"/>
              </a:srgbClr>
            </a:outerShdw>
          </a:effectLst>
        </p:spPr>
      </p:cxnSp>
      <p:cxnSp>
        <p:nvCxnSpPr>
          <p:cNvPr id="185" name="Google Shape;185;p49"/>
          <p:cNvCxnSpPr/>
          <p:nvPr/>
        </p:nvCxnSpPr>
        <p:spPr>
          <a:xfrm flipH="1" rot="10800000">
            <a:off x="6629400" y="3328415"/>
            <a:ext cx="5120640" cy="9145"/>
          </a:xfrm>
          <a:prstGeom prst="straightConnector1">
            <a:avLst/>
          </a:prstGeom>
          <a:noFill/>
          <a:ln cap="flat" cmpd="sng" w="27925">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6" name="Google Shape;186;p49"/>
          <p:cNvCxnSpPr/>
          <p:nvPr/>
        </p:nvCxnSpPr>
        <p:spPr>
          <a:xfrm>
            <a:off x="6629400" y="3840480"/>
            <a:ext cx="5120640" cy="155448"/>
          </a:xfrm>
          <a:prstGeom prst="straightConnector1">
            <a:avLst/>
          </a:prstGeom>
          <a:noFill/>
          <a:ln cap="flat" cmpd="sng" w="27925">
            <a:solidFill>
              <a:srgbClr val="2BB9D6"/>
            </a:solidFill>
            <a:prstDash val="solid"/>
            <a:round/>
            <a:headEnd len="sm" w="sm" type="none"/>
            <a:tailEnd len="sm" w="sm" type="none"/>
          </a:ln>
          <a:effectLst>
            <a:outerShdw blurRad="40000" rotWithShape="0" dir="5400000" dist="20000">
              <a:srgbClr val="000000">
                <a:alpha val="38039"/>
              </a:srgbClr>
            </a:outerShdw>
          </a:effectLst>
        </p:spPr>
      </p:cxnSp>
      <p:pic>
        <p:nvPicPr>
          <p:cNvPr descr="00_logo_nsdf(1).png" id="187" name="Google Shape;187;p49"/>
          <p:cNvPicPr preferRelativeResize="0"/>
          <p:nvPr/>
        </p:nvPicPr>
        <p:blipFill rotWithShape="1">
          <a:blip r:embed="rId2">
            <a:alphaModFix/>
          </a:blip>
          <a:srcRect b="0" l="0" r="0" t="0"/>
          <a:stretch/>
        </p:blipFill>
        <p:spPr>
          <a:xfrm>
            <a:off x="530352" y="438912"/>
            <a:ext cx="1874519" cy="979862"/>
          </a:xfrm>
          <a:prstGeom prst="rect">
            <a:avLst/>
          </a:prstGeom>
          <a:noFill/>
          <a:ln>
            <a:noFill/>
          </a:ln>
        </p:spPr>
      </p:pic>
      <p:sp>
        <p:nvSpPr>
          <p:cNvPr id="188" name="Google Shape;188;p49"/>
          <p:cNvSpPr txBox="1"/>
          <p:nvPr>
            <p:ph type="title"/>
          </p:nvPr>
        </p:nvSpPr>
        <p:spPr>
          <a:xfrm>
            <a:off x="566928" y="1417320"/>
            <a:ext cx="5943600" cy="114300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49"/>
          <p:cNvSpPr txBox="1"/>
          <p:nvPr>
            <p:ph idx="1" type="subTitle"/>
          </p:nvPr>
        </p:nvSpPr>
        <p:spPr>
          <a:xfrm>
            <a:off x="566928" y="2788920"/>
            <a:ext cx="5623560" cy="477054"/>
          </a:xfrm>
          <a:prstGeom prst="rect">
            <a:avLst/>
          </a:prstGeom>
          <a:noFill/>
          <a:ln>
            <a:noFill/>
          </a:ln>
        </p:spPr>
        <p:txBody>
          <a:bodyPr anchorCtr="0" anchor="t" bIns="45700" lIns="91425" spcFirstLastPara="1" rIns="91425" wrap="square" tIns="45700">
            <a:spAutoFit/>
          </a:bodyPr>
          <a:lstStyle>
            <a:lvl1pPr lvl="0" algn="l">
              <a:spcBef>
                <a:spcPts val="360"/>
              </a:spcBef>
              <a:spcAft>
                <a:spcPts val="0"/>
              </a:spcAft>
              <a:buClr>
                <a:schemeClr val="dk1"/>
              </a:buClr>
              <a:buSzPts val="1800"/>
              <a:buChar char="•"/>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
        <p:nvSpPr>
          <p:cNvPr id="190" name="Google Shape;190;p49"/>
          <p:cNvSpPr txBox="1"/>
          <p:nvPr>
            <p:ph idx="2" type="body"/>
          </p:nvPr>
        </p:nvSpPr>
        <p:spPr>
          <a:xfrm>
            <a:off x="594360" y="3493008"/>
            <a:ext cx="530352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1" name="Google Shape;191;p49"/>
          <p:cNvSpPr txBox="1"/>
          <p:nvPr>
            <p:ph idx="3" type="body"/>
          </p:nvPr>
        </p:nvSpPr>
        <p:spPr>
          <a:xfrm>
            <a:off x="594360" y="5376672"/>
            <a:ext cx="539496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2" name="Google Shape;192;p49"/>
          <p:cNvSpPr txBox="1"/>
          <p:nvPr/>
        </p:nvSpPr>
        <p:spPr>
          <a:xfrm>
            <a:off x="594360" y="5806440"/>
            <a:ext cx="6035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B8D8E8"/>
                </a:solidFill>
                <a:latin typeface="Arial"/>
                <a:ea typeface="Arial"/>
                <a:cs typeface="Arial"/>
                <a:sym typeface="Arial"/>
              </a:rPr>
              <a:t>Federated data • AI-ready workflows • scientific discovery</a:t>
            </a:r>
            <a:endParaRPr/>
          </a:p>
        </p:txBody>
      </p:sp>
      <p:pic>
        <p:nvPicPr>
          <p:cNvPr descr="00_logo_nsf.png" id="193" name="Google Shape;193;p49"/>
          <p:cNvPicPr preferRelativeResize="0"/>
          <p:nvPr/>
        </p:nvPicPr>
        <p:blipFill rotWithShape="1">
          <a:blip r:embed="rId3">
            <a:alphaModFix/>
          </a:blip>
          <a:srcRect b="0" l="0" r="0" t="0"/>
          <a:stretch/>
        </p:blipFill>
        <p:spPr>
          <a:xfrm>
            <a:off x="11173968" y="393192"/>
            <a:ext cx="658368" cy="661809"/>
          </a:xfrm>
          <a:prstGeom prst="rect">
            <a:avLst/>
          </a:prstGeom>
          <a:noFill/>
          <a:ln>
            <a:noFill/>
          </a:ln>
        </p:spPr>
      </p:pic>
      <p:sp>
        <p:nvSpPr>
          <p:cNvPr id="194" name="Google Shape;194;p49"/>
          <p:cNvSpPr txBox="1"/>
          <p:nvPr/>
        </p:nvSpPr>
        <p:spPr>
          <a:xfrm>
            <a:off x="9281160" y="6327648"/>
            <a:ext cx="1783080"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800">
                <a:solidFill>
                  <a:srgbClr val="FFFFFF"/>
                </a:solidFill>
                <a:latin typeface="Arial"/>
                <a:ea typeface="Arial"/>
                <a:cs typeface="Arial"/>
                <a:sym typeface="Arial"/>
              </a:rPr>
              <a:t>NSF Award #2609465</a:t>
            </a:r>
            <a:endParaRPr/>
          </a:p>
        </p:txBody>
      </p:sp>
      <p:sp>
        <p:nvSpPr>
          <p:cNvPr id="195" name="Google Shape;195;p49"/>
          <p:cNvSpPr txBox="1"/>
          <p:nvPr/>
        </p:nvSpPr>
        <p:spPr>
          <a:xfrm>
            <a:off x="201168" y="6428232"/>
            <a:ext cx="384048"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01</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Section Divider" showMasterSp="0">
  <p:cSld name="NSDF — Section Divider">
    <p:spTree>
      <p:nvGrpSpPr>
        <p:cNvPr id="196" name="Shape 196"/>
        <p:cNvGrpSpPr/>
        <p:nvPr/>
      </p:nvGrpSpPr>
      <p:grpSpPr>
        <a:xfrm>
          <a:off x="0" y="0"/>
          <a:ext cx="0" cy="0"/>
          <a:chOff x="0" y="0"/>
          <a:chExt cx="0" cy="0"/>
        </a:xfrm>
      </p:grpSpPr>
      <p:sp>
        <p:nvSpPr>
          <p:cNvPr id="197" name="Google Shape;197;p50"/>
          <p:cNvSpPr/>
          <p:nvPr/>
        </p:nvSpPr>
        <p:spPr>
          <a:xfrm>
            <a:off x="15973" y="1785512"/>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50"/>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99" name="Google Shape;199;p50"/>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0" name="Google Shape;200;p50"/>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 name="Google Shape;201;p50"/>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 name="Google Shape;202;p50"/>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 name="Google Shape;203;p50"/>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 name="Google Shape;204;p50"/>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 name="Google Shape;205;p50"/>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6" name="Google Shape;206;p50"/>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7" name="Google Shape;207;p50"/>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8" name="Google Shape;208;p50"/>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9" name="Google Shape;209;p50"/>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0" name="Google Shape;210;p50"/>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 name="Google Shape;211;p50"/>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 name="Google Shape;212;p50"/>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 name="Google Shape;213;p50"/>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 name="Google Shape;214;p50"/>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 name="Google Shape;215;p50"/>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6" name="Google Shape;216;p50"/>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7" name="Google Shape;217;p50"/>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8" name="Google Shape;218;p50"/>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9" name="Google Shape;219;p50"/>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0" name="Google Shape;220;p50"/>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 name="Google Shape;221;p50"/>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 name="Google Shape;222;p50"/>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 name="Google Shape;223;p50"/>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 name="Google Shape;224;p50"/>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5" name="Google Shape;225;p50"/>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6" name="Google Shape;226;p50"/>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7" name="Google Shape;227;p50"/>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8" name="Google Shape;228;p50"/>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9" name="Google Shape;229;p50"/>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0" name="Google Shape;230;p50"/>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 name="Google Shape;231;p50"/>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 name="Google Shape;232;p50"/>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 name="Google Shape;233;p50"/>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 name="Google Shape;234;p50"/>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5" name="Google Shape;235;p50"/>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6" name="Google Shape;236;p50"/>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7" name="Google Shape;237;p50"/>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8" name="Google Shape;238;p50"/>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9" name="Google Shape;239;p50"/>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0" name="Google Shape;240;p50"/>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 name="Google Shape;241;p50"/>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 name="Google Shape;242;p50"/>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 name="Google Shape;243;p50"/>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 name="Google Shape;244;p50"/>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 name="Google Shape;245;p50"/>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6" name="Google Shape;246;p50"/>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47" name="Google Shape;247;p50"/>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50"/>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50"/>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50"/>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50"/>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50"/>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50"/>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 name="Google Shape;254;p50"/>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50"/>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50"/>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50"/>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50"/>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50"/>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50"/>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50"/>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50"/>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 name="Google Shape;263;p50"/>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50"/>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50"/>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50"/>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50"/>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50"/>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50"/>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50"/>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71" name="Google Shape;271;p50"/>
          <p:cNvPicPr preferRelativeResize="0"/>
          <p:nvPr/>
        </p:nvPicPr>
        <p:blipFill rotWithShape="1">
          <a:blip r:embed="rId2">
            <a:alphaModFix/>
          </a:blip>
          <a:srcRect b="0" l="0" r="0" t="0"/>
          <a:stretch/>
        </p:blipFill>
        <p:spPr>
          <a:xfrm>
            <a:off x="502920" y="502920"/>
            <a:ext cx="1600200" cy="836468"/>
          </a:xfrm>
          <a:prstGeom prst="rect">
            <a:avLst/>
          </a:prstGeom>
          <a:noFill/>
          <a:ln>
            <a:noFill/>
          </a:ln>
        </p:spPr>
      </p:pic>
      <p:sp>
        <p:nvSpPr>
          <p:cNvPr id="272" name="Google Shape;272;p50"/>
          <p:cNvSpPr txBox="1"/>
          <p:nvPr>
            <p:ph type="title"/>
          </p:nvPr>
        </p:nvSpPr>
        <p:spPr>
          <a:xfrm>
            <a:off x="566928" y="2788920"/>
            <a:ext cx="2743200" cy="118872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50"/>
          <p:cNvSpPr txBox="1"/>
          <p:nvPr>
            <p:ph idx="1" type="body"/>
          </p:nvPr>
        </p:nvSpPr>
        <p:spPr>
          <a:xfrm>
            <a:off x="4434840" y="2240280"/>
            <a:ext cx="6492240" cy="6400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4" name="Google Shape;274;p50"/>
          <p:cNvSpPr txBox="1"/>
          <p:nvPr>
            <p:ph idx="2" type="body"/>
          </p:nvPr>
        </p:nvSpPr>
        <p:spPr>
          <a:xfrm>
            <a:off x="4453128" y="3090672"/>
            <a:ext cx="6126480" cy="73152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5" name="Google Shape;275;p50"/>
          <p:cNvSpPr/>
          <p:nvPr/>
        </p:nvSpPr>
        <p:spPr>
          <a:xfrm>
            <a:off x="4462272" y="4133087"/>
            <a:ext cx="1965960" cy="54864"/>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f.png" id="276" name="Google Shape;276;p50"/>
          <p:cNvPicPr preferRelativeResize="0"/>
          <p:nvPr/>
        </p:nvPicPr>
        <p:blipFill rotWithShape="1">
          <a:blip r:embed="rId3">
            <a:alphaModFix/>
          </a:blip>
          <a:srcRect b="0" l="0" r="0" t="0"/>
          <a:stretch/>
        </p:blipFill>
        <p:spPr>
          <a:xfrm>
            <a:off x="11247120" y="5989320"/>
            <a:ext cx="603504" cy="606658"/>
          </a:xfrm>
          <a:prstGeom prst="rect">
            <a:avLst/>
          </a:prstGeom>
          <a:noFill/>
          <a:ln>
            <a:noFill/>
          </a:ln>
        </p:spPr>
      </p:pic>
      <p:sp>
        <p:nvSpPr>
          <p:cNvPr id="277" name="Google Shape;277;p50"/>
          <p:cNvSpPr txBox="1"/>
          <p:nvPr/>
        </p:nvSpPr>
        <p:spPr>
          <a:xfrm>
            <a:off x="8641080" y="6309360"/>
            <a:ext cx="1938528" cy="164592"/>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800">
                <a:solidFill>
                  <a:srgbClr val="082B4C"/>
                </a:solidFill>
                <a:latin typeface="Arial"/>
                <a:ea typeface="Arial"/>
                <a:cs typeface="Arial"/>
                <a:sym typeface="Arial"/>
              </a:rPr>
              <a:t>NSF Award #2609465</a:t>
            </a:r>
            <a:endParaRPr/>
          </a:p>
        </p:txBody>
      </p:sp>
      <p:sp>
        <p:nvSpPr>
          <p:cNvPr id="278" name="Google Shape;278;p50"/>
          <p:cNvSpPr txBox="1"/>
          <p:nvPr/>
        </p:nvSpPr>
        <p:spPr>
          <a:xfrm>
            <a:off x="4434840" y="4475748"/>
            <a:ext cx="141732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rgbClr val="5F7385"/>
                </a:solidFill>
                <a:latin typeface="Arial"/>
                <a:ea typeface="Arial"/>
                <a:cs typeface="Arial"/>
                <a:sym typeface="Arial"/>
              </a:rPr>
              <a:t>PARTNER INSTITUTIONS</a:t>
            </a:r>
            <a:endParaRPr/>
          </a:p>
        </p:txBody>
      </p:sp>
      <p:pic>
        <p:nvPicPr>
          <p:cNvPr descr="mlc_lockup_black_green.png" id="279" name="Google Shape;279;p50"/>
          <p:cNvPicPr preferRelativeResize="0"/>
          <p:nvPr/>
        </p:nvPicPr>
        <p:blipFill rotWithShape="1">
          <a:blip r:embed="rId4">
            <a:alphaModFix/>
          </a:blip>
          <a:srcRect b="0" l="0" r="0" t="0"/>
          <a:stretch/>
        </p:blipFill>
        <p:spPr>
          <a:xfrm>
            <a:off x="10623470" y="5052013"/>
            <a:ext cx="1078992" cy="324998"/>
          </a:xfrm>
          <a:prstGeom prst="rect">
            <a:avLst/>
          </a:prstGeom>
          <a:noFill/>
          <a:ln>
            <a:noFill/>
          </a:ln>
        </p:spPr>
      </p:pic>
      <p:pic>
        <p:nvPicPr>
          <p:cNvPr descr="NSF-TACC-UT-Black.png" id="280" name="Google Shape;280;p50"/>
          <p:cNvPicPr preferRelativeResize="0"/>
          <p:nvPr/>
        </p:nvPicPr>
        <p:blipFill rotWithShape="1">
          <a:blip r:embed="rId5">
            <a:alphaModFix/>
          </a:blip>
          <a:srcRect b="0" l="0" r="0" t="0"/>
          <a:stretch/>
        </p:blipFill>
        <p:spPr>
          <a:xfrm>
            <a:off x="6862630" y="5022288"/>
            <a:ext cx="1874519" cy="384449"/>
          </a:xfrm>
          <a:prstGeom prst="rect">
            <a:avLst/>
          </a:prstGeom>
          <a:noFill/>
          <a:ln>
            <a:noFill/>
          </a:ln>
        </p:spPr>
      </p:pic>
      <p:pic>
        <p:nvPicPr>
          <p:cNvPr descr="UU-Logo-CTR_RED.png" id="281" name="Google Shape;281;p50"/>
          <p:cNvPicPr preferRelativeResize="0"/>
          <p:nvPr/>
        </p:nvPicPr>
        <p:blipFill rotWithShape="1">
          <a:blip r:embed="rId6">
            <a:alphaModFix/>
          </a:blip>
          <a:srcRect b="0" l="0" r="0" t="0"/>
          <a:stretch/>
        </p:blipFill>
        <p:spPr>
          <a:xfrm>
            <a:off x="5911165" y="4935620"/>
            <a:ext cx="489821" cy="557784"/>
          </a:xfrm>
          <a:prstGeom prst="rect">
            <a:avLst/>
          </a:prstGeom>
          <a:noFill/>
          <a:ln>
            <a:noFill/>
          </a:ln>
        </p:spPr>
      </p:pic>
      <p:pic>
        <p:nvPicPr>
          <p:cNvPr descr="University-HorizLeftLogo-RGB.png" id="282" name="Google Shape;282;p50"/>
          <p:cNvPicPr preferRelativeResize="0"/>
          <p:nvPr/>
        </p:nvPicPr>
        <p:blipFill rotWithShape="1">
          <a:blip r:embed="rId7">
            <a:alphaModFix/>
          </a:blip>
          <a:srcRect b="0" l="0" r="0" t="0"/>
          <a:stretch/>
        </p:blipFill>
        <p:spPr>
          <a:xfrm>
            <a:off x="4256733" y="4886134"/>
            <a:ext cx="1417320" cy="656756"/>
          </a:xfrm>
          <a:prstGeom prst="rect">
            <a:avLst/>
          </a:prstGeom>
          <a:noFill/>
          <a:ln>
            <a:noFill/>
          </a:ln>
        </p:spPr>
      </p:pic>
      <p:sp>
        <p:nvSpPr>
          <p:cNvPr id="283" name="Google Shape;283;p50"/>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100">
                <a:solidFill>
                  <a:srgbClr val="FFFFFF"/>
                </a:solidFill>
                <a:latin typeface="Arial"/>
                <a:ea typeface="Arial"/>
                <a:cs typeface="Arial"/>
                <a:sym typeface="Arial"/>
              </a:rPr>
              <a:t>02</a:t>
            </a:r>
            <a:endParaRPr/>
          </a:p>
        </p:txBody>
      </p:sp>
      <p:pic>
        <p:nvPicPr>
          <p:cNvPr descr="PU-H-Full-RGB.png" id="284" name="Google Shape;284;p50"/>
          <p:cNvPicPr preferRelativeResize="0"/>
          <p:nvPr/>
        </p:nvPicPr>
        <p:blipFill rotWithShape="1">
          <a:blip r:embed="rId8">
            <a:alphaModFix/>
          </a:blip>
          <a:srcRect b="0" l="0" r="0" t="0"/>
          <a:stretch/>
        </p:blipFill>
        <p:spPr>
          <a:xfrm>
            <a:off x="8985437" y="5083718"/>
            <a:ext cx="1461402" cy="26158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Key Message / Figure" showMasterSp="0">
  <p:cSld name="NSDF — Key Message / Figure">
    <p:spTree>
      <p:nvGrpSpPr>
        <p:cNvPr id="285" name="Shape 285"/>
        <p:cNvGrpSpPr/>
        <p:nvPr/>
      </p:nvGrpSpPr>
      <p:grpSpPr>
        <a:xfrm>
          <a:off x="0" y="0"/>
          <a:ext cx="0" cy="0"/>
          <a:chOff x="0" y="0"/>
          <a:chExt cx="0" cy="0"/>
        </a:xfrm>
      </p:grpSpPr>
      <p:pic>
        <p:nvPicPr>
          <p:cNvPr descr="00_logo_nsdf(1).png" id="286" name="Google Shape;286;p51"/>
          <p:cNvPicPr preferRelativeResize="0"/>
          <p:nvPr/>
        </p:nvPicPr>
        <p:blipFill rotWithShape="1">
          <a:blip r:embed="rId2">
            <a:alphaModFix/>
          </a:blip>
          <a:srcRect b="0" l="0" r="0" t="0"/>
          <a:stretch/>
        </p:blipFill>
        <p:spPr>
          <a:xfrm>
            <a:off x="320040" y="182880"/>
            <a:ext cx="1298448" cy="678734"/>
          </a:xfrm>
          <a:prstGeom prst="rect">
            <a:avLst/>
          </a:prstGeom>
          <a:noFill/>
          <a:ln>
            <a:noFill/>
          </a:ln>
        </p:spPr>
      </p:pic>
      <p:sp>
        <p:nvSpPr>
          <p:cNvPr id="287" name="Google Shape;287;p51"/>
          <p:cNvSpPr txBox="1"/>
          <p:nvPr/>
        </p:nvSpPr>
        <p:spPr>
          <a:xfrm>
            <a:off x="1901952" y="237744"/>
            <a:ext cx="80467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147FB3"/>
                </a:solidFill>
                <a:latin typeface="Arial"/>
                <a:ea typeface="Arial"/>
                <a:cs typeface="Arial"/>
                <a:sym typeface="Arial"/>
              </a:rPr>
              <a:t>NSDF</a:t>
            </a:r>
            <a:endParaRPr/>
          </a:p>
        </p:txBody>
      </p:sp>
      <p:sp>
        <p:nvSpPr>
          <p:cNvPr id="288" name="Google Shape;288;p51"/>
          <p:cNvSpPr txBox="1"/>
          <p:nvPr>
            <p:ph type="title"/>
          </p:nvPr>
        </p:nvSpPr>
        <p:spPr>
          <a:xfrm>
            <a:off x="1874519" y="512064"/>
            <a:ext cx="9646920" cy="50292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51"/>
          <p:cNvSpPr/>
          <p:nvPr/>
        </p:nvSpPr>
        <p:spPr>
          <a:xfrm>
            <a:off x="1874519" y="1078992"/>
            <a:ext cx="2011680" cy="41148"/>
          </a:xfrm>
          <a:prstGeom prst="rect">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51"/>
          <p:cNvSpPr/>
          <p:nvPr/>
        </p:nvSpPr>
        <p:spPr>
          <a:xfrm>
            <a:off x="3886200" y="1078992"/>
            <a:ext cx="6126480" cy="41148"/>
          </a:xfrm>
          <a:prstGeom prst="rect">
            <a:avLst/>
          </a:prstGeom>
          <a:solidFill>
            <a:srgbClr val="D9EAF2"/>
          </a:solidFill>
          <a:ln cap="flat" cmpd="sng" w="9525">
            <a:solidFill>
              <a:srgbClr val="D9EA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51"/>
          <p:cNvSpPr/>
          <p:nvPr/>
        </p:nvSpPr>
        <p:spPr>
          <a:xfrm>
            <a:off x="0" y="6510528"/>
            <a:ext cx="12191695" cy="347472"/>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92" name="Google Shape;292;p51"/>
          <p:cNvPicPr preferRelativeResize="0"/>
          <p:nvPr/>
        </p:nvPicPr>
        <p:blipFill rotWithShape="1">
          <a:blip r:embed="rId2">
            <a:alphaModFix/>
          </a:blip>
          <a:srcRect b="0" l="0" r="0" t="0"/>
          <a:stretch/>
        </p:blipFill>
        <p:spPr>
          <a:xfrm>
            <a:off x="292608" y="6099048"/>
            <a:ext cx="1078992" cy="564019"/>
          </a:xfrm>
          <a:prstGeom prst="rect">
            <a:avLst/>
          </a:prstGeom>
          <a:noFill/>
          <a:ln>
            <a:noFill/>
          </a:ln>
        </p:spPr>
      </p:pic>
      <p:sp>
        <p:nvSpPr>
          <p:cNvPr id="293" name="Google Shape;293;p51"/>
          <p:cNvSpPr txBox="1"/>
          <p:nvPr/>
        </p:nvSpPr>
        <p:spPr>
          <a:xfrm>
            <a:off x="8229600" y="6537960"/>
            <a:ext cx="274320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800">
                <a:solidFill>
                  <a:srgbClr val="FFFFFF"/>
                </a:solidFill>
                <a:latin typeface="Arial"/>
                <a:ea typeface="Arial"/>
                <a:cs typeface="Arial"/>
                <a:sym typeface="Arial"/>
              </a:rPr>
              <a:t>NSDF</a:t>
            </a:r>
            <a:endParaRPr/>
          </a:p>
        </p:txBody>
      </p:sp>
      <p:pic>
        <p:nvPicPr>
          <p:cNvPr descr="00_logo_nsf.png" id="294" name="Google Shape;294;p51"/>
          <p:cNvPicPr preferRelativeResize="0"/>
          <p:nvPr/>
        </p:nvPicPr>
        <p:blipFill rotWithShape="1">
          <a:blip r:embed="rId3">
            <a:alphaModFix/>
          </a:blip>
          <a:srcRect b="0" l="0" r="0" t="0"/>
          <a:stretch/>
        </p:blipFill>
        <p:spPr>
          <a:xfrm>
            <a:off x="11448288" y="6053328"/>
            <a:ext cx="530352" cy="533124"/>
          </a:xfrm>
          <a:prstGeom prst="rect">
            <a:avLst/>
          </a:prstGeom>
          <a:noFill/>
          <a:ln>
            <a:noFill/>
          </a:ln>
        </p:spPr>
      </p:pic>
      <p:sp>
        <p:nvSpPr>
          <p:cNvPr id="295" name="Google Shape;295;p51"/>
          <p:cNvSpPr txBox="1"/>
          <p:nvPr>
            <p:ph idx="1" type="body"/>
          </p:nvPr>
        </p:nvSpPr>
        <p:spPr>
          <a:xfrm>
            <a:off x="658368" y="1481328"/>
            <a:ext cx="301752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6" name="Google Shape;296;p51"/>
          <p:cNvSpPr txBox="1"/>
          <p:nvPr>
            <p:ph idx="2" type="body"/>
          </p:nvPr>
        </p:nvSpPr>
        <p:spPr>
          <a:xfrm>
            <a:off x="658368" y="1874519"/>
            <a:ext cx="4983480" cy="91440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7" name="Google Shape;297;p51"/>
          <p:cNvSpPr/>
          <p:nvPr/>
        </p:nvSpPr>
        <p:spPr>
          <a:xfrm>
            <a:off x="713232" y="3008376"/>
            <a:ext cx="402336" cy="40233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51"/>
          <p:cNvSpPr txBox="1"/>
          <p:nvPr>
            <p:ph idx="3" type="body"/>
          </p:nvPr>
        </p:nvSpPr>
        <p:spPr>
          <a:xfrm>
            <a:off x="1298448" y="3063240"/>
            <a:ext cx="420624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9" name="Google Shape;299;p51"/>
          <p:cNvSpPr txBox="1"/>
          <p:nvPr>
            <p:ph idx="4" type="body"/>
          </p:nvPr>
        </p:nvSpPr>
        <p:spPr>
          <a:xfrm>
            <a:off x="1298448" y="3392424"/>
            <a:ext cx="4297680" cy="27432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0" name="Google Shape;300;p51"/>
          <p:cNvSpPr/>
          <p:nvPr/>
        </p:nvSpPr>
        <p:spPr>
          <a:xfrm>
            <a:off x="713232" y="3785616"/>
            <a:ext cx="402336" cy="40233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51"/>
          <p:cNvSpPr txBox="1"/>
          <p:nvPr>
            <p:ph idx="5" type="body"/>
          </p:nvPr>
        </p:nvSpPr>
        <p:spPr>
          <a:xfrm>
            <a:off x="1298448" y="3840480"/>
            <a:ext cx="420624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2" name="Google Shape;302;p51"/>
          <p:cNvSpPr txBox="1"/>
          <p:nvPr>
            <p:ph idx="6" type="body"/>
          </p:nvPr>
        </p:nvSpPr>
        <p:spPr>
          <a:xfrm>
            <a:off x="1298448" y="4169664"/>
            <a:ext cx="4297680" cy="27432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3" name="Google Shape;303;p51"/>
          <p:cNvSpPr/>
          <p:nvPr/>
        </p:nvSpPr>
        <p:spPr>
          <a:xfrm>
            <a:off x="713232" y="4562856"/>
            <a:ext cx="402336" cy="40233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p51"/>
          <p:cNvSpPr txBox="1"/>
          <p:nvPr>
            <p:ph idx="7" type="body"/>
          </p:nvPr>
        </p:nvSpPr>
        <p:spPr>
          <a:xfrm>
            <a:off x="1298448" y="4617720"/>
            <a:ext cx="420624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5" name="Google Shape;305;p51"/>
          <p:cNvSpPr txBox="1"/>
          <p:nvPr>
            <p:ph idx="8" type="body"/>
          </p:nvPr>
        </p:nvSpPr>
        <p:spPr>
          <a:xfrm>
            <a:off x="1298448" y="4946904"/>
            <a:ext cx="4297680" cy="27432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6" name="Google Shape;306;p51"/>
          <p:cNvSpPr/>
          <p:nvPr/>
        </p:nvSpPr>
        <p:spPr>
          <a:xfrm>
            <a:off x="6080760" y="1481328"/>
            <a:ext cx="5413248" cy="4498848"/>
          </a:xfrm>
          <a:prstGeom prst="roundRect">
            <a:avLst>
              <a:gd fmla="val 12000" name="adj"/>
            </a:avLst>
          </a:prstGeom>
          <a:solidFill>
            <a:srgbClr val="EAF5FA"/>
          </a:solidFill>
          <a:ln cap="flat" cmpd="sng" w="9525">
            <a:solidFill>
              <a:srgbClr val="C9E5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07" name="Google Shape;307;p51"/>
          <p:cNvCxnSpPr/>
          <p:nvPr/>
        </p:nvCxnSpPr>
        <p:spPr>
          <a:xfrm>
            <a:off x="8633304" y="4338149"/>
            <a:ext cx="401423" cy="1495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08" name="Google Shape;308;p51"/>
          <p:cNvCxnSpPr/>
          <p:nvPr/>
        </p:nvCxnSpPr>
        <p:spPr>
          <a:xfrm flipH="1" rot="10800000">
            <a:off x="8633304" y="3635896"/>
            <a:ext cx="582794" cy="70225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09" name="Google Shape;309;p51"/>
          <p:cNvCxnSpPr/>
          <p:nvPr/>
        </p:nvCxnSpPr>
        <p:spPr>
          <a:xfrm flipH="1">
            <a:off x="9338422" y="2337253"/>
            <a:ext cx="215828" cy="8131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0" name="Google Shape;310;p51"/>
          <p:cNvCxnSpPr/>
          <p:nvPr/>
        </p:nvCxnSpPr>
        <p:spPr>
          <a:xfrm flipH="1" rot="10800000">
            <a:off x="9554250" y="1982649"/>
            <a:ext cx="146053" cy="35460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1" name="Google Shape;311;p51"/>
          <p:cNvCxnSpPr/>
          <p:nvPr/>
        </p:nvCxnSpPr>
        <p:spPr>
          <a:xfrm>
            <a:off x="6407216" y="3239450"/>
            <a:ext cx="488064" cy="18829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2" name="Google Shape;312;p51"/>
          <p:cNvCxnSpPr/>
          <p:nvPr/>
        </p:nvCxnSpPr>
        <p:spPr>
          <a:xfrm flipH="1" rot="10800000">
            <a:off x="6407216" y="2997675"/>
            <a:ext cx="596278" cy="24177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3" name="Google Shape;313;p51"/>
          <p:cNvCxnSpPr/>
          <p:nvPr/>
        </p:nvCxnSpPr>
        <p:spPr>
          <a:xfrm flipH="1">
            <a:off x="7177010" y="4932254"/>
            <a:ext cx="493665" cy="2079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4" name="Google Shape;314;p51"/>
          <p:cNvCxnSpPr/>
          <p:nvPr/>
        </p:nvCxnSpPr>
        <p:spPr>
          <a:xfrm flipH="1">
            <a:off x="7134060" y="4932254"/>
            <a:ext cx="536615" cy="37161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5" name="Google Shape;315;p51"/>
          <p:cNvCxnSpPr/>
          <p:nvPr/>
        </p:nvCxnSpPr>
        <p:spPr>
          <a:xfrm flipH="1">
            <a:off x="9668043" y="4120462"/>
            <a:ext cx="2296" cy="28103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6" name="Google Shape;316;p51"/>
          <p:cNvCxnSpPr/>
          <p:nvPr/>
        </p:nvCxnSpPr>
        <p:spPr>
          <a:xfrm rot="10800000">
            <a:off x="9216098" y="3635896"/>
            <a:ext cx="454241" cy="48456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7" name="Google Shape;317;p51"/>
          <p:cNvCxnSpPr/>
          <p:nvPr/>
        </p:nvCxnSpPr>
        <p:spPr>
          <a:xfrm rot="10800000">
            <a:off x="8633304" y="4338149"/>
            <a:ext cx="401423" cy="1495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8" name="Google Shape;318;p51"/>
          <p:cNvCxnSpPr/>
          <p:nvPr/>
        </p:nvCxnSpPr>
        <p:spPr>
          <a:xfrm>
            <a:off x="9034727" y="4353106"/>
            <a:ext cx="633316" cy="4838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19" name="Google Shape;319;p51"/>
          <p:cNvCxnSpPr/>
          <p:nvPr/>
        </p:nvCxnSpPr>
        <p:spPr>
          <a:xfrm rot="10800000">
            <a:off x="6895280" y="3427745"/>
            <a:ext cx="157340" cy="6547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0" name="Google Shape;320;p51"/>
          <p:cNvCxnSpPr/>
          <p:nvPr/>
        </p:nvCxnSpPr>
        <p:spPr>
          <a:xfrm rot="10800000">
            <a:off x="7003494" y="2997675"/>
            <a:ext cx="49126" cy="49554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1" name="Google Shape;321;p51"/>
          <p:cNvCxnSpPr/>
          <p:nvPr/>
        </p:nvCxnSpPr>
        <p:spPr>
          <a:xfrm flipH="1" rot="10800000">
            <a:off x="7134060" y="4953044"/>
            <a:ext cx="42950" cy="35082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2" name="Google Shape;322;p51"/>
          <p:cNvCxnSpPr/>
          <p:nvPr/>
        </p:nvCxnSpPr>
        <p:spPr>
          <a:xfrm flipH="1">
            <a:off x="6646883" y="5303872"/>
            <a:ext cx="487177" cy="3521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3" name="Google Shape;323;p51"/>
          <p:cNvCxnSpPr/>
          <p:nvPr/>
        </p:nvCxnSpPr>
        <p:spPr>
          <a:xfrm>
            <a:off x="6637472" y="4965178"/>
            <a:ext cx="9411" cy="37390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4" name="Google Shape;324;p51"/>
          <p:cNvCxnSpPr/>
          <p:nvPr/>
        </p:nvCxnSpPr>
        <p:spPr>
          <a:xfrm flipH="1" rot="10800000">
            <a:off x="6637472" y="4452687"/>
            <a:ext cx="75779" cy="51249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5" name="Google Shape;325;p51"/>
          <p:cNvCxnSpPr/>
          <p:nvPr/>
        </p:nvCxnSpPr>
        <p:spPr>
          <a:xfrm flipH="1">
            <a:off x="6637472" y="4452687"/>
            <a:ext cx="75779" cy="51249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6" name="Google Shape;326;p51"/>
          <p:cNvCxnSpPr/>
          <p:nvPr/>
        </p:nvCxnSpPr>
        <p:spPr>
          <a:xfrm>
            <a:off x="6713251" y="4452687"/>
            <a:ext cx="463759" cy="50035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7" name="Google Shape;327;p51"/>
          <p:cNvCxnSpPr/>
          <p:nvPr/>
        </p:nvCxnSpPr>
        <p:spPr>
          <a:xfrm flipH="1" rot="10800000">
            <a:off x="7972880" y="3194270"/>
            <a:ext cx="92870" cy="16122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8" name="Google Shape;328;p51"/>
          <p:cNvCxnSpPr/>
          <p:nvPr/>
        </p:nvCxnSpPr>
        <p:spPr>
          <a:xfrm>
            <a:off x="7972880" y="3355492"/>
            <a:ext cx="304930" cy="5528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29" name="Google Shape;329;p51"/>
          <p:cNvCxnSpPr/>
          <p:nvPr/>
        </p:nvCxnSpPr>
        <p:spPr>
          <a:xfrm flipH="1">
            <a:off x="9700303" y="1855380"/>
            <a:ext cx="698818" cy="12726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0" name="Google Shape;330;p51"/>
          <p:cNvCxnSpPr/>
          <p:nvPr/>
        </p:nvCxnSpPr>
        <p:spPr>
          <a:xfrm flipH="1">
            <a:off x="9554250" y="1855380"/>
            <a:ext cx="844871" cy="48187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1" name="Google Shape;331;p51"/>
          <p:cNvCxnSpPr/>
          <p:nvPr/>
        </p:nvCxnSpPr>
        <p:spPr>
          <a:xfrm rot="10800000">
            <a:off x="6637472" y="4965178"/>
            <a:ext cx="9411" cy="37390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2" name="Google Shape;332;p51"/>
          <p:cNvCxnSpPr/>
          <p:nvPr/>
        </p:nvCxnSpPr>
        <p:spPr>
          <a:xfrm flipH="1" rot="10800000">
            <a:off x="6646883" y="5303872"/>
            <a:ext cx="487177" cy="3521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3" name="Google Shape;333;p51"/>
          <p:cNvCxnSpPr/>
          <p:nvPr/>
        </p:nvCxnSpPr>
        <p:spPr>
          <a:xfrm>
            <a:off x="8798229" y="2136638"/>
            <a:ext cx="540193" cy="28192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4" name="Google Shape;334;p51"/>
          <p:cNvCxnSpPr/>
          <p:nvPr/>
        </p:nvCxnSpPr>
        <p:spPr>
          <a:xfrm rot="10800000">
            <a:off x="8201301" y="1901587"/>
            <a:ext cx="596928" cy="23505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5" name="Google Shape;335;p51"/>
          <p:cNvCxnSpPr/>
          <p:nvPr/>
        </p:nvCxnSpPr>
        <p:spPr>
          <a:xfrm rot="10800000">
            <a:off x="11041923" y="4361946"/>
            <a:ext cx="51992" cy="110025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6" name="Google Shape;336;p51"/>
          <p:cNvCxnSpPr/>
          <p:nvPr/>
        </p:nvCxnSpPr>
        <p:spPr>
          <a:xfrm flipH="1">
            <a:off x="9841887" y="5462196"/>
            <a:ext cx="1252028" cy="8062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7" name="Google Shape;337;p51"/>
          <p:cNvCxnSpPr/>
          <p:nvPr/>
        </p:nvCxnSpPr>
        <p:spPr>
          <a:xfrm>
            <a:off x="6895280" y="3427745"/>
            <a:ext cx="157340" cy="6547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8" name="Google Shape;338;p51"/>
          <p:cNvCxnSpPr/>
          <p:nvPr/>
        </p:nvCxnSpPr>
        <p:spPr>
          <a:xfrm flipH="1" rot="10800000">
            <a:off x="6895280" y="2997675"/>
            <a:ext cx="108214" cy="43007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39" name="Google Shape;339;p51"/>
          <p:cNvCxnSpPr/>
          <p:nvPr/>
        </p:nvCxnSpPr>
        <p:spPr>
          <a:xfrm rot="10800000">
            <a:off x="6901543" y="2696229"/>
            <a:ext cx="101951" cy="30144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0" name="Google Shape;340;p51"/>
          <p:cNvCxnSpPr/>
          <p:nvPr/>
        </p:nvCxnSpPr>
        <p:spPr>
          <a:xfrm flipH="1">
            <a:off x="6895280" y="2997675"/>
            <a:ext cx="108214" cy="43007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1" name="Google Shape;341;p51"/>
          <p:cNvCxnSpPr/>
          <p:nvPr/>
        </p:nvCxnSpPr>
        <p:spPr>
          <a:xfrm flipH="1" rot="10800000">
            <a:off x="9338422" y="2337253"/>
            <a:ext cx="215828" cy="8131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2" name="Google Shape;342;p51"/>
          <p:cNvCxnSpPr/>
          <p:nvPr/>
        </p:nvCxnSpPr>
        <p:spPr>
          <a:xfrm flipH="1" rot="10800000">
            <a:off x="9338422" y="1982649"/>
            <a:ext cx="361881" cy="43591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3" name="Google Shape;343;p51"/>
          <p:cNvCxnSpPr/>
          <p:nvPr/>
        </p:nvCxnSpPr>
        <p:spPr>
          <a:xfrm flipH="1">
            <a:off x="9554250" y="1982649"/>
            <a:ext cx="146053" cy="35460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4" name="Google Shape;344;p51"/>
          <p:cNvCxnSpPr/>
          <p:nvPr/>
        </p:nvCxnSpPr>
        <p:spPr>
          <a:xfrm flipH="1">
            <a:off x="9338422" y="1982649"/>
            <a:ext cx="361881" cy="43591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5" name="Google Shape;345;p51"/>
          <p:cNvCxnSpPr/>
          <p:nvPr/>
        </p:nvCxnSpPr>
        <p:spPr>
          <a:xfrm flipH="1">
            <a:off x="7134060" y="4953044"/>
            <a:ext cx="42950" cy="35082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6" name="Google Shape;346;p51"/>
          <p:cNvCxnSpPr/>
          <p:nvPr/>
        </p:nvCxnSpPr>
        <p:spPr>
          <a:xfrm flipH="1" rot="10800000">
            <a:off x="7177010" y="4932254"/>
            <a:ext cx="493665" cy="2079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7" name="Google Shape;347;p51"/>
          <p:cNvCxnSpPr/>
          <p:nvPr/>
        </p:nvCxnSpPr>
        <p:spPr>
          <a:xfrm rot="10800000">
            <a:off x="8065750" y="3194270"/>
            <a:ext cx="212060" cy="21650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8" name="Google Shape;348;p51"/>
          <p:cNvCxnSpPr/>
          <p:nvPr/>
        </p:nvCxnSpPr>
        <p:spPr>
          <a:xfrm rot="10800000">
            <a:off x="7972880" y="3355492"/>
            <a:ext cx="304930" cy="5528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49" name="Google Shape;349;p51"/>
          <p:cNvCxnSpPr/>
          <p:nvPr/>
        </p:nvCxnSpPr>
        <p:spPr>
          <a:xfrm>
            <a:off x="9216098" y="3635896"/>
            <a:ext cx="454241" cy="48456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0" name="Google Shape;350;p51"/>
          <p:cNvCxnSpPr/>
          <p:nvPr/>
        </p:nvCxnSpPr>
        <p:spPr>
          <a:xfrm flipH="1">
            <a:off x="9034727" y="3635896"/>
            <a:ext cx="181371" cy="71721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1" name="Google Shape;351;p51"/>
          <p:cNvCxnSpPr/>
          <p:nvPr/>
        </p:nvCxnSpPr>
        <p:spPr>
          <a:xfrm>
            <a:off x="8201301" y="1901587"/>
            <a:ext cx="596928" cy="23505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2" name="Google Shape;352;p51"/>
          <p:cNvCxnSpPr/>
          <p:nvPr/>
        </p:nvCxnSpPr>
        <p:spPr>
          <a:xfrm>
            <a:off x="8201301" y="1901587"/>
            <a:ext cx="1137121" cy="51698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3" name="Google Shape;353;p51"/>
          <p:cNvCxnSpPr/>
          <p:nvPr/>
        </p:nvCxnSpPr>
        <p:spPr>
          <a:xfrm rot="10800000">
            <a:off x="9668043" y="4401495"/>
            <a:ext cx="173844" cy="114132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4" name="Google Shape;354;p51"/>
          <p:cNvCxnSpPr/>
          <p:nvPr/>
        </p:nvCxnSpPr>
        <p:spPr>
          <a:xfrm flipH="1" rot="10800000">
            <a:off x="9841887" y="5462196"/>
            <a:ext cx="1252028" cy="8062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5" name="Google Shape;355;p51"/>
          <p:cNvCxnSpPr/>
          <p:nvPr/>
        </p:nvCxnSpPr>
        <p:spPr>
          <a:xfrm>
            <a:off x="11041923" y="4361946"/>
            <a:ext cx="51992" cy="110025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6" name="Google Shape;356;p51"/>
          <p:cNvCxnSpPr/>
          <p:nvPr/>
        </p:nvCxnSpPr>
        <p:spPr>
          <a:xfrm flipH="1">
            <a:off x="9668043" y="4361946"/>
            <a:ext cx="1373880" cy="3954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7" name="Google Shape;357;p51"/>
          <p:cNvCxnSpPr/>
          <p:nvPr/>
        </p:nvCxnSpPr>
        <p:spPr>
          <a:xfrm flipH="1">
            <a:off x="7972880" y="3194270"/>
            <a:ext cx="92870" cy="16122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8" name="Google Shape;358;p51"/>
          <p:cNvCxnSpPr/>
          <p:nvPr/>
        </p:nvCxnSpPr>
        <p:spPr>
          <a:xfrm>
            <a:off x="8065750" y="3194270"/>
            <a:ext cx="212060" cy="21650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59" name="Google Shape;359;p51"/>
          <p:cNvCxnSpPr/>
          <p:nvPr/>
        </p:nvCxnSpPr>
        <p:spPr>
          <a:xfrm flipH="1" rot="10800000">
            <a:off x="9668043" y="4120462"/>
            <a:ext cx="2296" cy="28103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60" name="Google Shape;360;p51"/>
          <p:cNvCxnSpPr/>
          <p:nvPr/>
        </p:nvCxnSpPr>
        <p:spPr>
          <a:xfrm rot="10800000">
            <a:off x="9034727" y="4353106"/>
            <a:ext cx="633316" cy="4838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61" name="Google Shape;361;p51"/>
          <p:cNvCxnSpPr/>
          <p:nvPr/>
        </p:nvCxnSpPr>
        <p:spPr>
          <a:xfrm>
            <a:off x="6901543" y="2696229"/>
            <a:ext cx="101951" cy="30144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362" name="Google Shape;362;p51"/>
          <p:cNvCxnSpPr/>
          <p:nvPr/>
        </p:nvCxnSpPr>
        <p:spPr>
          <a:xfrm flipH="1">
            <a:off x="6895280" y="2696229"/>
            <a:ext cx="6263" cy="73151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sp>
        <p:nvSpPr>
          <p:cNvPr id="363" name="Google Shape;363;p51"/>
          <p:cNvSpPr/>
          <p:nvPr/>
        </p:nvSpPr>
        <p:spPr>
          <a:xfrm>
            <a:off x="8564724" y="4269569"/>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 name="Google Shape;364;p51"/>
          <p:cNvSpPr/>
          <p:nvPr/>
        </p:nvSpPr>
        <p:spPr>
          <a:xfrm>
            <a:off x="9513102" y="229610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 name="Google Shape;365;p51"/>
          <p:cNvSpPr/>
          <p:nvPr/>
        </p:nvSpPr>
        <p:spPr>
          <a:xfrm>
            <a:off x="6366068" y="319830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 name="Google Shape;366;p51"/>
          <p:cNvSpPr/>
          <p:nvPr/>
        </p:nvSpPr>
        <p:spPr>
          <a:xfrm>
            <a:off x="7629527" y="48911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 name="Google Shape;367;p51"/>
          <p:cNvSpPr/>
          <p:nvPr/>
        </p:nvSpPr>
        <p:spPr>
          <a:xfrm>
            <a:off x="9629191" y="4079314"/>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51"/>
          <p:cNvSpPr/>
          <p:nvPr/>
        </p:nvSpPr>
        <p:spPr>
          <a:xfrm>
            <a:off x="8966147" y="4284526"/>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 name="Google Shape;369;p51"/>
          <p:cNvSpPr/>
          <p:nvPr/>
        </p:nvSpPr>
        <p:spPr>
          <a:xfrm>
            <a:off x="7011472" y="345207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51"/>
          <p:cNvSpPr/>
          <p:nvPr/>
        </p:nvSpPr>
        <p:spPr>
          <a:xfrm>
            <a:off x="7092912" y="526272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p51"/>
          <p:cNvSpPr/>
          <p:nvPr/>
        </p:nvSpPr>
        <p:spPr>
          <a:xfrm>
            <a:off x="6596324" y="49240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2" name="Google Shape;372;p51"/>
          <p:cNvSpPr/>
          <p:nvPr/>
        </p:nvSpPr>
        <p:spPr>
          <a:xfrm>
            <a:off x="6672103" y="441153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 name="Google Shape;373;p51"/>
          <p:cNvSpPr/>
          <p:nvPr/>
        </p:nvSpPr>
        <p:spPr>
          <a:xfrm>
            <a:off x="7904300" y="328691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51"/>
          <p:cNvSpPr/>
          <p:nvPr/>
        </p:nvSpPr>
        <p:spPr>
          <a:xfrm>
            <a:off x="10357973" y="181423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p51"/>
          <p:cNvSpPr/>
          <p:nvPr/>
        </p:nvSpPr>
        <p:spPr>
          <a:xfrm>
            <a:off x="6605735" y="529793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51"/>
          <p:cNvSpPr/>
          <p:nvPr/>
        </p:nvSpPr>
        <p:spPr>
          <a:xfrm>
            <a:off x="8757081" y="209549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 name="Google Shape;377;p51"/>
          <p:cNvSpPr/>
          <p:nvPr/>
        </p:nvSpPr>
        <p:spPr>
          <a:xfrm>
            <a:off x="11052767" y="54210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51"/>
          <p:cNvSpPr/>
          <p:nvPr/>
        </p:nvSpPr>
        <p:spPr>
          <a:xfrm>
            <a:off x="6826700" y="335916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51"/>
          <p:cNvSpPr/>
          <p:nvPr/>
        </p:nvSpPr>
        <p:spPr>
          <a:xfrm>
            <a:off x="6962346" y="2956527"/>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51"/>
          <p:cNvSpPr/>
          <p:nvPr/>
        </p:nvSpPr>
        <p:spPr>
          <a:xfrm>
            <a:off x="9297274" y="237741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51"/>
          <p:cNvSpPr/>
          <p:nvPr/>
        </p:nvSpPr>
        <p:spPr>
          <a:xfrm>
            <a:off x="9659155" y="194150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51"/>
          <p:cNvSpPr/>
          <p:nvPr/>
        </p:nvSpPr>
        <p:spPr>
          <a:xfrm>
            <a:off x="7135862" y="491189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p51"/>
          <p:cNvSpPr/>
          <p:nvPr/>
        </p:nvSpPr>
        <p:spPr>
          <a:xfrm>
            <a:off x="8209230" y="3342196"/>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51"/>
          <p:cNvSpPr/>
          <p:nvPr/>
        </p:nvSpPr>
        <p:spPr>
          <a:xfrm>
            <a:off x="9174950" y="35947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p51"/>
          <p:cNvSpPr/>
          <p:nvPr/>
        </p:nvSpPr>
        <p:spPr>
          <a:xfrm>
            <a:off x="8160153" y="186043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51"/>
          <p:cNvSpPr/>
          <p:nvPr/>
        </p:nvSpPr>
        <p:spPr>
          <a:xfrm>
            <a:off x="9800739" y="550167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51"/>
          <p:cNvSpPr/>
          <p:nvPr/>
        </p:nvSpPr>
        <p:spPr>
          <a:xfrm>
            <a:off x="11000775" y="4320798"/>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51"/>
          <p:cNvSpPr/>
          <p:nvPr/>
        </p:nvSpPr>
        <p:spPr>
          <a:xfrm>
            <a:off x="7997170" y="3125690"/>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 name="Google Shape;389;p51"/>
          <p:cNvSpPr/>
          <p:nvPr/>
        </p:nvSpPr>
        <p:spPr>
          <a:xfrm>
            <a:off x="9626895" y="436034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0" name="Google Shape;390;p51"/>
          <p:cNvSpPr/>
          <p:nvPr/>
        </p:nvSpPr>
        <p:spPr>
          <a:xfrm>
            <a:off x="6860395" y="265508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1" name="Google Shape;391;p51"/>
          <p:cNvSpPr txBox="1"/>
          <p:nvPr/>
        </p:nvSpPr>
        <p:spPr>
          <a:xfrm>
            <a:off x="7635240" y="3364992"/>
            <a:ext cx="22860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147FB3"/>
                </a:solidFill>
                <a:latin typeface="Arial"/>
                <a:ea typeface="Arial"/>
                <a:cs typeface="Arial"/>
                <a:sym typeface="Arial"/>
              </a:rPr>
              <a:t>VISUAL / FIGURE</a:t>
            </a:r>
            <a:endParaRPr/>
          </a:p>
        </p:txBody>
      </p:sp>
      <p:sp>
        <p:nvSpPr>
          <p:cNvPr id="392" name="Google Shape;392;p51"/>
          <p:cNvSpPr txBox="1"/>
          <p:nvPr/>
        </p:nvSpPr>
        <p:spPr>
          <a:xfrm>
            <a:off x="8366760" y="6537960"/>
            <a:ext cx="1920240" cy="164592"/>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750">
                <a:solidFill>
                  <a:srgbClr val="FFFFFF"/>
                </a:solidFill>
                <a:latin typeface="Arial"/>
                <a:ea typeface="Arial"/>
                <a:cs typeface="Arial"/>
                <a:sym typeface="Arial"/>
              </a:rPr>
              <a:t>NSF Award #2609465</a:t>
            </a:r>
            <a:endParaRPr/>
          </a:p>
        </p:txBody>
      </p:sp>
      <p:sp>
        <p:nvSpPr>
          <p:cNvPr id="393" name="Google Shape;393;p51"/>
          <p:cNvSpPr txBox="1"/>
          <p:nvPr/>
        </p:nvSpPr>
        <p:spPr>
          <a:xfrm>
            <a:off x="182880" y="6519672"/>
            <a:ext cx="420624"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03</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Two Column Comparison" showMasterSp="0">
  <p:cSld name="NSDF — Two Column Comparison">
    <p:spTree>
      <p:nvGrpSpPr>
        <p:cNvPr id="394" name="Shape 394"/>
        <p:cNvGrpSpPr/>
        <p:nvPr/>
      </p:nvGrpSpPr>
      <p:grpSpPr>
        <a:xfrm>
          <a:off x="0" y="0"/>
          <a:ext cx="0" cy="0"/>
          <a:chOff x="0" y="0"/>
          <a:chExt cx="0" cy="0"/>
        </a:xfrm>
      </p:grpSpPr>
      <p:pic>
        <p:nvPicPr>
          <p:cNvPr descr="00_logo_nsdf(1).png" id="395" name="Google Shape;395;p52"/>
          <p:cNvPicPr preferRelativeResize="0"/>
          <p:nvPr/>
        </p:nvPicPr>
        <p:blipFill rotWithShape="1">
          <a:blip r:embed="rId2">
            <a:alphaModFix/>
          </a:blip>
          <a:srcRect b="0" l="0" r="0" t="0"/>
          <a:stretch/>
        </p:blipFill>
        <p:spPr>
          <a:xfrm>
            <a:off x="320040" y="182880"/>
            <a:ext cx="1298448" cy="678734"/>
          </a:xfrm>
          <a:prstGeom prst="rect">
            <a:avLst/>
          </a:prstGeom>
          <a:noFill/>
          <a:ln>
            <a:noFill/>
          </a:ln>
        </p:spPr>
      </p:pic>
      <p:sp>
        <p:nvSpPr>
          <p:cNvPr id="396" name="Google Shape;396;p52"/>
          <p:cNvSpPr txBox="1"/>
          <p:nvPr/>
        </p:nvSpPr>
        <p:spPr>
          <a:xfrm>
            <a:off x="1901952" y="237744"/>
            <a:ext cx="80467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147FB3"/>
                </a:solidFill>
                <a:latin typeface="Arial"/>
                <a:ea typeface="Arial"/>
                <a:cs typeface="Arial"/>
                <a:sym typeface="Arial"/>
              </a:rPr>
              <a:t>NSDF</a:t>
            </a:r>
            <a:endParaRPr/>
          </a:p>
        </p:txBody>
      </p:sp>
      <p:sp>
        <p:nvSpPr>
          <p:cNvPr id="397" name="Google Shape;397;p52"/>
          <p:cNvSpPr txBox="1"/>
          <p:nvPr>
            <p:ph type="title"/>
          </p:nvPr>
        </p:nvSpPr>
        <p:spPr>
          <a:xfrm>
            <a:off x="1874519" y="512064"/>
            <a:ext cx="9646920" cy="50292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8" name="Google Shape;398;p52"/>
          <p:cNvSpPr/>
          <p:nvPr/>
        </p:nvSpPr>
        <p:spPr>
          <a:xfrm>
            <a:off x="1874519" y="1078992"/>
            <a:ext cx="2011680" cy="41148"/>
          </a:xfrm>
          <a:prstGeom prst="rect">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9" name="Google Shape;399;p52"/>
          <p:cNvSpPr/>
          <p:nvPr/>
        </p:nvSpPr>
        <p:spPr>
          <a:xfrm>
            <a:off x="3886200" y="1078992"/>
            <a:ext cx="6126480" cy="41148"/>
          </a:xfrm>
          <a:prstGeom prst="rect">
            <a:avLst/>
          </a:prstGeom>
          <a:solidFill>
            <a:srgbClr val="D9EAF2"/>
          </a:solidFill>
          <a:ln cap="flat" cmpd="sng" w="9525">
            <a:solidFill>
              <a:srgbClr val="D9EA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 name="Google Shape;400;p52"/>
          <p:cNvSpPr/>
          <p:nvPr/>
        </p:nvSpPr>
        <p:spPr>
          <a:xfrm>
            <a:off x="0" y="6510528"/>
            <a:ext cx="12191695" cy="347472"/>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401" name="Google Shape;401;p52"/>
          <p:cNvPicPr preferRelativeResize="0"/>
          <p:nvPr/>
        </p:nvPicPr>
        <p:blipFill rotWithShape="1">
          <a:blip r:embed="rId2">
            <a:alphaModFix/>
          </a:blip>
          <a:srcRect b="0" l="0" r="0" t="0"/>
          <a:stretch/>
        </p:blipFill>
        <p:spPr>
          <a:xfrm>
            <a:off x="292608" y="6099048"/>
            <a:ext cx="1078992" cy="564019"/>
          </a:xfrm>
          <a:prstGeom prst="rect">
            <a:avLst/>
          </a:prstGeom>
          <a:noFill/>
          <a:ln>
            <a:noFill/>
          </a:ln>
        </p:spPr>
      </p:pic>
      <p:sp>
        <p:nvSpPr>
          <p:cNvPr id="402" name="Google Shape;402;p52"/>
          <p:cNvSpPr txBox="1"/>
          <p:nvPr/>
        </p:nvSpPr>
        <p:spPr>
          <a:xfrm>
            <a:off x="8229600" y="6537960"/>
            <a:ext cx="274320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800">
                <a:solidFill>
                  <a:srgbClr val="FFFFFF"/>
                </a:solidFill>
                <a:latin typeface="Arial"/>
                <a:ea typeface="Arial"/>
                <a:cs typeface="Arial"/>
                <a:sym typeface="Arial"/>
              </a:rPr>
              <a:t>NSDF</a:t>
            </a:r>
            <a:endParaRPr/>
          </a:p>
        </p:txBody>
      </p:sp>
      <p:pic>
        <p:nvPicPr>
          <p:cNvPr descr="00_logo_nsf.png" id="403" name="Google Shape;403;p52"/>
          <p:cNvPicPr preferRelativeResize="0"/>
          <p:nvPr/>
        </p:nvPicPr>
        <p:blipFill rotWithShape="1">
          <a:blip r:embed="rId3">
            <a:alphaModFix/>
          </a:blip>
          <a:srcRect b="0" l="0" r="0" t="0"/>
          <a:stretch/>
        </p:blipFill>
        <p:spPr>
          <a:xfrm>
            <a:off x="11448288" y="6053328"/>
            <a:ext cx="530352" cy="533124"/>
          </a:xfrm>
          <a:prstGeom prst="rect">
            <a:avLst/>
          </a:prstGeom>
          <a:noFill/>
          <a:ln>
            <a:noFill/>
          </a:ln>
        </p:spPr>
      </p:pic>
      <p:sp>
        <p:nvSpPr>
          <p:cNvPr id="404" name="Google Shape;404;p52"/>
          <p:cNvSpPr/>
          <p:nvPr/>
        </p:nvSpPr>
        <p:spPr>
          <a:xfrm>
            <a:off x="640080" y="1481328"/>
            <a:ext cx="5257800" cy="4498848"/>
          </a:xfrm>
          <a:prstGeom prst="roundRect">
            <a:avLst>
              <a:gd fmla="val 12000" name="adj"/>
            </a:avLst>
          </a:prstGeom>
          <a:solidFill>
            <a:srgbClr val="FFFFFF"/>
          </a:solidFill>
          <a:ln cap="flat" cmpd="sng" w="9525">
            <a:solidFill>
              <a:srgbClr val="C9E5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 name="Google Shape;405;p52"/>
          <p:cNvSpPr/>
          <p:nvPr/>
        </p:nvSpPr>
        <p:spPr>
          <a:xfrm>
            <a:off x="640080" y="1481328"/>
            <a:ext cx="5257800" cy="566928"/>
          </a:xfrm>
          <a:prstGeom prst="roundRect">
            <a:avLst>
              <a:gd fmla="val 12000" name="adj"/>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 name="Google Shape;406;p52"/>
          <p:cNvSpPr txBox="1"/>
          <p:nvPr/>
        </p:nvSpPr>
        <p:spPr>
          <a:xfrm>
            <a:off x="896112" y="1636776"/>
            <a:ext cx="11887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FFFFFF"/>
                </a:solidFill>
                <a:latin typeface="Arial"/>
                <a:ea typeface="Arial"/>
                <a:cs typeface="Arial"/>
                <a:sym typeface="Arial"/>
              </a:rPr>
              <a:t>TODAY</a:t>
            </a:r>
            <a:endParaRPr/>
          </a:p>
        </p:txBody>
      </p:sp>
      <p:sp>
        <p:nvSpPr>
          <p:cNvPr id="407" name="Google Shape;407;p52"/>
          <p:cNvSpPr txBox="1"/>
          <p:nvPr>
            <p:ph idx="1" type="body"/>
          </p:nvPr>
        </p:nvSpPr>
        <p:spPr>
          <a:xfrm>
            <a:off x="932688" y="2331720"/>
            <a:ext cx="4389120" cy="384048"/>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8" name="Google Shape;408;p52"/>
          <p:cNvSpPr/>
          <p:nvPr/>
        </p:nvSpPr>
        <p:spPr>
          <a:xfrm>
            <a:off x="1051560" y="3063240"/>
            <a:ext cx="128016" cy="128016"/>
          </a:xfrm>
          <a:prstGeom prst="ellipse">
            <a:avLst/>
          </a:prstGeom>
          <a:solidFill>
            <a:srgbClr val="8CC7E8"/>
          </a:solidFill>
          <a:ln cap="flat" cmpd="sng" w="9525">
            <a:solidFill>
              <a:srgbClr val="8CC7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52"/>
          <p:cNvSpPr txBox="1"/>
          <p:nvPr>
            <p:ph idx="2" type="body"/>
          </p:nvPr>
        </p:nvSpPr>
        <p:spPr>
          <a:xfrm>
            <a:off x="1353312" y="2944368"/>
            <a:ext cx="3977639"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0" name="Google Shape;410;p52"/>
          <p:cNvSpPr/>
          <p:nvPr/>
        </p:nvSpPr>
        <p:spPr>
          <a:xfrm>
            <a:off x="1051560" y="3794759"/>
            <a:ext cx="128016" cy="128016"/>
          </a:xfrm>
          <a:prstGeom prst="ellipse">
            <a:avLst/>
          </a:prstGeom>
          <a:solidFill>
            <a:srgbClr val="8CC7E8"/>
          </a:solidFill>
          <a:ln cap="flat" cmpd="sng" w="9525">
            <a:solidFill>
              <a:srgbClr val="8CC7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p52"/>
          <p:cNvSpPr txBox="1"/>
          <p:nvPr>
            <p:ph idx="3" type="body"/>
          </p:nvPr>
        </p:nvSpPr>
        <p:spPr>
          <a:xfrm>
            <a:off x="1353312" y="3675888"/>
            <a:ext cx="3977639"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2" name="Google Shape;412;p52"/>
          <p:cNvSpPr/>
          <p:nvPr/>
        </p:nvSpPr>
        <p:spPr>
          <a:xfrm>
            <a:off x="1051560" y="4526279"/>
            <a:ext cx="128016" cy="128016"/>
          </a:xfrm>
          <a:prstGeom prst="ellipse">
            <a:avLst/>
          </a:prstGeom>
          <a:solidFill>
            <a:srgbClr val="8CC7E8"/>
          </a:solidFill>
          <a:ln cap="flat" cmpd="sng" w="9525">
            <a:solidFill>
              <a:srgbClr val="8CC7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3" name="Google Shape;413;p52"/>
          <p:cNvSpPr txBox="1"/>
          <p:nvPr>
            <p:ph idx="4" type="body"/>
          </p:nvPr>
        </p:nvSpPr>
        <p:spPr>
          <a:xfrm>
            <a:off x="1353312" y="4407408"/>
            <a:ext cx="3977639"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4" name="Google Shape;414;p52"/>
          <p:cNvSpPr/>
          <p:nvPr/>
        </p:nvSpPr>
        <p:spPr>
          <a:xfrm>
            <a:off x="6291072" y="1481328"/>
            <a:ext cx="5257800" cy="4498848"/>
          </a:xfrm>
          <a:prstGeom prst="roundRect">
            <a:avLst>
              <a:gd fmla="val 12000" name="adj"/>
            </a:avLst>
          </a:prstGeom>
          <a:solidFill>
            <a:srgbClr val="FFFFFF"/>
          </a:solidFill>
          <a:ln cap="flat" cmpd="sng" w="9525">
            <a:solidFill>
              <a:srgbClr val="C9E5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 name="Google Shape;415;p52"/>
          <p:cNvSpPr/>
          <p:nvPr/>
        </p:nvSpPr>
        <p:spPr>
          <a:xfrm>
            <a:off x="6291072" y="1481328"/>
            <a:ext cx="5257800" cy="566928"/>
          </a:xfrm>
          <a:prstGeom prst="roundRect">
            <a:avLst>
              <a:gd fmla="val 12000" name="adj"/>
            </a:avLst>
          </a:prstGeom>
          <a:solidFill>
            <a:srgbClr val="147FB3"/>
          </a:solidFill>
          <a:ln cap="flat" cmpd="sng" w="9525">
            <a:solidFill>
              <a:srgbClr val="147FB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52"/>
          <p:cNvSpPr txBox="1"/>
          <p:nvPr/>
        </p:nvSpPr>
        <p:spPr>
          <a:xfrm>
            <a:off x="6547104" y="1636776"/>
            <a:ext cx="1188720" cy="182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FFFFFF"/>
                </a:solidFill>
                <a:latin typeface="Arial"/>
                <a:ea typeface="Arial"/>
                <a:cs typeface="Arial"/>
                <a:sym typeface="Arial"/>
              </a:rPr>
              <a:t>NSDF</a:t>
            </a:r>
            <a:endParaRPr/>
          </a:p>
        </p:txBody>
      </p:sp>
      <p:sp>
        <p:nvSpPr>
          <p:cNvPr id="417" name="Google Shape;417;p52"/>
          <p:cNvSpPr txBox="1"/>
          <p:nvPr>
            <p:ph idx="5" type="body"/>
          </p:nvPr>
        </p:nvSpPr>
        <p:spPr>
          <a:xfrm>
            <a:off x="6583680" y="2331720"/>
            <a:ext cx="4389120" cy="384048"/>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8" name="Google Shape;418;p52"/>
          <p:cNvSpPr/>
          <p:nvPr/>
        </p:nvSpPr>
        <p:spPr>
          <a:xfrm>
            <a:off x="6702552" y="3063240"/>
            <a:ext cx="128016" cy="12801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p52"/>
          <p:cNvSpPr txBox="1"/>
          <p:nvPr>
            <p:ph idx="6" type="body"/>
          </p:nvPr>
        </p:nvSpPr>
        <p:spPr>
          <a:xfrm>
            <a:off x="7004304" y="2944368"/>
            <a:ext cx="3977639"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0" name="Google Shape;420;p52"/>
          <p:cNvSpPr/>
          <p:nvPr/>
        </p:nvSpPr>
        <p:spPr>
          <a:xfrm>
            <a:off x="6702552" y="3794759"/>
            <a:ext cx="128016" cy="12801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52"/>
          <p:cNvSpPr txBox="1"/>
          <p:nvPr>
            <p:ph idx="7" type="body"/>
          </p:nvPr>
        </p:nvSpPr>
        <p:spPr>
          <a:xfrm>
            <a:off x="7004304" y="3675888"/>
            <a:ext cx="3977639"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2" name="Google Shape;422;p52"/>
          <p:cNvSpPr/>
          <p:nvPr/>
        </p:nvSpPr>
        <p:spPr>
          <a:xfrm>
            <a:off x="6702552" y="4526279"/>
            <a:ext cx="128016" cy="12801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3" name="Google Shape;423;p52"/>
          <p:cNvSpPr txBox="1"/>
          <p:nvPr>
            <p:ph idx="8" type="body"/>
          </p:nvPr>
        </p:nvSpPr>
        <p:spPr>
          <a:xfrm>
            <a:off x="7004304" y="4407408"/>
            <a:ext cx="3977639"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24" name="Google Shape;424;p52"/>
          <p:cNvCxnSpPr/>
          <p:nvPr/>
        </p:nvCxnSpPr>
        <p:spPr>
          <a:xfrm flipH="1" rot="10800000">
            <a:off x="6577492" y="5022458"/>
            <a:ext cx="380656" cy="5217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25" name="Google Shape;425;p52"/>
          <p:cNvCxnSpPr/>
          <p:nvPr/>
        </p:nvCxnSpPr>
        <p:spPr>
          <a:xfrm>
            <a:off x="6577492" y="5074634"/>
            <a:ext cx="595297" cy="2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26" name="Google Shape;426;p52"/>
          <p:cNvCxnSpPr/>
          <p:nvPr/>
        </p:nvCxnSpPr>
        <p:spPr>
          <a:xfrm>
            <a:off x="8369605" y="5398613"/>
            <a:ext cx="92925" cy="17715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27" name="Google Shape;427;p52"/>
          <p:cNvCxnSpPr/>
          <p:nvPr/>
        </p:nvCxnSpPr>
        <p:spPr>
          <a:xfrm flipH="1" rot="10800000">
            <a:off x="8369605" y="5264754"/>
            <a:ext cx="672583" cy="13385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28" name="Google Shape;428;p52"/>
          <p:cNvCxnSpPr/>
          <p:nvPr/>
        </p:nvCxnSpPr>
        <p:spPr>
          <a:xfrm rot="10800000">
            <a:off x="6958148" y="5022458"/>
            <a:ext cx="214641" cy="5220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29" name="Google Shape;429;p52"/>
          <p:cNvCxnSpPr/>
          <p:nvPr/>
        </p:nvCxnSpPr>
        <p:spPr>
          <a:xfrm>
            <a:off x="7172789" y="5074659"/>
            <a:ext cx="41018" cy="35615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0" name="Google Shape;430;p52"/>
          <p:cNvCxnSpPr/>
          <p:nvPr/>
        </p:nvCxnSpPr>
        <p:spPr>
          <a:xfrm rot="10800000">
            <a:off x="7213807" y="5430810"/>
            <a:ext cx="397459" cy="960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1" name="Google Shape;431;p52"/>
          <p:cNvCxnSpPr/>
          <p:nvPr/>
        </p:nvCxnSpPr>
        <p:spPr>
          <a:xfrm rot="10800000">
            <a:off x="7172789" y="5074659"/>
            <a:ext cx="438477" cy="36575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2" name="Google Shape;432;p52"/>
          <p:cNvCxnSpPr/>
          <p:nvPr/>
        </p:nvCxnSpPr>
        <p:spPr>
          <a:xfrm rot="10800000">
            <a:off x="7172789" y="5074659"/>
            <a:ext cx="41018" cy="35615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3" name="Google Shape;433;p52"/>
          <p:cNvCxnSpPr/>
          <p:nvPr/>
        </p:nvCxnSpPr>
        <p:spPr>
          <a:xfrm>
            <a:off x="7213807" y="5430810"/>
            <a:ext cx="397459" cy="960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4" name="Google Shape;434;p52"/>
          <p:cNvCxnSpPr/>
          <p:nvPr/>
        </p:nvCxnSpPr>
        <p:spPr>
          <a:xfrm flipH="1">
            <a:off x="9042188" y="5088342"/>
            <a:ext cx="595732" cy="17641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5" name="Google Shape;435;p52"/>
          <p:cNvCxnSpPr/>
          <p:nvPr/>
        </p:nvCxnSpPr>
        <p:spPr>
          <a:xfrm flipH="1">
            <a:off x="8462530" y="5088342"/>
            <a:ext cx="1175390" cy="48742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6" name="Google Shape;436;p52"/>
          <p:cNvCxnSpPr/>
          <p:nvPr/>
        </p:nvCxnSpPr>
        <p:spPr>
          <a:xfrm flipH="1" rot="10800000">
            <a:off x="9042188" y="5088342"/>
            <a:ext cx="595732" cy="17641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7" name="Google Shape;437;p52"/>
          <p:cNvCxnSpPr/>
          <p:nvPr/>
        </p:nvCxnSpPr>
        <p:spPr>
          <a:xfrm flipH="1">
            <a:off x="8462530" y="5264754"/>
            <a:ext cx="579658" cy="31101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8" name="Google Shape;438;p52"/>
          <p:cNvCxnSpPr/>
          <p:nvPr/>
        </p:nvCxnSpPr>
        <p:spPr>
          <a:xfrm rot="10800000">
            <a:off x="8369605" y="5398613"/>
            <a:ext cx="92925" cy="17715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39" name="Google Shape;439;p52"/>
          <p:cNvCxnSpPr/>
          <p:nvPr/>
        </p:nvCxnSpPr>
        <p:spPr>
          <a:xfrm flipH="1" rot="10800000">
            <a:off x="8462530" y="5264754"/>
            <a:ext cx="579658" cy="31101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40" name="Google Shape;440;p52"/>
          <p:cNvCxnSpPr/>
          <p:nvPr/>
        </p:nvCxnSpPr>
        <p:spPr>
          <a:xfrm>
            <a:off x="6958148" y="5022458"/>
            <a:ext cx="214641" cy="5220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441" name="Google Shape;441;p52"/>
          <p:cNvCxnSpPr/>
          <p:nvPr/>
        </p:nvCxnSpPr>
        <p:spPr>
          <a:xfrm flipH="1">
            <a:off x="6577492" y="5022458"/>
            <a:ext cx="380656" cy="5217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sp>
        <p:nvSpPr>
          <p:cNvPr id="442" name="Google Shape;442;p52"/>
          <p:cNvSpPr/>
          <p:nvPr/>
        </p:nvSpPr>
        <p:spPr>
          <a:xfrm>
            <a:off x="6508912" y="50060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52"/>
          <p:cNvSpPr/>
          <p:nvPr/>
        </p:nvSpPr>
        <p:spPr>
          <a:xfrm>
            <a:off x="8328457" y="535746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4" name="Google Shape;444;p52"/>
          <p:cNvSpPr/>
          <p:nvPr/>
        </p:nvSpPr>
        <p:spPr>
          <a:xfrm>
            <a:off x="7131641" y="503351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52"/>
          <p:cNvSpPr/>
          <p:nvPr/>
        </p:nvSpPr>
        <p:spPr>
          <a:xfrm>
            <a:off x="7570118" y="53992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 name="Google Shape;446;p52"/>
          <p:cNvSpPr/>
          <p:nvPr/>
        </p:nvSpPr>
        <p:spPr>
          <a:xfrm>
            <a:off x="7172659" y="5389662"/>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7" name="Google Shape;447;p52"/>
          <p:cNvSpPr/>
          <p:nvPr/>
        </p:nvSpPr>
        <p:spPr>
          <a:xfrm>
            <a:off x="9569340" y="501976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8" name="Google Shape;448;p52"/>
          <p:cNvSpPr/>
          <p:nvPr/>
        </p:nvSpPr>
        <p:spPr>
          <a:xfrm>
            <a:off x="9001040" y="52236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 name="Google Shape;449;p52"/>
          <p:cNvSpPr/>
          <p:nvPr/>
        </p:nvSpPr>
        <p:spPr>
          <a:xfrm>
            <a:off x="8421382" y="553461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 name="Google Shape;450;p52"/>
          <p:cNvSpPr/>
          <p:nvPr/>
        </p:nvSpPr>
        <p:spPr>
          <a:xfrm>
            <a:off x="6917000" y="498131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52"/>
          <p:cNvSpPr txBox="1"/>
          <p:nvPr/>
        </p:nvSpPr>
        <p:spPr>
          <a:xfrm>
            <a:off x="8366760" y="6537960"/>
            <a:ext cx="1920240" cy="164592"/>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750">
                <a:solidFill>
                  <a:srgbClr val="FFFFFF"/>
                </a:solidFill>
                <a:latin typeface="Arial"/>
                <a:ea typeface="Arial"/>
                <a:cs typeface="Arial"/>
                <a:sym typeface="Arial"/>
              </a:rPr>
              <a:t>NSF Award #2609465</a:t>
            </a:r>
            <a:endParaRPr/>
          </a:p>
        </p:txBody>
      </p:sp>
      <p:sp>
        <p:nvSpPr>
          <p:cNvPr id="452" name="Google Shape;452;p52"/>
          <p:cNvSpPr txBox="1"/>
          <p:nvPr/>
        </p:nvSpPr>
        <p:spPr>
          <a:xfrm>
            <a:off x="182880" y="6519672"/>
            <a:ext cx="420624"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04</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Architecture / Workflow" showMasterSp="0">
  <p:cSld name="NSDF — Architecture / Workflow">
    <p:spTree>
      <p:nvGrpSpPr>
        <p:cNvPr id="453" name="Shape 453"/>
        <p:cNvGrpSpPr/>
        <p:nvPr/>
      </p:nvGrpSpPr>
      <p:grpSpPr>
        <a:xfrm>
          <a:off x="0" y="0"/>
          <a:ext cx="0" cy="0"/>
          <a:chOff x="0" y="0"/>
          <a:chExt cx="0" cy="0"/>
        </a:xfrm>
      </p:grpSpPr>
      <p:pic>
        <p:nvPicPr>
          <p:cNvPr descr="00_logo_nsdf(1).png" id="454" name="Google Shape;454;p53"/>
          <p:cNvPicPr preferRelativeResize="0"/>
          <p:nvPr/>
        </p:nvPicPr>
        <p:blipFill rotWithShape="1">
          <a:blip r:embed="rId2">
            <a:alphaModFix/>
          </a:blip>
          <a:srcRect b="0" l="0" r="0" t="0"/>
          <a:stretch/>
        </p:blipFill>
        <p:spPr>
          <a:xfrm>
            <a:off x="320040" y="182880"/>
            <a:ext cx="1298448" cy="678734"/>
          </a:xfrm>
          <a:prstGeom prst="rect">
            <a:avLst/>
          </a:prstGeom>
          <a:noFill/>
          <a:ln>
            <a:noFill/>
          </a:ln>
        </p:spPr>
      </p:pic>
      <p:sp>
        <p:nvSpPr>
          <p:cNvPr id="455" name="Google Shape;455;p53"/>
          <p:cNvSpPr txBox="1"/>
          <p:nvPr/>
        </p:nvSpPr>
        <p:spPr>
          <a:xfrm>
            <a:off x="1901952" y="237744"/>
            <a:ext cx="80467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147FB3"/>
                </a:solidFill>
                <a:latin typeface="Arial"/>
                <a:ea typeface="Arial"/>
                <a:cs typeface="Arial"/>
                <a:sym typeface="Arial"/>
              </a:rPr>
              <a:t>NSDF</a:t>
            </a:r>
            <a:endParaRPr/>
          </a:p>
        </p:txBody>
      </p:sp>
      <p:sp>
        <p:nvSpPr>
          <p:cNvPr id="456" name="Google Shape;456;p53"/>
          <p:cNvSpPr txBox="1"/>
          <p:nvPr>
            <p:ph type="title"/>
          </p:nvPr>
        </p:nvSpPr>
        <p:spPr>
          <a:xfrm>
            <a:off x="1874519" y="512064"/>
            <a:ext cx="9646920" cy="50292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7" name="Google Shape;457;p53"/>
          <p:cNvSpPr/>
          <p:nvPr/>
        </p:nvSpPr>
        <p:spPr>
          <a:xfrm>
            <a:off x="1874519" y="1078992"/>
            <a:ext cx="2011680" cy="41148"/>
          </a:xfrm>
          <a:prstGeom prst="rect">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53"/>
          <p:cNvSpPr/>
          <p:nvPr/>
        </p:nvSpPr>
        <p:spPr>
          <a:xfrm>
            <a:off x="3886200" y="1078992"/>
            <a:ext cx="6126480" cy="41148"/>
          </a:xfrm>
          <a:prstGeom prst="rect">
            <a:avLst/>
          </a:prstGeom>
          <a:solidFill>
            <a:srgbClr val="D9EAF2"/>
          </a:solidFill>
          <a:ln cap="flat" cmpd="sng" w="9525">
            <a:solidFill>
              <a:srgbClr val="D9EA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 name="Google Shape;459;p53"/>
          <p:cNvSpPr/>
          <p:nvPr/>
        </p:nvSpPr>
        <p:spPr>
          <a:xfrm>
            <a:off x="0" y="6510528"/>
            <a:ext cx="12191695" cy="347472"/>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460" name="Google Shape;460;p53"/>
          <p:cNvPicPr preferRelativeResize="0"/>
          <p:nvPr/>
        </p:nvPicPr>
        <p:blipFill rotWithShape="1">
          <a:blip r:embed="rId2">
            <a:alphaModFix/>
          </a:blip>
          <a:srcRect b="0" l="0" r="0" t="0"/>
          <a:stretch/>
        </p:blipFill>
        <p:spPr>
          <a:xfrm>
            <a:off x="292608" y="6099048"/>
            <a:ext cx="1078992" cy="564019"/>
          </a:xfrm>
          <a:prstGeom prst="rect">
            <a:avLst/>
          </a:prstGeom>
          <a:noFill/>
          <a:ln>
            <a:noFill/>
          </a:ln>
        </p:spPr>
      </p:pic>
      <p:sp>
        <p:nvSpPr>
          <p:cNvPr id="461" name="Google Shape;461;p53"/>
          <p:cNvSpPr txBox="1"/>
          <p:nvPr/>
        </p:nvSpPr>
        <p:spPr>
          <a:xfrm>
            <a:off x="8229600" y="6537960"/>
            <a:ext cx="274320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800">
                <a:solidFill>
                  <a:srgbClr val="FFFFFF"/>
                </a:solidFill>
                <a:latin typeface="Arial"/>
                <a:ea typeface="Arial"/>
                <a:cs typeface="Arial"/>
                <a:sym typeface="Arial"/>
              </a:rPr>
              <a:t>NSDF</a:t>
            </a:r>
            <a:endParaRPr/>
          </a:p>
        </p:txBody>
      </p:sp>
      <p:pic>
        <p:nvPicPr>
          <p:cNvPr descr="00_logo_nsf.png" id="462" name="Google Shape;462;p53"/>
          <p:cNvPicPr preferRelativeResize="0"/>
          <p:nvPr/>
        </p:nvPicPr>
        <p:blipFill rotWithShape="1">
          <a:blip r:embed="rId3">
            <a:alphaModFix/>
          </a:blip>
          <a:srcRect b="0" l="0" r="0" t="0"/>
          <a:stretch/>
        </p:blipFill>
        <p:spPr>
          <a:xfrm>
            <a:off x="11448288" y="6053328"/>
            <a:ext cx="530352" cy="533124"/>
          </a:xfrm>
          <a:prstGeom prst="rect">
            <a:avLst/>
          </a:prstGeom>
          <a:noFill/>
          <a:ln>
            <a:noFill/>
          </a:ln>
        </p:spPr>
      </p:pic>
      <p:sp>
        <p:nvSpPr>
          <p:cNvPr id="463" name="Google Shape;463;p53"/>
          <p:cNvSpPr/>
          <p:nvPr/>
        </p:nvSpPr>
        <p:spPr>
          <a:xfrm>
            <a:off x="658368" y="2057400"/>
            <a:ext cx="2148840" cy="2057400"/>
          </a:xfrm>
          <a:prstGeom prst="roundRect">
            <a:avLst>
              <a:gd fmla="val 12000" name="adj"/>
            </a:avLst>
          </a:prstGeom>
          <a:solidFill>
            <a:srgbClr val="FFFFFF"/>
          </a:solidFill>
          <a:ln cap="flat" cmpd="sng" w="9525">
            <a:solidFill>
              <a:srgbClr val="B9DD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4" name="Google Shape;464;p53"/>
          <p:cNvSpPr/>
          <p:nvPr/>
        </p:nvSpPr>
        <p:spPr>
          <a:xfrm>
            <a:off x="877824" y="2322576"/>
            <a:ext cx="329184" cy="329184"/>
          </a:xfrm>
          <a:prstGeom prst="ellipse">
            <a:avLst/>
          </a:prstGeom>
          <a:solidFill>
            <a:srgbClr val="8CC7E8"/>
          </a:solidFill>
          <a:ln cap="flat" cmpd="sng" w="9525">
            <a:solidFill>
              <a:srgbClr val="8CC7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p53"/>
          <p:cNvSpPr txBox="1"/>
          <p:nvPr/>
        </p:nvSpPr>
        <p:spPr>
          <a:xfrm>
            <a:off x="1344168" y="2304288"/>
            <a:ext cx="1143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147FB3"/>
                </a:solidFill>
                <a:latin typeface="Arial"/>
                <a:ea typeface="Arial"/>
                <a:cs typeface="Arial"/>
                <a:sym typeface="Arial"/>
              </a:rPr>
              <a:t>DATA</a:t>
            </a:r>
            <a:endParaRPr/>
          </a:p>
        </p:txBody>
      </p:sp>
      <p:sp>
        <p:nvSpPr>
          <p:cNvPr id="466" name="Google Shape;466;p53"/>
          <p:cNvSpPr txBox="1"/>
          <p:nvPr/>
        </p:nvSpPr>
        <p:spPr>
          <a:xfrm>
            <a:off x="914400" y="2907792"/>
            <a:ext cx="1645920" cy="6583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082B4C"/>
                </a:solidFill>
                <a:latin typeface="Arial"/>
                <a:ea typeface="Arial"/>
                <a:cs typeface="Arial"/>
                <a:sym typeface="Arial"/>
              </a:rPr>
              <a:t>Scientific</a:t>
            </a:r>
            <a:br>
              <a:rPr b="1" lang="en-US" sz="1800">
                <a:solidFill>
                  <a:srgbClr val="082B4C"/>
                </a:solidFill>
                <a:latin typeface="Arial"/>
                <a:ea typeface="Arial"/>
                <a:cs typeface="Arial"/>
                <a:sym typeface="Arial"/>
              </a:rPr>
            </a:br>
            <a:r>
              <a:rPr b="1" lang="en-US" sz="1800">
                <a:solidFill>
                  <a:srgbClr val="082B4C"/>
                </a:solidFill>
                <a:latin typeface="Arial"/>
                <a:ea typeface="Arial"/>
                <a:cs typeface="Arial"/>
                <a:sym typeface="Arial"/>
              </a:rPr>
              <a:t>facilities</a:t>
            </a:r>
            <a:endParaRPr/>
          </a:p>
        </p:txBody>
      </p:sp>
      <p:cxnSp>
        <p:nvCxnSpPr>
          <p:cNvPr id="467" name="Google Shape;467;p53"/>
          <p:cNvCxnSpPr/>
          <p:nvPr/>
        </p:nvCxnSpPr>
        <p:spPr>
          <a:xfrm>
            <a:off x="2816352" y="3072384"/>
            <a:ext cx="658368" cy="0"/>
          </a:xfrm>
          <a:prstGeom prst="straightConnector1">
            <a:avLst/>
          </a:prstGeom>
          <a:noFill/>
          <a:ln cap="flat" cmpd="sng" w="38100">
            <a:solidFill>
              <a:srgbClr val="2BB9D6"/>
            </a:solidFill>
            <a:prstDash val="solid"/>
            <a:round/>
            <a:headEnd len="sm" w="sm" type="none"/>
            <a:tailEnd len="sm" w="sm" type="none"/>
          </a:ln>
          <a:effectLst>
            <a:outerShdw blurRad="40000" rotWithShape="0" dir="5400000" dist="20000">
              <a:srgbClr val="000000">
                <a:alpha val="38039"/>
              </a:srgbClr>
            </a:outerShdw>
          </a:effectLst>
        </p:spPr>
      </p:cxnSp>
      <p:sp>
        <p:nvSpPr>
          <p:cNvPr id="468" name="Google Shape;468;p53"/>
          <p:cNvSpPr/>
          <p:nvPr/>
        </p:nvSpPr>
        <p:spPr>
          <a:xfrm>
            <a:off x="3547872" y="2057400"/>
            <a:ext cx="2148840" cy="2057400"/>
          </a:xfrm>
          <a:prstGeom prst="roundRect">
            <a:avLst>
              <a:gd fmla="val 12000" name="adj"/>
            </a:avLst>
          </a:prstGeom>
          <a:solidFill>
            <a:srgbClr val="FFFFFF"/>
          </a:solidFill>
          <a:ln cap="flat" cmpd="sng" w="9525">
            <a:solidFill>
              <a:srgbClr val="B9DD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p53"/>
          <p:cNvSpPr/>
          <p:nvPr/>
        </p:nvSpPr>
        <p:spPr>
          <a:xfrm>
            <a:off x="3767328" y="2322576"/>
            <a:ext cx="329184" cy="329184"/>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0" name="Google Shape;470;p53"/>
          <p:cNvSpPr txBox="1"/>
          <p:nvPr/>
        </p:nvSpPr>
        <p:spPr>
          <a:xfrm>
            <a:off x="4233672" y="2304288"/>
            <a:ext cx="1143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147FB3"/>
                </a:solidFill>
                <a:latin typeface="Arial"/>
                <a:ea typeface="Arial"/>
                <a:cs typeface="Arial"/>
                <a:sym typeface="Arial"/>
              </a:rPr>
              <a:t>FABRIC</a:t>
            </a:r>
            <a:endParaRPr/>
          </a:p>
        </p:txBody>
      </p:sp>
      <p:sp>
        <p:nvSpPr>
          <p:cNvPr id="471" name="Google Shape;471;p53"/>
          <p:cNvSpPr txBox="1"/>
          <p:nvPr/>
        </p:nvSpPr>
        <p:spPr>
          <a:xfrm>
            <a:off x="3803904" y="2907792"/>
            <a:ext cx="1645920" cy="6583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082B4C"/>
                </a:solidFill>
                <a:latin typeface="Arial"/>
                <a:ea typeface="Arial"/>
                <a:cs typeface="Arial"/>
                <a:sym typeface="Arial"/>
              </a:rPr>
              <a:t>Federated</a:t>
            </a:r>
            <a:br>
              <a:rPr b="1" lang="en-US" sz="1800">
                <a:solidFill>
                  <a:srgbClr val="082B4C"/>
                </a:solidFill>
                <a:latin typeface="Arial"/>
                <a:ea typeface="Arial"/>
                <a:cs typeface="Arial"/>
                <a:sym typeface="Arial"/>
              </a:rPr>
            </a:br>
            <a:r>
              <a:rPr b="1" lang="en-US" sz="1800">
                <a:solidFill>
                  <a:srgbClr val="082B4C"/>
                </a:solidFill>
                <a:latin typeface="Arial"/>
                <a:ea typeface="Arial"/>
                <a:cs typeface="Arial"/>
                <a:sym typeface="Arial"/>
              </a:rPr>
              <a:t>services</a:t>
            </a:r>
            <a:endParaRPr/>
          </a:p>
        </p:txBody>
      </p:sp>
      <p:cxnSp>
        <p:nvCxnSpPr>
          <p:cNvPr id="472" name="Google Shape;472;p53"/>
          <p:cNvCxnSpPr/>
          <p:nvPr/>
        </p:nvCxnSpPr>
        <p:spPr>
          <a:xfrm>
            <a:off x="5705856" y="3072384"/>
            <a:ext cx="658368" cy="0"/>
          </a:xfrm>
          <a:prstGeom prst="straightConnector1">
            <a:avLst/>
          </a:prstGeom>
          <a:noFill/>
          <a:ln cap="flat" cmpd="sng" w="38100">
            <a:solidFill>
              <a:srgbClr val="2BB9D6"/>
            </a:solidFill>
            <a:prstDash val="solid"/>
            <a:round/>
            <a:headEnd len="sm" w="sm" type="none"/>
            <a:tailEnd len="sm" w="sm" type="none"/>
          </a:ln>
          <a:effectLst>
            <a:outerShdw blurRad="40000" rotWithShape="0" dir="5400000" dist="20000">
              <a:srgbClr val="000000">
                <a:alpha val="38039"/>
              </a:srgbClr>
            </a:outerShdw>
          </a:effectLst>
        </p:spPr>
      </p:cxnSp>
      <p:sp>
        <p:nvSpPr>
          <p:cNvPr id="473" name="Google Shape;473;p53"/>
          <p:cNvSpPr/>
          <p:nvPr/>
        </p:nvSpPr>
        <p:spPr>
          <a:xfrm>
            <a:off x="6437376" y="2057400"/>
            <a:ext cx="2148840" cy="2057400"/>
          </a:xfrm>
          <a:prstGeom prst="roundRect">
            <a:avLst>
              <a:gd fmla="val 12000" name="adj"/>
            </a:avLst>
          </a:prstGeom>
          <a:solidFill>
            <a:srgbClr val="FFFFFF"/>
          </a:solidFill>
          <a:ln cap="flat" cmpd="sng" w="9525">
            <a:solidFill>
              <a:srgbClr val="B9DD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 name="Google Shape;474;p53"/>
          <p:cNvSpPr/>
          <p:nvPr/>
        </p:nvSpPr>
        <p:spPr>
          <a:xfrm>
            <a:off x="6656832" y="2322576"/>
            <a:ext cx="329184" cy="329184"/>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 name="Google Shape;475;p53"/>
          <p:cNvSpPr txBox="1"/>
          <p:nvPr/>
        </p:nvSpPr>
        <p:spPr>
          <a:xfrm>
            <a:off x="7123176" y="2304288"/>
            <a:ext cx="1143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147FB3"/>
                </a:solidFill>
                <a:latin typeface="Arial"/>
                <a:ea typeface="Arial"/>
                <a:cs typeface="Arial"/>
                <a:sym typeface="Arial"/>
              </a:rPr>
              <a:t>AI</a:t>
            </a:r>
            <a:endParaRPr/>
          </a:p>
        </p:txBody>
      </p:sp>
      <p:sp>
        <p:nvSpPr>
          <p:cNvPr id="476" name="Google Shape;476;p53"/>
          <p:cNvSpPr txBox="1"/>
          <p:nvPr/>
        </p:nvSpPr>
        <p:spPr>
          <a:xfrm>
            <a:off x="6693408" y="2907792"/>
            <a:ext cx="1645920" cy="6583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082B4C"/>
                </a:solidFill>
                <a:latin typeface="Arial"/>
                <a:ea typeface="Arial"/>
                <a:cs typeface="Arial"/>
                <a:sym typeface="Arial"/>
              </a:rPr>
              <a:t>Models &amp;</a:t>
            </a:r>
            <a:br>
              <a:rPr b="1" lang="en-US" sz="1800">
                <a:solidFill>
                  <a:srgbClr val="082B4C"/>
                </a:solidFill>
                <a:latin typeface="Arial"/>
                <a:ea typeface="Arial"/>
                <a:cs typeface="Arial"/>
                <a:sym typeface="Arial"/>
              </a:rPr>
            </a:br>
            <a:r>
              <a:rPr b="1" lang="en-US" sz="1800">
                <a:solidFill>
                  <a:srgbClr val="082B4C"/>
                </a:solidFill>
                <a:latin typeface="Arial"/>
                <a:ea typeface="Arial"/>
                <a:cs typeface="Arial"/>
                <a:sym typeface="Arial"/>
              </a:rPr>
              <a:t>workflows</a:t>
            </a:r>
            <a:endParaRPr/>
          </a:p>
        </p:txBody>
      </p:sp>
      <p:cxnSp>
        <p:nvCxnSpPr>
          <p:cNvPr id="477" name="Google Shape;477;p53"/>
          <p:cNvCxnSpPr/>
          <p:nvPr/>
        </p:nvCxnSpPr>
        <p:spPr>
          <a:xfrm>
            <a:off x="8595360" y="3072384"/>
            <a:ext cx="658368" cy="0"/>
          </a:xfrm>
          <a:prstGeom prst="straightConnector1">
            <a:avLst/>
          </a:prstGeom>
          <a:noFill/>
          <a:ln cap="flat" cmpd="sng" w="38100">
            <a:solidFill>
              <a:srgbClr val="2BB9D6"/>
            </a:solidFill>
            <a:prstDash val="solid"/>
            <a:round/>
            <a:headEnd len="sm" w="sm" type="none"/>
            <a:tailEnd len="sm" w="sm" type="none"/>
          </a:ln>
          <a:effectLst>
            <a:outerShdw blurRad="40000" rotWithShape="0" dir="5400000" dist="20000">
              <a:srgbClr val="000000">
                <a:alpha val="38039"/>
              </a:srgbClr>
            </a:outerShdw>
          </a:effectLst>
        </p:spPr>
      </p:cxnSp>
      <p:sp>
        <p:nvSpPr>
          <p:cNvPr id="478" name="Google Shape;478;p53"/>
          <p:cNvSpPr/>
          <p:nvPr/>
        </p:nvSpPr>
        <p:spPr>
          <a:xfrm>
            <a:off x="9326880" y="2057400"/>
            <a:ext cx="2148840" cy="2057400"/>
          </a:xfrm>
          <a:prstGeom prst="roundRect">
            <a:avLst>
              <a:gd fmla="val 12000" name="adj"/>
            </a:avLst>
          </a:prstGeom>
          <a:solidFill>
            <a:srgbClr val="FFFFFF"/>
          </a:solidFill>
          <a:ln cap="flat" cmpd="sng" w="9525">
            <a:solidFill>
              <a:srgbClr val="B9DD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 name="Google Shape;479;p53"/>
          <p:cNvSpPr/>
          <p:nvPr/>
        </p:nvSpPr>
        <p:spPr>
          <a:xfrm>
            <a:off x="9546336" y="2322576"/>
            <a:ext cx="329184" cy="329184"/>
          </a:xfrm>
          <a:prstGeom prst="ellipse">
            <a:avLst/>
          </a:prstGeom>
          <a:solidFill>
            <a:srgbClr val="147FB3"/>
          </a:solidFill>
          <a:ln cap="flat" cmpd="sng" w="9525">
            <a:solidFill>
              <a:srgbClr val="147FB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0" name="Google Shape;480;p53"/>
          <p:cNvSpPr txBox="1"/>
          <p:nvPr/>
        </p:nvSpPr>
        <p:spPr>
          <a:xfrm>
            <a:off x="10012680" y="2304288"/>
            <a:ext cx="1143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147FB3"/>
                </a:solidFill>
                <a:latin typeface="Arial"/>
                <a:ea typeface="Arial"/>
                <a:cs typeface="Arial"/>
                <a:sym typeface="Arial"/>
              </a:rPr>
              <a:t>DISCOVERY</a:t>
            </a:r>
            <a:endParaRPr/>
          </a:p>
        </p:txBody>
      </p:sp>
      <p:sp>
        <p:nvSpPr>
          <p:cNvPr id="481" name="Google Shape;481;p53"/>
          <p:cNvSpPr txBox="1"/>
          <p:nvPr/>
        </p:nvSpPr>
        <p:spPr>
          <a:xfrm>
            <a:off x="9582911" y="2907792"/>
            <a:ext cx="1645920" cy="6583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082B4C"/>
                </a:solidFill>
                <a:latin typeface="Arial"/>
                <a:ea typeface="Arial"/>
                <a:cs typeface="Arial"/>
                <a:sym typeface="Arial"/>
              </a:rPr>
              <a:t>Science</a:t>
            </a:r>
            <a:br>
              <a:rPr b="1" lang="en-US" sz="1800">
                <a:solidFill>
                  <a:srgbClr val="082B4C"/>
                </a:solidFill>
                <a:latin typeface="Arial"/>
                <a:ea typeface="Arial"/>
                <a:cs typeface="Arial"/>
                <a:sym typeface="Arial"/>
              </a:rPr>
            </a:br>
            <a:r>
              <a:rPr b="1" lang="en-US" sz="1800">
                <a:solidFill>
                  <a:srgbClr val="082B4C"/>
                </a:solidFill>
                <a:latin typeface="Arial"/>
                <a:ea typeface="Arial"/>
                <a:cs typeface="Arial"/>
                <a:sym typeface="Arial"/>
              </a:rPr>
              <a:t>outcomes</a:t>
            </a:r>
            <a:endParaRPr/>
          </a:p>
        </p:txBody>
      </p:sp>
      <p:sp>
        <p:nvSpPr>
          <p:cNvPr id="482" name="Google Shape;482;p53"/>
          <p:cNvSpPr txBox="1"/>
          <p:nvPr>
            <p:ph idx="1" type="body"/>
          </p:nvPr>
        </p:nvSpPr>
        <p:spPr>
          <a:xfrm>
            <a:off x="658368" y="4773168"/>
            <a:ext cx="7772400"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83" name="Google Shape;483;p53"/>
          <p:cNvSpPr txBox="1"/>
          <p:nvPr>
            <p:ph idx="2" type="body"/>
          </p:nvPr>
        </p:nvSpPr>
        <p:spPr>
          <a:xfrm>
            <a:off x="658368" y="5285232"/>
            <a:ext cx="9966960" cy="45720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84" name="Google Shape;484;p53"/>
          <p:cNvSpPr txBox="1"/>
          <p:nvPr/>
        </p:nvSpPr>
        <p:spPr>
          <a:xfrm>
            <a:off x="8366760" y="6537960"/>
            <a:ext cx="1920240" cy="164592"/>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750">
                <a:solidFill>
                  <a:srgbClr val="FFFFFF"/>
                </a:solidFill>
                <a:latin typeface="Arial"/>
                <a:ea typeface="Arial"/>
                <a:cs typeface="Arial"/>
                <a:sym typeface="Arial"/>
              </a:rPr>
              <a:t>NSF Award #2609465</a:t>
            </a:r>
            <a:endParaRPr/>
          </a:p>
        </p:txBody>
      </p:sp>
      <p:sp>
        <p:nvSpPr>
          <p:cNvPr id="485" name="Google Shape;485;p53"/>
          <p:cNvSpPr txBox="1"/>
          <p:nvPr/>
        </p:nvSpPr>
        <p:spPr>
          <a:xfrm>
            <a:off x="182880" y="6519672"/>
            <a:ext cx="420624"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05</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Metrics / Impact" showMasterSp="0">
  <p:cSld name="NSDF — Metrics / Impact">
    <p:spTree>
      <p:nvGrpSpPr>
        <p:cNvPr id="486" name="Shape 486"/>
        <p:cNvGrpSpPr/>
        <p:nvPr/>
      </p:nvGrpSpPr>
      <p:grpSpPr>
        <a:xfrm>
          <a:off x="0" y="0"/>
          <a:ext cx="0" cy="0"/>
          <a:chOff x="0" y="0"/>
          <a:chExt cx="0" cy="0"/>
        </a:xfrm>
      </p:grpSpPr>
      <p:pic>
        <p:nvPicPr>
          <p:cNvPr descr="00_logo_nsdf(1).png" id="487" name="Google Shape;487;p54"/>
          <p:cNvPicPr preferRelativeResize="0"/>
          <p:nvPr/>
        </p:nvPicPr>
        <p:blipFill rotWithShape="1">
          <a:blip r:embed="rId2">
            <a:alphaModFix/>
          </a:blip>
          <a:srcRect b="0" l="0" r="0" t="0"/>
          <a:stretch/>
        </p:blipFill>
        <p:spPr>
          <a:xfrm>
            <a:off x="320040" y="182880"/>
            <a:ext cx="1298448" cy="678734"/>
          </a:xfrm>
          <a:prstGeom prst="rect">
            <a:avLst/>
          </a:prstGeom>
          <a:noFill/>
          <a:ln>
            <a:noFill/>
          </a:ln>
        </p:spPr>
      </p:pic>
      <p:sp>
        <p:nvSpPr>
          <p:cNvPr id="488" name="Google Shape;488;p54"/>
          <p:cNvSpPr txBox="1"/>
          <p:nvPr/>
        </p:nvSpPr>
        <p:spPr>
          <a:xfrm>
            <a:off x="1901952" y="237744"/>
            <a:ext cx="80467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147FB3"/>
                </a:solidFill>
                <a:latin typeface="Arial"/>
                <a:ea typeface="Arial"/>
                <a:cs typeface="Arial"/>
                <a:sym typeface="Arial"/>
              </a:rPr>
              <a:t>NSDF</a:t>
            </a:r>
            <a:endParaRPr/>
          </a:p>
        </p:txBody>
      </p:sp>
      <p:sp>
        <p:nvSpPr>
          <p:cNvPr id="489" name="Google Shape;489;p54"/>
          <p:cNvSpPr txBox="1"/>
          <p:nvPr>
            <p:ph type="title"/>
          </p:nvPr>
        </p:nvSpPr>
        <p:spPr>
          <a:xfrm>
            <a:off x="1874519" y="512064"/>
            <a:ext cx="9646920" cy="50292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0" name="Google Shape;490;p54"/>
          <p:cNvSpPr/>
          <p:nvPr/>
        </p:nvSpPr>
        <p:spPr>
          <a:xfrm>
            <a:off x="1874519" y="1078992"/>
            <a:ext cx="2011680" cy="41148"/>
          </a:xfrm>
          <a:prstGeom prst="rect">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1" name="Google Shape;491;p54"/>
          <p:cNvSpPr/>
          <p:nvPr/>
        </p:nvSpPr>
        <p:spPr>
          <a:xfrm>
            <a:off x="3886200" y="1078992"/>
            <a:ext cx="6126480" cy="41148"/>
          </a:xfrm>
          <a:prstGeom prst="rect">
            <a:avLst/>
          </a:prstGeom>
          <a:solidFill>
            <a:srgbClr val="D9EAF2"/>
          </a:solidFill>
          <a:ln cap="flat" cmpd="sng" w="9525">
            <a:solidFill>
              <a:srgbClr val="D9EA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2" name="Google Shape;492;p54"/>
          <p:cNvSpPr/>
          <p:nvPr/>
        </p:nvSpPr>
        <p:spPr>
          <a:xfrm>
            <a:off x="0" y="6510528"/>
            <a:ext cx="12191695" cy="347472"/>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493" name="Google Shape;493;p54"/>
          <p:cNvPicPr preferRelativeResize="0"/>
          <p:nvPr/>
        </p:nvPicPr>
        <p:blipFill rotWithShape="1">
          <a:blip r:embed="rId2">
            <a:alphaModFix/>
          </a:blip>
          <a:srcRect b="0" l="0" r="0" t="0"/>
          <a:stretch/>
        </p:blipFill>
        <p:spPr>
          <a:xfrm>
            <a:off x="292608" y="6099048"/>
            <a:ext cx="1078992" cy="564019"/>
          </a:xfrm>
          <a:prstGeom prst="rect">
            <a:avLst/>
          </a:prstGeom>
          <a:noFill/>
          <a:ln>
            <a:noFill/>
          </a:ln>
        </p:spPr>
      </p:pic>
      <p:sp>
        <p:nvSpPr>
          <p:cNvPr id="494" name="Google Shape;494;p54"/>
          <p:cNvSpPr txBox="1"/>
          <p:nvPr/>
        </p:nvSpPr>
        <p:spPr>
          <a:xfrm>
            <a:off x="8229600" y="6537960"/>
            <a:ext cx="2743200" cy="18288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800">
                <a:solidFill>
                  <a:srgbClr val="FFFFFF"/>
                </a:solidFill>
                <a:latin typeface="Arial"/>
                <a:ea typeface="Arial"/>
                <a:cs typeface="Arial"/>
                <a:sym typeface="Arial"/>
              </a:rPr>
              <a:t>NSDF</a:t>
            </a:r>
            <a:endParaRPr/>
          </a:p>
        </p:txBody>
      </p:sp>
      <p:pic>
        <p:nvPicPr>
          <p:cNvPr descr="00_logo_nsf.png" id="495" name="Google Shape;495;p54"/>
          <p:cNvPicPr preferRelativeResize="0"/>
          <p:nvPr/>
        </p:nvPicPr>
        <p:blipFill rotWithShape="1">
          <a:blip r:embed="rId3">
            <a:alphaModFix/>
          </a:blip>
          <a:srcRect b="0" l="0" r="0" t="0"/>
          <a:stretch/>
        </p:blipFill>
        <p:spPr>
          <a:xfrm>
            <a:off x="11448288" y="6053328"/>
            <a:ext cx="530352" cy="533124"/>
          </a:xfrm>
          <a:prstGeom prst="rect">
            <a:avLst/>
          </a:prstGeom>
          <a:noFill/>
          <a:ln>
            <a:noFill/>
          </a:ln>
        </p:spPr>
      </p:pic>
      <p:sp>
        <p:nvSpPr>
          <p:cNvPr id="496" name="Google Shape;496;p54"/>
          <p:cNvSpPr/>
          <p:nvPr/>
        </p:nvSpPr>
        <p:spPr>
          <a:xfrm>
            <a:off x="658368" y="1627632"/>
            <a:ext cx="2450592" cy="1417320"/>
          </a:xfrm>
          <a:prstGeom prst="roundRect">
            <a:avLst>
              <a:gd fmla="val 12000" name="adj"/>
            </a:avLst>
          </a:prstGeom>
          <a:solidFill>
            <a:srgbClr val="EAF5FA"/>
          </a:solidFill>
          <a:ln cap="flat" cmpd="sng" w="9525">
            <a:solidFill>
              <a:srgbClr val="C9E5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7" name="Google Shape;497;p54"/>
          <p:cNvSpPr txBox="1"/>
          <p:nvPr>
            <p:ph idx="1" type="body"/>
          </p:nvPr>
        </p:nvSpPr>
        <p:spPr>
          <a:xfrm>
            <a:off x="841247" y="1874519"/>
            <a:ext cx="2084831" cy="45720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8" name="Google Shape;498;p54"/>
          <p:cNvSpPr txBox="1"/>
          <p:nvPr>
            <p:ph idx="2" type="body"/>
          </p:nvPr>
        </p:nvSpPr>
        <p:spPr>
          <a:xfrm>
            <a:off x="841247" y="2450592"/>
            <a:ext cx="2084831" cy="256032"/>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9" name="Google Shape;499;p54"/>
          <p:cNvSpPr/>
          <p:nvPr/>
        </p:nvSpPr>
        <p:spPr>
          <a:xfrm>
            <a:off x="3511296" y="1627632"/>
            <a:ext cx="2450592" cy="1417320"/>
          </a:xfrm>
          <a:prstGeom prst="roundRect">
            <a:avLst>
              <a:gd fmla="val 12000" name="adj"/>
            </a:avLst>
          </a:prstGeom>
          <a:solidFill>
            <a:srgbClr val="EAF5FA"/>
          </a:solidFill>
          <a:ln cap="flat" cmpd="sng" w="9525">
            <a:solidFill>
              <a:srgbClr val="C9E5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0" name="Google Shape;500;p54"/>
          <p:cNvSpPr txBox="1"/>
          <p:nvPr>
            <p:ph idx="3" type="body"/>
          </p:nvPr>
        </p:nvSpPr>
        <p:spPr>
          <a:xfrm>
            <a:off x="3694176" y="1874519"/>
            <a:ext cx="2084831" cy="45720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1" name="Google Shape;501;p54"/>
          <p:cNvSpPr txBox="1"/>
          <p:nvPr>
            <p:ph idx="4" type="body"/>
          </p:nvPr>
        </p:nvSpPr>
        <p:spPr>
          <a:xfrm>
            <a:off x="3694176" y="2450592"/>
            <a:ext cx="2084831" cy="256032"/>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2" name="Google Shape;502;p54"/>
          <p:cNvSpPr/>
          <p:nvPr/>
        </p:nvSpPr>
        <p:spPr>
          <a:xfrm>
            <a:off x="6364224" y="1627632"/>
            <a:ext cx="2450592" cy="1417320"/>
          </a:xfrm>
          <a:prstGeom prst="roundRect">
            <a:avLst>
              <a:gd fmla="val 12000" name="adj"/>
            </a:avLst>
          </a:prstGeom>
          <a:solidFill>
            <a:srgbClr val="EAF5FA"/>
          </a:solidFill>
          <a:ln cap="flat" cmpd="sng" w="9525">
            <a:solidFill>
              <a:srgbClr val="C9E5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54"/>
          <p:cNvSpPr txBox="1"/>
          <p:nvPr>
            <p:ph idx="5" type="body"/>
          </p:nvPr>
        </p:nvSpPr>
        <p:spPr>
          <a:xfrm>
            <a:off x="6547104" y="1874519"/>
            <a:ext cx="2084831" cy="45720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4" name="Google Shape;504;p54"/>
          <p:cNvSpPr txBox="1"/>
          <p:nvPr>
            <p:ph idx="6" type="body"/>
          </p:nvPr>
        </p:nvSpPr>
        <p:spPr>
          <a:xfrm>
            <a:off x="6547104" y="2450592"/>
            <a:ext cx="2084831" cy="256032"/>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5" name="Google Shape;505;p54"/>
          <p:cNvSpPr/>
          <p:nvPr/>
        </p:nvSpPr>
        <p:spPr>
          <a:xfrm>
            <a:off x="9217152" y="1627632"/>
            <a:ext cx="2450592" cy="1417320"/>
          </a:xfrm>
          <a:prstGeom prst="roundRect">
            <a:avLst>
              <a:gd fmla="val 12000" name="adj"/>
            </a:avLst>
          </a:prstGeom>
          <a:solidFill>
            <a:srgbClr val="EAF5FA"/>
          </a:solidFill>
          <a:ln cap="flat" cmpd="sng" w="9525">
            <a:solidFill>
              <a:srgbClr val="C9E5F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6" name="Google Shape;506;p54"/>
          <p:cNvSpPr txBox="1"/>
          <p:nvPr>
            <p:ph idx="7" type="body"/>
          </p:nvPr>
        </p:nvSpPr>
        <p:spPr>
          <a:xfrm>
            <a:off x="9400032" y="1874519"/>
            <a:ext cx="2084831" cy="45720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7" name="Google Shape;507;p54"/>
          <p:cNvSpPr txBox="1"/>
          <p:nvPr>
            <p:ph idx="8" type="body"/>
          </p:nvPr>
        </p:nvSpPr>
        <p:spPr>
          <a:xfrm>
            <a:off x="9400032" y="2450592"/>
            <a:ext cx="2084831" cy="256032"/>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8" name="Google Shape;508;p54"/>
          <p:cNvSpPr/>
          <p:nvPr/>
        </p:nvSpPr>
        <p:spPr>
          <a:xfrm>
            <a:off x="658368" y="3456432"/>
            <a:ext cx="6720840" cy="2148840"/>
          </a:xfrm>
          <a:prstGeom prst="roundRect">
            <a:avLst>
              <a:gd fmla="val 12000" name="adj"/>
            </a:avLst>
          </a:prstGeom>
          <a:solidFill>
            <a:srgbClr val="FFFFFF"/>
          </a:solidFill>
          <a:ln cap="flat" cmpd="sng" w="9525">
            <a:solidFill>
              <a:srgbClr val="D6E8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54"/>
          <p:cNvSpPr txBox="1"/>
          <p:nvPr>
            <p:ph idx="9" type="body"/>
          </p:nvPr>
        </p:nvSpPr>
        <p:spPr>
          <a:xfrm>
            <a:off x="960120" y="3767328"/>
            <a:ext cx="329184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0" name="Google Shape;510;p54"/>
          <p:cNvSpPr txBox="1"/>
          <p:nvPr>
            <p:ph idx="13" type="body"/>
          </p:nvPr>
        </p:nvSpPr>
        <p:spPr>
          <a:xfrm>
            <a:off x="960120" y="4315968"/>
            <a:ext cx="5806440" cy="82296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1" name="Google Shape;511;p54"/>
          <p:cNvSpPr/>
          <p:nvPr/>
        </p:nvSpPr>
        <p:spPr>
          <a:xfrm>
            <a:off x="7699248" y="3456432"/>
            <a:ext cx="3822191" cy="2148840"/>
          </a:xfrm>
          <a:prstGeom prst="roundRect">
            <a:avLst>
              <a:gd fmla="val 12000" name="adj"/>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12" name="Google Shape;512;p54"/>
          <p:cNvCxnSpPr/>
          <p:nvPr/>
        </p:nvCxnSpPr>
        <p:spPr>
          <a:xfrm>
            <a:off x="11161358" y="3883819"/>
            <a:ext cx="4293" cy="26528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13" name="Google Shape;513;p54"/>
          <p:cNvCxnSpPr/>
          <p:nvPr/>
        </p:nvCxnSpPr>
        <p:spPr>
          <a:xfrm flipH="1">
            <a:off x="10930323" y="3883819"/>
            <a:ext cx="231035" cy="13535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14" name="Google Shape;514;p54"/>
          <p:cNvCxnSpPr/>
          <p:nvPr/>
        </p:nvCxnSpPr>
        <p:spPr>
          <a:xfrm flipH="1" rot="10800000">
            <a:off x="8016460" y="5093099"/>
            <a:ext cx="790082" cy="6208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15" name="Google Shape;515;p54"/>
          <p:cNvCxnSpPr/>
          <p:nvPr/>
        </p:nvCxnSpPr>
        <p:spPr>
          <a:xfrm flipH="1" rot="10800000">
            <a:off x="8016460" y="4832967"/>
            <a:ext cx="971999" cy="32222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16" name="Google Shape;516;p54"/>
          <p:cNvCxnSpPr/>
          <p:nvPr/>
        </p:nvCxnSpPr>
        <p:spPr>
          <a:xfrm>
            <a:off x="8557004" y="3854524"/>
            <a:ext cx="425427" cy="10301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17" name="Google Shape;517;p54"/>
          <p:cNvCxnSpPr/>
          <p:nvPr/>
        </p:nvCxnSpPr>
        <p:spPr>
          <a:xfrm>
            <a:off x="8557004" y="3854524"/>
            <a:ext cx="431455" cy="97844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18" name="Google Shape;518;p54"/>
          <p:cNvCxnSpPr/>
          <p:nvPr/>
        </p:nvCxnSpPr>
        <p:spPr>
          <a:xfrm>
            <a:off x="10129019" y="4187901"/>
            <a:ext cx="158033" cy="39504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19" name="Google Shape;519;p54"/>
          <p:cNvCxnSpPr/>
          <p:nvPr/>
        </p:nvCxnSpPr>
        <p:spPr>
          <a:xfrm flipH="1" rot="10800000">
            <a:off x="10129019" y="3747644"/>
            <a:ext cx="190774" cy="4402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0" name="Google Shape;520;p54"/>
          <p:cNvCxnSpPr/>
          <p:nvPr/>
        </p:nvCxnSpPr>
        <p:spPr>
          <a:xfrm flipH="1" rot="10800000">
            <a:off x="10930323" y="3883819"/>
            <a:ext cx="231035" cy="13535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1" name="Google Shape;521;p54"/>
          <p:cNvCxnSpPr/>
          <p:nvPr/>
        </p:nvCxnSpPr>
        <p:spPr>
          <a:xfrm>
            <a:off x="10930323" y="4019173"/>
            <a:ext cx="235328" cy="1299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2" name="Google Shape;522;p54"/>
          <p:cNvCxnSpPr/>
          <p:nvPr/>
        </p:nvCxnSpPr>
        <p:spPr>
          <a:xfrm rot="10800000">
            <a:off x="11161358" y="3883819"/>
            <a:ext cx="4293" cy="26528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3" name="Google Shape;523;p54"/>
          <p:cNvCxnSpPr/>
          <p:nvPr/>
        </p:nvCxnSpPr>
        <p:spPr>
          <a:xfrm rot="10800000">
            <a:off x="10930323" y="4019173"/>
            <a:ext cx="235328" cy="1299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4" name="Google Shape;524;p54"/>
          <p:cNvCxnSpPr/>
          <p:nvPr/>
        </p:nvCxnSpPr>
        <p:spPr>
          <a:xfrm flipH="1" rot="10800000">
            <a:off x="9959830" y="5044411"/>
            <a:ext cx="283057" cy="1220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5" name="Google Shape;525;p54"/>
          <p:cNvCxnSpPr/>
          <p:nvPr/>
        </p:nvCxnSpPr>
        <p:spPr>
          <a:xfrm flipH="1" rot="10800000">
            <a:off x="9959830" y="4582941"/>
            <a:ext cx="327222" cy="47367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6" name="Google Shape;526;p54"/>
          <p:cNvCxnSpPr/>
          <p:nvPr/>
        </p:nvCxnSpPr>
        <p:spPr>
          <a:xfrm flipH="1">
            <a:off x="9959830" y="5044411"/>
            <a:ext cx="283057" cy="1220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7" name="Google Shape;527;p54"/>
          <p:cNvCxnSpPr/>
          <p:nvPr/>
        </p:nvCxnSpPr>
        <p:spPr>
          <a:xfrm flipH="1" rot="10800000">
            <a:off x="10242887" y="4582941"/>
            <a:ext cx="44165" cy="46147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8" name="Google Shape;528;p54"/>
          <p:cNvCxnSpPr/>
          <p:nvPr/>
        </p:nvCxnSpPr>
        <p:spPr>
          <a:xfrm flipH="1">
            <a:off x="10129019" y="3747644"/>
            <a:ext cx="190774" cy="4402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29" name="Google Shape;529;p54"/>
          <p:cNvCxnSpPr/>
          <p:nvPr/>
        </p:nvCxnSpPr>
        <p:spPr>
          <a:xfrm>
            <a:off x="10319793" y="3747644"/>
            <a:ext cx="610530" cy="271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0" name="Google Shape;530;p54"/>
          <p:cNvCxnSpPr/>
          <p:nvPr/>
        </p:nvCxnSpPr>
        <p:spPr>
          <a:xfrm rot="10800000">
            <a:off x="10796590" y="4539241"/>
            <a:ext cx="106196" cy="997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1" name="Google Shape;531;p54"/>
          <p:cNvCxnSpPr/>
          <p:nvPr/>
        </p:nvCxnSpPr>
        <p:spPr>
          <a:xfrm>
            <a:off x="10902786" y="4549213"/>
            <a:ext cx="246542" cy="9083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2" name="Google Shape;532;p54"/>
          <p:cNvCxnSpPr/>
          <p:nvPr/>
        </p:nvCxnSpPr>
        <p:spPr>
          <a:xfrm rot="10800000">
            <a:off x="8557004" y="3854524"/>
            <a:ext cx="425427" cy="10301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3" name="Google Shape;533;p54"/>
          <p:cNvCxnSpPr/>
          <p:nvPr/>
        </p:nvCxnSpPr>
        <p:spPr>
          <a:xfrm>
            <a:off x="8982431" y="3957537"/>
            <a:ext cx="6028" cy="87543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4" name="Google Shape;534;p54"/>
          <p:cNvCxnSpPr/>
          <p:nvPr/>
        </p:nvCxnSpPr>
        <p:spPr>
          <a:xfrm>
            <a:off x="10796590" y="4539241"/>
            <a:ext cx="106196" cy="997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5" name="Google Shape;535;p54"/>
          <p:cNvCxnSpPr/>
          <p:nvPr/>
        </p:nvCxnSpPr>
        <p:spPr>
          <a:xfrm>
            <a:off x="10796590" y="4539241"/>
            <a:ext cx="352738" cy="10080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6" name="Google Shape;536;p54"/>
          <p:cNvCxnSpPr/>
          <p:nvPr/>
        </p:nvCxnSpPr>
        <p:spPr>
          <a:xfrm flipH="1" rot="10800000">
            <a:off x="11093317" y="4640048"/>
            <a:ext cx="56011" cy="18231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7" name="Google Shape;537;p54"/>
          <p:cNvCxnSpPr/>
          <p:nvPr/>
        </p:nvCxnSpPr>
        <p:spPr>
          <a:xfrm flipH="1" rot="10800000">
            <a:off x="11093317" y="4514783"/>
            <a:ext cx="78078" cy="30758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8" name="Google Shape;538;p54"/>
          <p:cNvCxnSpPr/>
          <p:nvPr/>
        </p:nvCxnSpPr>
        <p:spPr>
          <a:xfrm flipH="1">
            <a:off x="11149328" y="4514783"/>
            <a:ext cx="22067" cy="1252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39" name="Google Shape;539;p54"/>
          <p:cNvCxnSpPr/>
          <p:nvPr/>
        </p:nvCxnSpPr>
        <p:spPr>
          <a:xfrm flipH="1">
            <a:off x="10902786" y="4514783"/>
            <a:ext cx="268609" cy="3443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0" name="Google Shape;540;p54"/>
          <p:cNvCxnSpPr/>
          <p:nvPr/>
        </p:nvCxnSpPr>
        <p:spPr>
          <a:xfrm rot="10800000">
            <a:off x="10129019" y="4187901"/>
            <a:ext cx="158033" cy="39504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1" name="Google Shape;541;p54"/>
          <p:cNvCxnSpPr/>
          <p:nvPr/>
        </p:nvCxnSpPr>
        <p:spPr>
          <a:xfrm flipH="1">
            <a:off x="10242887" y="4582941"/>
            <a:ext cx="44165" cy="46147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2" name="Google Shape;542;p54"/>
          <p:cNvCxnSpPr/>
          <p:nvPr/>
        </p:nvCxnSpPr>
        <p:spPr>
          <a:xfrm flipH="1" rot="10800000">
            <a:off x="8806542" y="4832967"/>
            <a:ext cx="181917" cy="2601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3" name="Google Shape;543;p54"/>
          <p:cNvCxnSpPr/>
          <p:nvPr/>
        </p:nvCxnSpPr>
        <p:spPr>
          <a:xfrm flipH="1">
            <a:off x="8016460" y="5093099"/>
            <a:ext cx="790082" cy="6208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4" name="Google Shape;544;p54"/>
          <p:cNvCxnSpPr/>
          <p:nvPr/>
        </p:nvCxnSpPr>
        <p:spPr>
          <a:xfrm flipH="1">
            <a:off x="8806542" y="4832967"/>
            <a:ext cx="181917" cy="2601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5" name="Google Shape;545;p54"/>
          <p:cNvCxnSpPr/>
          <p:nvPr/>
        </p:nvCxnSpPr>
        <p:spPr>
          <a:xfrm rot="10800000">
            <a:off x="8982431" y="3957537"/>
            <a:ext cx="6028" cy="87543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6" name="Google Shape;546;p54"/>
          <p:cNvCxnSpPr/>
          <p:nvPr/>
        </p:nvCxnSpPr>
        <p:spPr>
          <a:xfrm flipH="1" rot="10800000">
            <a:off x="11149328" y="4514783"/>
            <a:ext cx="22067" cy="1252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47" name="Google Shape;547;p54"/>
          <p:cNvCxnSpPr/>
          <p:nvPr/>
        </p:nvCxnSpPr>
        <p:spPr>
          <a:xfrm flipH="1">
            <a:off x="11093317" y="4640048"/>
            <a:ext cx="56011" cy="18231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548" name="Google Shape;548;p54"/>
          <p:cNvSpPr/>
          <p:nvPr/>
        </p:nvSpPr>
        <p:spPr>
          <a:xfrm>
            <a:off x="11092778" y="3815239"/>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54"/>
          <p:cNvSpPr/>
          <p:nvPr/>
        </p:nvSpPr>
        <p:spPr>
          <a:xfrm>
            <a:off x="7975312" y="511403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0" name="Google Shape;550;p54"/>
          <p:cNvSpPr/>
          <p:nvPr/>
        </p:nvSpPr>
        <p:spPr>
          <a:xfrm>
            <a:off x="8515856" y="381337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1" name="Google Shape;551;p54"/>
          <p:cNvSpPr/>
          <p:nvPr/>
        </p:nvSpPr>
        <p:spPr>
          <a:xfrm>
            <a:off x="10087871" y="414675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2" name="Google Shape;552;p54"/>
          <p:cNvSpPr/>
          <p:nvPr/>
        </p:nvSpPr>
        <p:spPr>
          <a:xfrm>
            <a:off x="10889175" y="397802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3" name="Google Shape;553;p54"/>
          <p:cNvSpPr/>
          <p:nvPr/>
        </p:nvSpPr>
        <p:spPr>
          <a:xfrm>
            <a:off x="11097071" y="4080520"/>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4" name="Google Shape;554;p54"/>
          <p:cNvSpPr/>
          <p:nvPr/>
        </p:nvSpPr>
        <p:spPr>
          <a:xfrm>
            <a:off x="9918682" y="501546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 name="Google Shape;555;p54"/>
          <p:cNvSpPr/>
          <p:nvPr/>
        </p:nvSpPr>
        <p:spPr>
          <a:xfrm>
            <a:off x="10201739" y="500326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 name="Google Shape;556;p54"/>
          <p:cNvSpPr/>
          <p:nvPr/>
        </p:nvSpPr>
        <p:spPr>
          <a:xfrm>
            <a:off x="10278645" y="370649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54"/>
          <p:cNvSpPr/>
          <p:nvPr/>
        </p:nvSpPr>
        <p:spPr>
          <a:xfrm>
            <a:off x="10861638" y="450806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8" name="Google Shape;558;p54"/>
          <p:cNvSpPr/>
          <p:nvPr/>
        </p:nvSpPr>
        <p:spPr>
          <a:xfrm>
            <a:off x="8913851" y="388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 name="Google Shape;559;p54"/>
          <p:cNvSpPr/>
          <p:nvPr/>
        </p:nvSpPr>
        <p:spPr>
          <a:xfrm>
            <a:off x="10755442" y="449809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0" name="Google Shape;560;p54"/>
          <p:cNvSpPr/>
          <p:nvPr/>
        </p:nvSpPr>
        <p:spPr>
          <a:xfrm>
            <a:off x="11052169" y="478121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1" name="Google Shape;561;p54"/>
          <p:cNvSpPr/>
          <p:nvPr/>
        </p:nvSpPr>
        <p:spPr>
          <a:xfrm>
            <a:off x="11130247" y="447363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2" name="Google Shape;562;p54"/>
          <p:cNvSpPr/>
          <p:nvPr/>
        </p:nvSpPr>
        <p:spPr>
          <a:xfrm>
            <a:off x="10245904" y="454179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3" name="Google Shape;563;p54"/>
          <p:cNvSpPr/>
          <p:nvPr/>
        </p:nvSpPr>
        <p:spPr>
          <a:xfrm>
            <a:off x="8737962" y="5024519"/>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4" name="Google Shape;564;p54"/>
          <p:cNvSpPr/>
          <p:nvPr/>
        </p:nvSpPr>
        <p:spPr>
          <a:xfrm>
            <a:off x="8947311" y="479181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5" name="Google Shape;565;p54"/>
          <p:cNvSpPr/>
          <p:nvPr/>
        </p:nvSpPr>
        <p:spPr>
          <a:xfrm>
            <a:off x="11108180" y="459890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6" name="Google Shape;566;p54"/>
          <p:cNvSpPr txBox="1"/>
          <p:nvPr/>
        </p:nvSpPr>
        <p:spPr>
          <a:xfrm>
            <a:off x="8092440" y="4251960"/>
            <a:ext cx="29718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900">
                <a:solidFill>
                  <a:srgbClr val="FFFFFF"/>
                </a:solidFill>
                <a:latin typeface="Arial"/>
                <a:ea typeface="Arial"/>
                <a:cs typeface="Arial"/>
                <a:sym typeface="Arial"/>
              </a:rPr>
              <a:t>FROM SCALE</a:t>
            </a:r>
            <a:br>
              <a:rPr b="1" lang="en-US" sz="1900">
                <a:solidFill>
                  <a:srgbClr val="FFFFFF"/>
                </a:solidFill>
                <a:latin typeface="Arial"/>
                <a:ea typeface="Arial"/>
                <a:cs typeface="Arial"/>
                <a:sym typeface="Arial"/>
              </a:rPr>
            </a:br>
            <a:r>
              <a:rPr b="1" lang="en-US" sz="1900">
                <a:solidFill>
                  <a:srgbClr val="FFFFFF"/>
                </a:solidFill>
                <a:latin typeface="Arial"/>
                <a:ea typeface="Arial"/>
                <a:cs typeface="Arial"/>
                <a:sym typeface="Arial"/>
              </a:rPr>
              <a:t>TO DISCOVERY</a:t>
            </a:r>
            <a:endParaRPr/>
          </a:p>
        </p:txBody>
      </p:sp>
      <p:sp>
        <p:nvSpPr>
          <p:cNvPr id="567" name="Google Shape;567;p54"/>
          <p:cNvSpPr txBox="1"/>
          <p:nvPr/>
        </p:nvSpPr>
        <p:spPr>
          <a:xfrm>
            <a:off x="8366760" y="6537960"/>
            <a:ext cx="1920240" cy="164592"/>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750">
                <a:solidFill>
                  <a:srgbClr val="FFFFFF"/>
                </a:solidFill>
                <a:latin typeface="Arial"/>
                <a:ea typeface="Arial"/>
                <a:cs typeface="Arial"/>
                <a:sym typeface="Arial"/>
              </a:rPr>
              <a:t>NSF Award #2609465</a:t>
            </a:r>
            <a:endParaRPr/>
          </a:p>
        </p:txBody>
      </p:sp>
      <p:sp>
        <p:nvSpPr>
          <p:cNvPr id="568" name="Google Shape;568;p54"/>
          <p:cNvSpPr txBox="1"/>
          <p:nvPr/>
        </p:nvSpPr>
        <p:spPr>
          <a:xfrm>
            <a:off x="182880" y="6519672"/>
            <a:ext cx="420624"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06</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Quote / Conclusion" showMasterSp="0">
  <p:cSld name="NSDF — Quote / Conclusion">
    <p:spTree>
      <p:nvGrpSpPr>
        <p:cNvPr id="569" name="Shape 569"/>
        <p:cNvGrpSpPr/>
        <p:nvPr/>
      </p:nvGrpSpPr>
      <p:grpSpPr>
        <a:xfrm>
          <a:off x="0" y="0"/>
          <a:ext cx="0" cy="0"/>
          <a:chOff x="0" y="0"/>
          <a:chExt cx="0" cy="0"/>
        </a:xfrm>
      </p:grpSpPr>
      <p:sp>
        <p:nvSpPr>
          <p:cNvPr id="570" name="Google Shape;570;p55"/>
          <p:cNvSpPr/>
          <p:nvPr/>
        </p:nvSpPr>
        <p:spPr>
          <a:xfrm>
            <a:off x="0" y="0"/>
            <a:ext cx="12191695"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71" name="Google Shape;571;p55"/>
          <p:cNvCxnSpPr/>
          <p:nvPr/>
        </p:nvCxnSpPr>
        <p:spPr>
          <a:xfrm flipH="1">
            <a:off x="8667262" y="2482169"/>
            <a:ext cx="231444" cy="1407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2" name="Google Shape;572;p55"/>
          <p:cNvCxnSpPr/>
          <p:nvPr/>
        </p:nvCxnSpPr>
        <p:spPr>
          <a:xfrm flipH="1">
            <a:off x="8444499" y="2482169"/>
            <a:ext cx="454207" cy="6712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3" name="Google Shape;573;p55"/>
          <p:cNvCxnSpPr/>
          <p:nvPr/>
        </p:nvCxnSpPr>
        <p:spPr>
          <a:xfrm>
            <a:off x="7148214" y="5278541"/>
            <a:ext cx="328789" cy="11246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4" name="Google Shape;574;p55"/>
          <p:cNvCxnSpPr/>
          <p:nvPr/>
        </p:nvCxnSpPr>
        <p:spPr>
          <a:xfrm flipH="1" rot="10800000">
            <a:off x="7148214" y="4955102"/>
            <a:ext cx="769564" cy="32343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5" name="Google Shape;575;p55"/>
          <p:cNvCxnSpPr/>
          <p:nvPr/>
        </p:nvCxnSpPr>
        <p:spPr>
          <a:xfrm>
            <a:off x="6435516" y="3216172"/>
            <a:ext cx="257546" cy="29638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6" name="Google Shape;576;p55"/>
          <p:cNvCxnSpPr/>
          <p:nvPr/>
        </p:nvCxnSpPr>
        <p:spPr>
          <a:xfrm flipH="1" rot="10800000">
            <a:off x="6435516" y="2773646"/>
            <a:ext cx="91974" cy="44252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7" name="Google Shape;577;p55"/>
          <p:cNvCxnSpPr/>
          <p:nvPr/>
        </p:nvCxnSpPr>
        <p:spPr>
          <a:xfrm rot="10800000">
            <a:off x="11144983" y="676376"/>
            <a:ext cx="102098" cy="14754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8" name="Google Shape;578;p55"/>
          <p:cNvCxnSpPr/>
          <p:nvPr/>
        </p:nvCxnSpPr>
        <p:spPr>
          <a:xfrm>
            <a:off x="11247081" y="823920"/>
            <a:ext cx="43768" cy="17706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79" name="Google Shape;579;p55"/>
          <p:cNvCxnSpPr/>
          <p:nvPr/>
        </p:nvCxnSpPr>
        <p:spPr>
          <a:xfrm>
            <a:off x="9391067" y="3861721"/>
            <a:ext cx="647209" cy="61827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0" name="Google Shape;580;p55"/>
          <p:cNvCxnSpPr/>
          <p:nvPr/>
        </p:nvCxnSpPr>
        <p:spPr>
          <a:xfrm>
            <a:off x="9391067" y="3861721"/>
            <a:ext cx="195070" cy="89324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1" name="Google Shape;581;p55"/>
          <p:cNvCxnSpPr/>
          <p:nvPr/>
        </p:nvCxnSpPr>
        <p:spPr>
          <a:xfrm flipH="1">
            <a:off x="6527490" y="2514528"/>
            <a:ext cx="93941" cy="2591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2" name="Google Shape;582;p55"/>
          <p:cNvCxnSpPr/>
          <p:nvPr/>
        </p:nvCxnSpPr>
        <p:spPr>
          <a:xfrm flipH="1" rot="10800000">
            <a:off x="6621431" y="2016530"/>
            <a:ext cx="327871" cy="49799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3" name="Google Shape;583;p55"/>
          <p:cNvCxnSpPr/>
          <p:nvPr/>
        </p:nvCxnSpPr>
        <p:spPr>
          <a:xfrm flipH="1">
            <a:off x="9391067" y="2928393"/>
            <a:ext cx="804981" cy="9333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4" name="Google Shape;584;p55"/>
          <p:cNvCxnSpPr/>
          <p:nvPr/>
        </p:nvCxnSpPr>
        <p:spPr>
          <a:xfrm rot="10800000">
            <a:off x="8898706" y="2482169"/>
            <a:ext cx="1297342" cy="44622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5" name="Google Shape;585;p55"/>
          <p:cNvCxnSpPr/>
          <p:nvPr/>
        </p:nvCxnSpPr>
        <p:spPr>
          <a:xfrm rot="10800000">
            <a:off x="9846655" y="895371"/>
            <a:ext cx="465843" cy="3613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6" name="Google Shape;586;p55"/>
          <p:cNvCxnSpPr/>
          <p:nvPr/>
        </p:nvCxnSpPr>
        <p:spPr>
          <a:xfrm rot="10800000">
            <a:off x="9672200" y="1212208"/>
            <a:ext cx="640298" cy="4451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7" name="Google Shape;587;p55"/>
          <p:cNvCxnSpPr/>
          <p:nvPr/>
        </p:nvCxnSpPr>
        <p:spPr>
          <a:xfrm>
            <a:off x="7684866" y="994752"/>
            <a:ext cx="154950" cy="56093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8" name="Google Shape;588;p55"/>
          <p:cNvCxnSpPr/>
          <p:nvPr/>
        </p:nvCxnSpPr>
        <p:spPr>
          <a:xfrm rot="10800000">
            <a:off x="7496263" y="412546"/>
            <a:ext cx="188603" cy="58220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89" name="Google Shape;589;p55"/>
          <p:cNvCxnSpPr/>
          <p:nvPr/>
        </p:nvCxnSpPr>
        <p:spPr>
          <a:xfrm rot="10800000">
            <a:off x="9080701" y="5586749"/>
            <a:ext cx="51400" cy="1646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0" name="Google Shape;590;p55"/>
          <p:cNvCxnSpPr/>
          <p:nvPr/>
        </p:nvCxnSpPr>
        <p:spPr>
          <a:xfrm flipH="1" rot="10800000">
            <a:off x="9132101" y="5441485"/>
            <a:ext cx="390763" cy="16172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1" name="Google Shape;591;p55"/>
          <p:cNvCxnSpPr/>
          <p:nvPr/>
        </p:nvCxnSpPr>
        <p:spPr>
          <a:xfrm flipH="1" rot="10800000">
            <a:off x="9586137" y="4479992"/>
            <a:ext cx="452139" cy="2749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2" name="Google Shape;592;p55"/>
          <p:cNvCxnSpPr/>
          <p:nvPr/>
        </p:nvCxnSpPr>
        <p:spPr>
          <a:xfrm flipH="1">
            <a:off x="9522864" y="4754970"/>
            <a:ext cx="63273" cy="6865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3" name="Google Shape;593;p55"/>
          <p:cNvCxnSpPr/>
          <p:nvPr/>
        </p:nvCxnSpPr>
        <p:spPr>
          <a:xfrm flipH="1">
            <a:off x="7917778" y="4595582"/>
            <a:ext cx="552878" cy="35952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4" name="Google Shape;594;p55"/>
          <p:cNvCxnSpPr/>
          <p:nvPr/>
        </p:nvCxnSpPr>
        <p:spPr>
          <a:xfrm>
            <a:off x="8470656" y="4595582"/>
            <a:ext cx="1115481" cy="15938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5" name="Google Shape;595;p55"/>
          <p:cNvCxnSpPr/>
          <p:nvPr/>
        </p:nvCxnSpPr>
        <p:spPr>
          <a:xfrm flipH="1">
            <a:off x="6621431" y="2016530"/>
            <a:ext cx="327871" cy="49799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6" name="Google Shape;596;p55"/>
          <p:cNvCxnSpPr/>
          <p:nvPr/>
        </p:nvCxnSpPr>
        <p:spPr>
          <a:xfrm flipH="1">
            <a:off x="6527490" y="2016530"/>
            <a:ext cx="421812" cy="75711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7" name="Google Shape;597;p55"/>
          <p:cNvCxnSpPr/>
          <p:nvPr/>
        </p:nvCxnSpPr>
        <p:spPr>
          <a:xfrm flipH="1">
            <a:off x="9586137" y="4479992"/>
            <a:ext cx="452139" cy="2749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8" name="Google Shape;598;p55"/>
          <p:cNvCxnSpPr/>
          <p:nvPr/>
        </p:nvCxnSpPr>
        <p:spPr>
          <a:xfrm rot="10800000">
            <a:off x="9391067" y="3861721"/>
            <a:ext cx="647209" cy="61827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599" name="Google Shape;599;p55"/>
          <p:cNvCxnSpPr/>
          <p:nvPr/>
        </p:nvCxnSpPr>
        <p:spPr>
          <a:xfrm>
            <a:off x="8676153" y="863026"/>
            <a:ext cx="944605" cy="190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0" name="Google Shape;600;p55"/>
          <p:cNvCxnSpPr/>
          <p:nvPr/>
        </p:nvCxnSpPr>
        <p:spPr>
          <a:xfrm>
            <a:off x="8676153" y="863026"/>
            <a:ext cx="852645" cy="48099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1" name="Google Shape;601;p55"/>
          <p:cNvCxnSpPr/>
          <p:nvPr/>
        </p:nvCxnSpPr>
        <p:spPr>
          <a:xfrm rot="10800000">
            <a:off x="7684866" y="994752"/>
            <a:ext cx="154950" cy="56093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2" name="Google Shape;602;p55"/>
          <p:cNvCxnSpPr/>
          <p:nvPr/>
        </p:nvCxnSpPr>
        <p:spPr>
          <a:xfrm flipH="1">
            <a:off x="6949302" y="1555685"/>
            <a:ext cx="890514" cy="46084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3" name="Google Shape;603;p55"/>
          <p:cNvCxnSpPr/>
          <p:nvPr/>
        </p:nvCxnSpPr>
        <p:spPr>
          <a:xfrm flipH="1">
            <a:off x="7477003" y="4955102"/>
            <a:ext cx="440775" cy="43590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4" name="Google Shape;604;p55"/>
          <p:cNvCxnSpPr/>
          <p:nvPr/>
        </p:nvCxnSpPr>
        <p:spPr>
          <a:xfrm flipH="1" rot="10800000">
            <a:off x="7917778" y="4595582"/>
            <a:ext cx="552878" cy="35952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5" name="Google Shape;605;p55"/>
          <p:cNvCxnSpPr/>
          <p:nvPr/>
        </p:nvCxnSpPr>
        <p:spPr>
          <a:xfrm rot="10800000">
            <a:off x="7148214" y="5278541"/>
            <a:ext cx="328789" cy="11246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6" name="Google Shape;606;p55"/>
          <p:cNvCxnSpPr/>
          <p:nvPr/>
        </p:nvCxnSpPr>
        <p:spPr>
          <a:xfrm flipH="1" rot="10800000">
            <a:off x="7477003" y="4955102"/>
            <a:ext cx="440775" cy="43590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7" name="Google Shape;607;p55"/>
          <p:cNvCxnSpPr/>
          <p:nvPr/>
        </p:nvCxnSpPr>
        <p:spPr>
          <a:xfrm>
            <a:off x="11144983" y="676376"/>
            <a:ext cx="102098" cy="14754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8" name="Google Shape;608;p55"/>
          <p:cNvCxnSpPr/>
          <p:nvPr/>
        </p:nvCxnSpPr>
        <p:spPr>
          <a:xfrm>
            <a:off x="11144983" y="676376"/>
            <a:ext cx="145866" cy="32460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09" name="Google Shape;609;p55"/>
          <p:cNvCxnSpPr/>
          <p:nvPr/>
        </p:nvCxnSpPr>
        <p:spPr>
          <a:xfrm flipH="1" rot="10800000">
            <a:off x="8444499" y="2622897"/>
            <a:ext cx="222763" cy="53051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0" name="Google Shape;610;p55"/>
          <p:cNvCxnSpPr/>
          <p:nvPr/>
        </p:nvCxnSpPr>
        <p:spPr>
          <a:xfrm flipH="1" rot="10800000">
            <a:off x="8444499" y="2482169"/>
            <a:ext cx="454207" cy="6712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1" name="Google Shape;611;p55"/>
          <p:cNvCxnSpPr/>
          <p:nvPr/>
        </p:nvCxnSpPr>
        <p:spPr>
          <a:xfrm flipH="1" rot="10800000">
            <a:off x="6527490" y="2514528"/>
            <a:ext cx="93941" cy="2591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2" name="Google Shape;612;p55"/>
          <p:cNvCxnSpPr/>
          <p:nvPr/>
        </p:nvCxnSpPr>
        <p:spPr>
          <a:xfrm flipH="1">
            <a:off x="6435516" y="2773646"/>
            <a:ext cx="91974" cy="44252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3" name="Google Shape;613;p55"/>
          <p:cNvCxnSpPr/>
          <p:nvPr/>
        </p:nvCxnSpPr>
        <p:spPr>
          <a:xfrm rot="10800000">
            <a:off x="11247081" y="823920"/>
            <a:ext cx="43768" cy="17706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4" name="Google Shape;614;p55"/>
          <p:cNvCxnSpPr/>
          <p:nvPr/>
        </p:nvCxnSpPr>
        <p:spPr>
          <a:xfrm rot="10800000">
            <a:off x="11144983" y="676376"/>
            <a:ext cx="145866" cy="32460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5" name="Google Shape;615;p55"/>
          <p:cNvCxnSpPr/>
          <p:nvPr/>
        </p:nvCxnSpPr>
        <p:spPr>
          <a:xfrm>
            <a:off x="9620758" y="1053060"/>
            <a:ext cx="51442" cy="1591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6" name="Google Shape;616;p55"/>
          <p:cNvCxnSpPr/>
          <p:nvPr/>
        </p:nvCxnSpPr>
        <p:spPr>
          <a:xfrm flipH="1" rot="10800000">
            <a:off x="9620758" y="895371"/>
            <a:ext cx="225897" cy="15768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7" name="Google Shape;617;p55"/>
          <p:cNvCxnSpPr/>
          <p:nvPr/>
        </p:nvCxnSpPr>
        <p:spPr>
          <a:xfrm>
            <a:off x="9522864" y="5441485"/>
            <a:ext cx="162864" cy="35729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8" name="Google Shape;618;p55"/>
          <p:cNvCxnSpPr/>
          <p:nvPr/>
        </p:nvCxnSpPr>
        <p:spPr>
          <a:xfrm flipH="1">
            <a:off x="9132101" y="5441485"/>
            <a:ext cx="390763" cy="16172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19" name="Google Shape;619;p55"/>
          <p:cNvCxnSpPr/>
          <p:nvPr/>
        </p:nvCxnSpPr>
        <p:spPr>
          <a:xfrm>
            <a:off x="7496263" y="412546"/>
            <a:ext cx="188603" cy="58220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0" name="Google Shape;620;p55"/>
          <p:cNvCxnSpPr/>
          <p:nvPr/>
        </p:nvCxnSpPr>
        <p:spPr>
          <a:xfrm flipH="1">
            <a:off x="6495022" y="412546"/>
            <a:ext cx="1001241" cy="4341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1" name="Google Shape;621;p55"/>
          <p:cNvCxnSpPr/>
          <p:nvPr/>
        </p:nvCxnSpPr>
        <p:spPr>
          <a:xfrm flipH="1">
            <a:off x="6693062" y="3425864"/>
            <a:ext cx="158236" cy="8669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2" name="Google Shape;622;p55"/>
          <p:cNvCxnSpPr/>
          <p:nvPr/>
        </p:nvCxnSpPr>
        <p:spPr>
          <a:xfrm rot="10800000">
            <a:off x="6435516" y="3216172"/>
            <a:ext cx="415782" cy="20969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3" name="Google Shape;623;p55"/>
          <p:cNvCxnSpPr/>
          <p:nvPr/>
        </p:nvCxnSpPr>
        <p:spPr>
          <a:xfrm flipH="1" rot="10800000">
            <a:off x="6495022" y="412546"/>
            <a:ext cx="1001241" cy="4341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4" name="Google Shape;624;p55"/>
          <p:cNvCxnSpPr/>
          <p:nvPr/>
        </p:nvCxnSpPr>
        <p:spPr>
          <a:xfrm>
            <a:off x="6495022" y="846722"/>
            <a:ext cx="1189844" cy="14803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5" name="Google Shape;625;p55"/>
          <p:cNvCxnSpPr/>
          <p:nvPr/>
        </p:nvCxnSpPr>
        <p:spPr>
          <a:xfrm>
            <a:off x="9080701" y="5586749"/>
            <a:ext cx="51400" cy="1646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6" name="Google Shape;626;p55"/>
          <p:cNvCxnSpPr/>
          <p:nvPr/>
        </p:nvCxnSpPr>
        <p:spPr>
          <a:xfrm flipH="1" rot="10800000">
            <a:off x="9080701" y="5441485"/>
            <a:ext cx="442163" cy="145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7" name="Google Shape;627;p55"/>
          <p:cNvCxnSpPr/>
          <p:nvPr/>
        </p:nvCxnSpPr>
        <p:spPr>
          <a:xfrm flipH="1" rot="10800000">
            <a:off x="8667262" y="2482169"/>
            <a:ext cx="231444" cy="1407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8" name="Google Shape;628;p55"/>
          <p:cNvCxnSpPr/>
          <p:nvPr/>
        </p:nvCxnSpPr>
        <p:spPr>
          <a:xfrm flipH="1">
            <a:off x="8444499" y="2622897"/>
            <a:ext cx="222763" cy="53051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29" name="Google Shape;629;p55"/>
          <p:cNvCxnSpPr/>
          <p:nvPr/>
        </p:nvCxnSpPr>
        <p:spPr>
          <a:xfrm flipH="1">
            <a:off x="9620758" y="895371"/>
            <a:ext cx="225897" cy="15768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0" name="Google Shape;630;p55"/>
          <p:cNvCxnSpPr/>
          <p:nvPr/>
        </p:nvCxnSpPr>
        <p:spPr>
          <a:xfrm flipH="1">
            <a:off x="9672200" y="895371"/>
            <a:ext cx="174455" cy="31683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1" name="Google Shape;631;p55"/>
          <p:cNvCxnSpPr/>
          <p:nvPr/>
        </p:nvCxnSpPr>
        <p:spPr>
          <a:xfrm flipH="1" rot="10800000">
            <a:off x="9528798" y="1212208"/>
            <a:ext cx="143402" cy="1318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2" name="Google Shape;632;p55"/>
          <p:cNvCxnSpPr/>
          <p:nvPr/>
        </p:nvCxnSpPr>
        <p:spPr>
          <a:xfrm flipH="1" rot="10800000">
            <a:off x="9528798" y="1053060"/>
            <a:ext cx="91960" cy="29096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3" name="Google Shape;633;p55"/>
          <p:cNvCxnSpPr/>
          <p:nvPr/>
        </p:nvCxnSpPr>
        <p:spPr>
          <a:xfrm rot="10800000">
            <a:off x="9522864" y="5441485"/>
            <a:ext cx="162864" cy="35729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4" name="Google Shape;634;p55"/>
          <p:cNvCxnSpPr/>
          <p:nvPr/>
        </p:nvCxnSpPr>
        <p:spPr>
          <a:xfrm rot="10800000">
            <a:off x="9132101" y="5603209"/>
            <a:ext cx="553627" cy="19556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5" name="Google Shape;635;p55"/>
          <p:cNvCxnSpPr/>
          <p:nvPr/>
        </p:nvCxnSpPr>
        <p:spPr>
          <a:xfrm flipH="1" rot="10800000">
            <a:off x="6693062" y="3425864"/>
            <a:ext cx="158236" cy="8669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6" name="Google Shape;636;p55"/>
          <p:cNvCxnSpPr/>
          <p:nvPr/>
        </p:nvCxnSpPr>
        <p:spPr>
          <a:xfrm rot="10800000">
            <a:off x="6435516" y="3216172"/>
            <a:ext cx="257546" cy="29638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7" name="Google Shape;637;p55"/>
          <p:cNvCxnSpPr/>
          <p:nvPr/>
        </p:nvCxnSpPr>
        <p:spPr>
          <a:xfrm rot="10800000">
            <a:off x="9620758" y="1053060"/>
            <a:ext cx="51442" cy="15914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638" name="Google Shape;638;p55"/>
          <p:cNvCxnSpPr/>
          <p:nvPr/>
        </p:nvCxnSpPr>
        <p:spPr>
          <a:xfrm flipH="1">
            <a:off x="9528798" y="1212208"/>
            <a:ext cx="143402" cy="1318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639" name="Google Shape;639;p55"/>
          <p:cNvSpPr/>
          <p:nvPr/>
        </p:nvSpPr>
        <p:spPr>
          <a:xfrm>
            <a:off x="8830126" y="2413589"/>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0" name="Google Shape;640;p55"/>
          <p:cNvSpPr/>
          <p:nvPr/>
        </p:nvSpPr>
        <p:spPr>
          <a:xfrm>
            <a:off x="7107066" y="523739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1" name="Google Shape;641;p55"/>
          <p:cNvSpPr/>
          <p:nvPr/>
        </p:nvSpPr>
        <p:spPr>
          <a:xfrm>
            <a:off x="6394368" y="317502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2" name="Google Shape;642;p55"/>
          <p:cNvSpPr/>
          <p:nvPr/>
        </p:nvSpPr>
        <p:spPr>
          <a:xfrm>
            <a:off x="11205933" y="78277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3" name="Google Shape;643;p55"/>
          <p:cNvSpPr/>
          <p:nvPr/>
        </p:nvSpPr>
        <p:spPr>
          <a:xfrm>
            <a:off x="9349919" y="3820573"/>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4" name="Google Shape;644;p55"/>
          <p:cNvSpPr/>
          <p:nvPr/>
        </p:nvSpPr>
        <p:spPr>
          <a:xfrm>
            <a:off x="6552851" y="2445948"/>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5" name="Google Shape;645;p55"/>
          <p:cNvSpPr/>
          <p:nvPr/>
        </p:nvSpPr>
        <p:spPr>
          <a:xfrm>
            <a:off x="10154900" y="288724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6" name="Google Shape;646;p55"/>
          <p:cNvSpPr/>
          <p:nvPr/>
        </p:nvSpPr>
        <p:spPr>
          <a:xfrm>
            <a:off x="10271350" y="121557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7" name="Google Shape;647;p55"/>
          <p:cNvSpPr/>
          <p:nvPr/>
        </p:nvSpPr>
        <p:spPr>
          <a:xfrm>
            <a:off x="7643718" y="953604"/>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8" name="Google Shape;648;p55"/>
          <p:cNvSpPr/>
          <p:nvPr/>
        </p:nvSpPr>
        <p:spPr>
          <a:xfrm>
            <a:off x="9090953" y="556206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9" name="Google Shape;649;p55"/>
          <p:cNvSpPr/>
          <p:nvPr/>
        </p:nvSpPr>
        <p:spPr>
          <a:xfrm>
            <a:off x="9517557" y="4686390"/>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0" name="Google Shape;650;p55"/>
          <p:cNvSpPr/>
          <p:nvPr/>
        </p:nvSpPr>
        <p:spPr>
          <a:xfrm>
            <a:off x="8429508" y="45544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 name="Google Shape;651;p55"/>
          <p:cNvSpPr/>
          <p:nvPr/>
        </p:nvSpPr>
        <p:spPr>
          <a:xfrm>
            <a:off x="6908154" y="1975382"/>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 name="Google Shape;652;p55"/>
          <p:cNvSpPr/>
          <p:nvPr/>
        </p:nvSpPr>
        <p:spPr>
          <a:xfrm>
            <a:off x="9997128" y="443884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 name="Google Shape;653;p55"/>
          <p:cNvSpPr/>
          <p:nvPr/>
        </p:nvSpPr>
        <p:spPr>
          <a:xfrm>
            <a:off x="8635005" y="82187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 name="Google Shape;654;p55"/>
          <p:cNvSpPr/>
          <p:nvPr/>
        </p:nvSpPr>
        <p:spPr>
          <a:xfrm>
            <a:off x="7771236" y="148710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 name="Google Shape;655;p55"/>
          <p:cNvSpPr/>
          <p:nvPr/>
        </p:nvSpPr>
        <p:spPr>
          <a:xfrm>
            <a:off x="7876630" y="4913954"/>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 name="Google Shape;656;p55"/>
          <p:cNvSpPr/>
          <p:nvPr/>
        </p:nvSpPr>
        <p:spPr>
          <a:xfrm>
            <a:off x="7435855" y="534986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7" name="Google Shape;657;p55"/>
          <p:cNvSpPr/>
          <p:nvPr/>
        </p:nvSpPr>
        <p:spPr>
          <a:xfrm>
            <a:off x="11103835" y="63522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 name="Google Shape;658;p55"/>
          <p:cNvSpPr/>
          <p:nvPr/>
        </p:nvSpPr>
        <p:spPr>
          <a:xfrm>
            <a:off x="8403351" y="311226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9" name="Google Shape;659;p55"/>
          <p:cNvSpPr/>
          <p:nvPr/>
        </p:nvSpPr>
        <p:spPr>
          <a:xfrm>
            <a:off x="6458910" y="2705066"/>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0" name="Google Shape;660;p55"/>
          <p:cNvSpPr/>
          <p:nvPr/>
        </p:nvSpPr>
        <p:spPr>
          <a:xfrm>
            <a:off x="11249701" y="95983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1" name="Google Shape;661;p55"/>
          <p:cNvSpPr/>
          <p:nvPr/>
        </p:nvSpPr>
        <p:spPr>
          <a:xfrm>
            <a:off x="9579610" y="101191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 name="Google Shape;662;p55"/>
          <p:cNvSpPr/>
          <p:nvPr/>
        </p:nvSpPr>
        <p:spPr>
          <a:xfrm>
            <a:off x="9481716" y="540033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3" name="Google Shape;663;p55"/>
          <p:cNvSpPr/>
          <p:nvPr/>
        </p:nvSpPr>
        <p:spPr>
          <a:xfrm>
            <a:off x="7455115" y="371398"/>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4" name="Google Shape;664;p55"/>
          <p:cNvSpPr/>
          <p:nvPr/>
        </p:nvSpPr>
        <p:spPr>
          <a:xfrm>
            <a:off x="6782718" y="3357284"/>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5" name="Google Shape;665;p55"/>
          <p:cNvSpPr/>
          <p:nvPr/>
        </p:nvSpPr>
        <p:spPr>
          <a:xfrm>
            <a:off x="6453874" y="80557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 name="Google Shape;666;p55"/>
          <p:cNvSpPr/>
          <p:nvPr/>
        </p:nvSpPr>
        <p:spPr>
          <a:xfrm>
            <a:off x="9039553" y="554560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 name="Google Shape;667;p55"/>
          <p:cNvSpPr/>
          <p:nvPr/>
        </p:nvSpPr>
        <p:spPr>
          <a:xfrm>
            <a:off x="8626114" y="258174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 name="Google Shape;668;p55"/>
          <p:cNvSpPr/>
          <p:nvPr/>
        </p:nvSpPr>
        <p:spPr>
          <a:xfrm>
            <a:off x="9805507" y="854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9" name="Google Shape;669;p55"/>
          <p:cNvSpPr/>
          <p:nvPr/>
        </p:nvSpPr>
        <p:spPr>
          <a:xfrm>
            <a:off x="9460218" y="1275443"/>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0" name="Google Shape;670;p55"/>
          <p:cNvSpPr/>
          <p:nvPr/>
        </p:nvSpPr>
        <p:spPr>
          <a:xfrm>
            <a:off x="9644580" y="575762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1" name="Google Shape;671;p55"/>
          <p:cNvSpPr/>
          <p:nvPr/>
        </p:nvSpPr>
        <p:spPr>
          <a:xfrm>
            <a:off x="6651914" y="34714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2" name="Google Shape;672;p55"/>
          <p:cNvSpPr/>
          <p:nvPr/>
        </p:nvSpPr>
        <p:spPr>
          <a:xfrm>
            <a:off x="9631052" y="117106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673" name="Google Shape;673;p55"/>
          <p:cNvPicPr preferRelativeResize="0"/>
          <p:nvPr/>
        </p:nvPicPr>
        <p:blipFill rotWithShape="1">
          <a:blip r:embed="rId2">
            <a:alphaModFix/>
          </a:blip>
          <a:srcRect b="0" l="0" r="0" t="0"/>
          <a:stretch/>
        </p:blipFill>
        <p:spPr>
          <a:xfrm>
            <a:off x="530352" y="438912"/>
            <a:ext cx="1508760" cy="788670"/>
          </a:xfrm>
          <a:prstGeom prst="rect">
            <a:avLst/>
          </a:prstGeom>
          <a:noFill/>
          <a:ln>
            <a:noFill/>
          </a:ln>
        </p:spPr>
      </p:pic>
      <p:pic>
        <p:nvPicPr>
          <p:cNvPr descr="00_logo_nsf.png" id="674" name="Google Shape;674;p55"/>
          <p:cNvPicPr preferRelativeResize="0"/>
          <p:nvPr/>
        </p:nvPicPr>
        <p:blipFill rotWithShape="1">
          <a:blip r:embed="rId3">
            <a:alphaModFix/>
          </a:blip>
          <a:srcRect b="0" l="0" r="0" t="0"/>
          <a:stretch/>
        </p:blipFill>
        <p:spPr>
          <a:xfrm>
            <a:off x="11201400" y="420624"/>
            <a:ext cx="621792" cy="625042"/>
          </a:xfrm>
          <a:prstGeom prst="rect">
            <a:avLst/>
          </a:prstGeom>
          <a:noFill/>
          <a:ln>
            <a:noFill/>
          </a:ln>
        </p:spPr>
      </p:pic>
      <p:sp>
        <p:nvSpPr>
          <p:cNvPr id="675" name="Google Shape;675;p55"/>
          <p:cNvSpPr txBox="1"/>
          <p:nvPr/>
        </p:nvSpPr>
        <p:spPr>
          <a:xfrm>
            <a:off x="566928" y="1417320"/>
            <a:ext cx="9144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D4AF37"/>
                </a:solidFill>
                <a:latin typeface="Arial"/>
                <a:ea typeface="Arial"/>
                <a:cs typeface="Arial"/>
                <a:sym typeface="Arial"/>
              </a:rPr>
              <a:t>“</a:t>
            </a:r>
            <a:endParaRPr/>
          </a:p>
        </p:txBody>
      </p:sp>
      <p:sp>
        <p:nvSpPr>
          <p:cNvPr id="676" name="Google Shape;676;p55"/>
          <p:cNvSpPr txBox="1"/>
          <p:nvPr>
            <p:ph type="title"/>
          </p:nvPr>
        </p:nvSpPr>
        <p:spPr>
          <a:xfrm>
            <a:off x="1024128" y="1572768"/>
            <a:ext cx="8138160" cy="150876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7" name="Google Shape;677;p55"/>
          <p:cNvSpPr/>
          <p:nvPr/>
        </p:nvSpPr>
        <p:spPr>
          <a:xfrm>
            <a:off x="1024128" y="3364992"/>
            <a:ext cx="1828800" cy="50292"/>
          </a:xfrm>
          <a:prstGeom prst="rect">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 name="Google Shape;678;p55"/>
          <p:cNvSpPr txBox="1"/>
          <p:nvPr>
            <p:ph idx="1" type="body"/>
          </p:nvPr>
        </p:nvSpPr>
        <p:spPr>
          <a:xfrm>
            <a:off x="1024128" y="3703320"/>
            <a:ext cx="402336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9" name="Google Shape;679;p55"/>
          <p:cNvSpPr txBox="1"/>
          <p:nvPr>
            <p:ph idx="2" type="body"/>
          </p:nvPr>
        </p:nvSpPr>
        <p:spPr>
          <a:xfrm>
            <a:off x="1024128" y="4892040"/>
            <a:ext cx="6309360" cy="50292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0" name="Google Shape;680;p55"/>
          <p:cNvSpPr txBox="1"/>
          <p:nvPr/>
        </p:nvSpPr>
        <p:spPr>
          <a:xfrm>
            <a:off x="9281160" y="6327648"/>
            <a:ext cx="1783080"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800">
                <a:solidFill>
                  <a:srgbClr val="FFFFFF"/>
                </a:solidFill>
                <a:latin typeface="Arial"/>
                <a:ea typeface="Arial"/>
                <a:cs typeface="Arial"/>
                <a:sym typeface="Arial"/>
              </a:rPr>
              <a:t>NSF Award #2609465</a:t>
            </a:r>
            <a:endParaRPr/>
          </a:p>
        </p:txBody>
      </p:sp>
      <p:sp>
        <p:nvSpPr>
          <p:cNvPr id="681" name="Google Shape;681;p55"/>
          <p:cNvSpPr txBox="1"/>
          <p:nvPr/>
        </p:nvSpPr>
        <p:spPr>
          <a:xfrm>
            <a:off x="201168" y="6428232"/>
            <a:ext cx="384048"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07</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SDF — Thank You" showMasterSp="0">
  <p:cSld name="NSDF — Thank You">
    <p:spTree>
      <p:nvGrpSpPr>
        <p:cNvPr id="682" name="Shape 682"/>
        <p:cNvGrpSpPr/>
        <p:nvPr/>
      </p:nvGrpSpPr>
      <p:grpSpPr>
        <a:xfrm>
          <a:off x="0" y="0"/>
          <a:ext cx="0" cy="0"/>
          <a:chOff x="0" y="0"/>
          <a:chExt cx="0" cy="0"/>
        </a:xfrm>
      </p:grpSpPr>
      <p:sp>
        <p:nvSpPr>
          <p:cNvPr id="683" name="Google Shape;683;p56"/>
          <p:cNvSpPr/>
          <p:nvPr/>
        </p:nvSpPr>
        <p:spPr>
          <a:xfrm>
            <a:off x="0"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 name="Google Shape;684;p56"/>
          <p:cNvSpPr/>
          <p:nvPr/>
        </p:nvSpPr>
        <p:spPr>
          <a:xfrm>
            <a:off x="7863840" y="594359"/>
            <a:ext cx="4297680" cy="4297680"/>
          </a:xfrm>
          <a:prstGeom prst="ellipse">
            <a:avLst/>
          </a:prstGeom>
          <a:solidFill>
            <a:srgbClr val="EAF5FA"/>
          </a:solidFill>
          <a:ln cap="flat" cmpd="sng" w="9525">
            <a:solidFill>
              <a:srgbClr val="B9DD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85" name="Google Shape;685;p56"/>
          <p:cNvCxnSpPr/>
          <p:nvPr/>
        </p:nvCxnSpPr>
        <p:spPr>
          <a:xfrm>
            <a:off x="10037574" y="4226462"/>
            <a:ext cx="76448" cy="33254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86" name="Google Shape;686;p56"/>
          <p:cNvCxnSpPr/>
          <p:nvPr/>
        </p:nvCxnSpPr>
        <p:spPr>
          <a:xfrm rot="10800000">
            <a:off x="9411877" y="4084624"/>
            <a:ext cx="625697" cy="14183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87" name="Google Shape;687;p56"/>
          <p:cNvCxnSpPr/>
          <p:nvPr/>
        </p:nvCxnSpPr>
        <p:spPr>
          <a:xfrm rot="10800000">
            <a:off x="11879540" y="1607559"/>
            <a:ext cx="22565" cy="34944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88" name="Google Shape;688;p56"/>
          <p:cNvCxnSpPr/>
          <p:nvPr/>
        </p:nvCxnSpPr>
        <p:spPr>
          <a:xfrm rot="10800000">
            <a:off x="11507922" y="1734565"/>
            <a:ext cx="394183" cy="22243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89" name="Google Shape;689;p56"/>
          <p:cNvCxnSpPr/>
          <p:nvPr/>
        </p:nvCxnSpPr>
        <p:spPr>
          <a:xfrm rot="10800000">
            <a:off x="10818169" y="3138843"/>
            <a:ext cx="257409" cy="63786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0" name="Google Shape;690;p56"/>
          <p:cNvCxnSpPr/>
          <p:nvPr/>
        </p:nvCxnSpPr>
        <p:spPr>
          <a:xfrm>
            <a:off x="11075578" y="3776705"/>
            <a:ext cx="200993" cy="94697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1" name="Google Shape;691;p56"/>
          <p:cNvCxnSpPr/>
          <p:nvPr/>
        </p:nvCxnSpPr>
        <p:spPr>
          <a:xfrm>
            <a:off x="10630294" y="1169314"/>
            <a:ext cx="361468" cy="62422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2" name="Google Shape;692;p56"/>
          <p:cNvCxnSpPr/>
          <p:nvPr/>
        </p:nvCxnSpPr>
        <p:spPr>
          <a:xfrm flipH="1">
            <a:off x="10534158" y="1169314"/>
            <a:ext cx="96136" cy="87359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3" name="Google Shape;693;p56"/>
          <p:cNvCxnSpPr/>
          <p:nvPr/>
        </p:nvCxnSpPr>
        <p:spPr>
          <a:xfrm rot="10800000">
            <a:off x="7893950" y="2319399"/>
            <a:ext cx="38704" cy="5257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4" name="Google Shape;694;p56"/>
          <p:cNvCxnSpPr/>
          <p:nvPr/>
        </p:nvCxnSpPr>
        <p:spPr>
          <a:xfrm>
            <a:off x="7932654" y="2371973"/>
            <a:ext cx="705020" cy="96440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5" name="Google Shape;695;p56"/>
          <p:cNvCxnSpPr/>
          <p:nvPr/>
        </p:nvCxnSpPr>
        <p:spPr>
          <a:xfrm flipH="1" rot="10800000">
            <a:off x="10991762" y="1734565"/>
            <a:ext cx="516160" cy="5897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6" name="Google Shape;696;p56"/>
          <p:cNvCxnSpPr/>
          <p:nvPr/>
        </p:nvCxnSpPr>
        <p:spPr>
          <a:xfrm flipH="1">
            <a:off x="10534158" y="1793542"/>
            <a:ext cx="457604" cy="24937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7" name="Google Shape;697;p56"/>
          <p:cNvCxnSpPr/>
          <p:nvPr/>
        </p:nvCxnSpPr>
        <p:spPr>
          <a:xfrm>
            <a:off x="9950914" y="2079060"/>
            <a:ext cx="107639" cy="18554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8" name="Google Shape;698;p56"/>
          <p:cNvCxnSpPr/>
          <p:nvPr/>
        </p:nvCxnSpPr>
        <p:spPr>
          <a:xfrm flipH="1" rot="10800000">
            <a:off x="9950914" y="2042913"/>
            <a:ext cx="583244" cy="3614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699" name="Google Shape;699;p56"/>
          <p:cNvCxnSpPr/>
          <p:nvPr/>
        </p:nvCxnSpPr>
        <p:spPr>
          <a:xfrm rot="10800000">
            <a:off x="11276571" y="4723680"/>
            <a:ext cx="140100" cy="11068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0" name="Google Shape;700;p56"/>
          <p:cNvCxnSpPr/>
          <p:nvPr/>
        </p:nvCxnSpPr>
        <p:spPr>
          <a:xfrm rot="10800000">
            <a:off x="11075578" y="3776705"/>
            <a:ext cx="341093" cy="105766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1" name="Google Shape;701;p56"/>
          <p:cNvCxnSpPr/>
          <p:nvPr/>
        </p:nvCxnSpPr>
        <p:spPr>
          <a:xfrm rot="10800000">
            <a:off x="9326042" y="4897183"/>
            <a:ext cx="199626" cy="17092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2" name="Google Shape;702;p56"/>
          <p:cNvCxnSpPr/>
          <p:nvPr/>
        </p:nvCxnSpPr>
        <p:spPr>
          <a:xfrm flipH="1" rot="10800000">
            <a:off x="9525668" y="5058795"/>
            <a:ext cx="308299" cy="930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3" name="Google Shape;703;p56"/>
          <p:cNvCxnSpPr/>
          <p:nvPr/>
        </p:nvCxnSpPr>
        <p:spPr>
          <a:xfrm rot="10800000">
            <a:off x="8037814" y="3986571"/>
            <a:ext cx="44747" cy="26586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4" name="Google Shape;704;p56"/>
          <p:cNvCxnSpPr/>
          <p:nvPr/>
        </p:nvCxnSpPr>
        <p:spPr>
          <a:xfrm flipH="1" rot="10800000">
            <a:off x="8082561" y="4250661"/>
            <a:ext cx="337666" cy="177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5" name="Google Shape;705;p56"/>
          <p:cNvCxnSpPr/>
          <p:nvPr/>
        </p:nvCxnSpPr>
        <p:spPr>
          <a:xfrm flipH="1">
            <a:off x="11507922" y="1348186"/>
            <a:ext cx="32008" cy="38637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6" name="Google Shape;706;p56"/>
          <p:cNvCxnSpPr/>
          <p:nvPr/>
        </p:nvCxnSpPr>
        <p:spPr>
          <a:xfrm>
            <a:off x="11539930" y="1348186"/>
            <a:ext cx="339610" cy="25937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7" name="Google Shape;707;p56"/>
          <p:cNvCxnSpPr/>
          <p:nvPr/>
        </p:nvCxnSpPr>
        <p:spPr>
          <a:xfrm>
            <a:off x="10818169" y="3138843"/>
            <a:ext cx="257409" cy="63786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8" name="Google Shape;708;p56"/>
          <p:cNvCxnSpPr/>
          <p:nvPr/>
        </p:nvCxnSpPr>
        <p:spPr>
          <a:xfrm rot="10800000">
            <a:off x="10534158" y="2042913"/>
            <a:ext cx="284011" cy="109593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09" name="Google Shape;709;p56"/>
          <p:cNvCxnSpPr/>
          <p:nvPr/>
        </p:nvCxnSpPr>
        <p:spPr>
          <a:xfrm>
            <a:off x="11879540" y="1607559"/>
            <a:ext cx="22565" cy="34944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0" name="Google Shape;710;p56"/>
          <p:cNvCxnSpPr/>
          <p:nvPr/>
        </p:nvCxnSpPr>
        <p:spPr>
          <a:xfrm flipH="1">
            <a:off x="11507922" y="1607559"/>
            <a:ext cx="371618" cy="12700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1" name="Google Shape;711;p56"/>
          <p:cNvCxnSpPr/>
          <p:nvPr/>
        </p:nvCxnSpPr>
        <p:spPr>
          <a:xfrm>
            <a:off x="10114022" y="4559005"/>
            <a:ext cx="71660" cy="32890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2" name="Google Shape;712;p56"/>
          <p:cNvCxnSpPr/>
          <p:nvPr/>
        </p:nvCxnSpPr>
        <p:spPr>
          <a:xfrm rot="10800000">
            <a:off x="10037574" y="4226462"/>
            <a:ext cx="76448" cy="332543"/>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3" name="Google Shape;713;p56"/>
          <p:cNvCxnSpPr/>
          <p:nvPr/>
        </p:nvCxnSpPr>
        <p:spPr>
          <a:xfrm flipH="1" rot="10800000">
            <a:off x="10534158" y="1793542"/>
            <a:ext cx="457604" cy="24937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4" name="Google Shape;714;p56"/>
          <p:cNvCxnSpPr/>
          <p:nvPr/>
        </p:nvCxnSpPr>
        <p:spPr>
          <a:xfrm flipH="1">
            <a:off x="10058553" y="2042913"/>
            <a:ext cx="475605" cy="22168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5" name="Google Shape;715;p56"/>
          <p:cNvCxnSpPr/>
          <p:nvPr/>
        </p:nvCxnSpPr>
        <p:spPr>
          <a:xfrm rot="10800000">
            <a:off x="8082561" y="4252438"/>
            <a:ext cx="83640" cy="558151"/>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6" name="Google Shape;716;p56"/>
          <p:cNvCxnSpPr/>
          <p:nvPr/>
        </p:nvCxnSpPr>
        <p:spPr>
          <a:xfrm flipH="1" rot="10800000">
            <a:off x="8166201" y="4250661"/>
            <a:ext cx="254026" cy="55992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7" name="Google Shape;717;p56"/>
          <p:cNvCxnSpPr/>
          <p:nvPr/>
        </p:nvCxnSpPr>
        <p:spPr>
          <a:xfrm flipH="1">
            <a:off x="9525668" y="5058795"/>
            <a:ext cx="308299" cy="930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8" name="Google Shape;718;p56"/>
          <p:cNvCxnSpPr/>
          <p:nvPr/>
        </p:nvCxnSpPr>
        <p:spPr>
          <a:xfrm flipH="1" rot="10800000">
            <a:off x="9833967" y="4887909"/>
            <a:ext cx="351715" cy="17088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19" name="Google Shape;719;p56"/>
          <p:cNvCxnSpPr/>
          <p:nvPr/>
        </p:nvCxnSpPr>
        <p:spPr>
          <a:xfrm flipH="1">
            <a:off x="8082561" y="4250661"/>
            <a:ext cx="337666" cy="177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0" name="Google Shape;720;p56"/>
          <p:cNvCxnSpPr/>
          <p:nvPr/>
        </p:nvCxnSpPr>
        <p:spPr>
          <a:xfrm rot="10800000">
            <a:off x="8037814" y="3986571"/>
            <a:ext cx="382413" cy="26409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1" name="Google Shape;721;p56"/>
          <p:cNvCxnSpPr/>
          <p:nvPr/>
        </p:nvCxnSpPr>
        <p:spPr>
          <a:xfrm>
            <a:off x="11276571" y="4723680"/>
            <a:ext cx="140100" cy="11068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2" name="Google Shape;722;p56"/>
          <p:cNvCxnSpPr/>
          <p:nvPr/>
        </p:nvCxnSpPr>
        <p:spPr>
          <a:xfrm rot="10800000">
            <a:off x="11075578" y="3776705"/>
            <a:ext cx="200993" cy="94697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3" name="Google Shape;723;p56"/>
          <p:cNvCxnSpPr/>
          <p:nvPr/>
        </p:nvCxnSpPr>
        <p:spPr>
          <a:xfrm>
            <a:off x="7893950" y="2319399"/>
            <a:ext cx="38704" cy="5257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4" name="Google Shape;724;p56"/>
          <p:cNvCxnSpPr/>
          <p:nvPr/>
        </p:nvCxnSpPr>
        <p:spPr>
          <a:xfrm>
            <a:off x="7893950" y="2319399"/>
            <a:ext cx="743724" cy="101697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5" name="Google Shape;725;p56"/>
          <p:cNvCxnSpPr/>
          <p:nvPr/>
        </p:nvCxnSpPr>
        <p:spPr>
          <a:xfrm>
            <a:off x="8037814" y="3986571"/>
            <a:ext cx="44747" cy="26586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6" name="Google Shape;726;p56"/>
          <p:cNvCxnSpPr/>
          <p:nvPr/>
        </p:nvCxnSpPr>
        <p:spPr>
          <a:xfrm>
            <a:off x="8037814" y="3986571"/>
            <a:ext cx="382413" cy="26409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7" name="Google Shape;727;p56"/>
          <p:cNvCxnSpPr/>
          <p:nvPr/>
        </p:nvCxnSpPr>
        <p:spPr>
          <a:xfrm>
            <a:off x="9326042" y="4897183"/>
            <a:ext cx="199626" cy="17092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8" name="Google Shape;728;p56"/>
          <p:cNvCxnSpPr/>
          <p:nvPr/>
        </p:nvCxnSpPr>
        <p:spPr>
          <a:xfrm>
            <a:off x="9326042" y="4897183"/>
            <a:ext cx="507925" cy="16161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29" name="Google Shape;729;p56"/>
          <p:cNvCxnSpPr/>
          <p:nvPr/>
        </p:nvCxnSpPr>
        <p:spPr>
          <a:xfrm flipH="1">
            <a:off x="8954245" y="4084624"/>
            <a:ext cx="457632" cy="5308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0" name="Google Shape;730;p56"/>
          <p:cNvCxnSpPr/>
          <p:nvPr/>
        </p:nvCxnSpPr>
        <p:spPr>
          <a:xfrm>
            <a:off x="9411877" y="4084624"/>
            <a:ext cx="625697" cy="14183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1" name="Google Shape;731;p56"/>
          <p:cNvCxnSpPr/>
          <p:nvPr/>
        </p:nvCxnSpPr>
        <p:spPr>
          <a:xfrm flipH="1" rot="10800000">
            <a:off x="11507922" y="1348186"/>
            <a:ext cx="32008" cy="386379"/>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2" name="Google Shape;732;p56"/>
          <p:cNvCxnSpPr/>
          <p:nvPr/>
        </p:nvCxnSpPr>
        <p:spPr>
          <a:xfrm flipH="1" rot="10800000">
            <a:off x="11507922" y="1607559"/>
            <a:ext cx="371618" cy="12700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3" name="Google Shape;733;p56"/>
          <p:cNvCxnSpPr/>
          <p:nvPr/>
        </p:nvCxnSpPr>
        <p:spPr>
          <a:xfrm rot="10800000">
            <a:off x="10114022" y="4559005"/>
            <a:ext cx="71660" cy="328904"/>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4" name="Google Shape;734;p56"/>
          <p:cNvCxnSpPr/>
          <p:nvPr/>
        </p:nvCxnSpPr>
        <p:spPr>
          <a:xfrm flipH="1">
            <a:off x="9833967" y="4887909"/>
            <a:ext cx="351715" cy="17088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5" name="Google Shape;735;p56"/>
          <p:cNvCxnSpPr/>
          <p:nvPr/>
        </p:nvCxnSpPr>
        <p:spPr>
          <a:xfrm rot="10800000">
            <a:off x="9950914" y="2079060"/>
            <a:ext cx="107639" cy="185540"/>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6" name="Google Shape;736;p56"/>
          <p:cNvCxnSpPr/>
          <p:nvPr/>
        </p:nvCxnSpPr>
        <p:spPr>
          <a:xfrm flipH="1" rot="10800000">
            <a:off x="10058553" y="2042913"/>
            <a:ext cx="475605" cy="221687"/>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7" name="Google Shape;737;p56"/>
          <p:cNvCxnSpPr/>
          <p:nvPr/>
        </p:nvCxnSpPr>
        <p:spPr>
          <a:xfrm flipH="1" rot="10800000">
            <a:off x="8954245" y="4084624"/>
            <a:ext cx="457632" cy="53085"/>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8" name="Google Shape;738;p56"/>
          <p:cNvCxnSpPr/>
          <p:nvPr/>
        </p:nvCxnSpPr>
        <p:spPr>
          <a:xfrm flipH="1">
            <a:off x="8420227" y="4137709"/>
            <a:ext cx="534018" cy="112952"/>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39" name="Google Shape;739;p56"/>
          <p:cNvCxnSpPr/>
          <p:nvPr/>
        </p:nvCxnSpPr>
        <p:spPr>
          <a:xfrm>
            <a:off x="8637674" y="3336373"/>
            <a:ext cx="316571" cy="801336"/>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cxnSp>
        <p:nvCxnSpPr>
          <p:cNvPr id="740" name="Google Shape;740;p56"/>
          <p:cNvCxnSpPr/>
          <p:nvPr/>
        </p:nvCxnSpPr>
        <p:spPr>
          <a:xfrm flipH="1">
            <a:off x="8037814" y="3336373"/>
            <a:ext cx="599860" cy="650198"/>
          </a:xfrm>
          <a:prstGeom prst="straightConnector1">
            <a:avLst/>
          </a:prstGeom>
          <a:noFill/>
          <a:ln cap="flat" cmpd="sng" w="12700">
            <a:solidFill>
              <a:srgbClr val="A9D8EA"/>
            </a:solidFill>
            <a:prstDash val="solid"/>
            <a:round/>
            <a:headEnd len="sm" w="sm" type="none"/>
            <a:tailEnd len="sm" w="sm" type="none"/>
          </a:ln>
          <a:effectLst>
            <a:outerShdw blurRad="40000" rotWithShape="0" dir="5400000" dist="20000">
              <a:srgbClr val="000000">
                <a:alpha val="38039"/>
              </a:srgbClr>
            </a:outerShdw>
          </a:effectLst>
        </p:spPr>
      </p:cxnSp>
      <p:sp>
        <p:nvSpPr>
          <p:cNvPr id="741" name="Google Shape;741;p56"/>
          <p:cNvSpPr/>
          <p:nvPr/>
        </p:nvSpPr>
        <p:spPr>
          <a:xfrm>
            <a:off x="9968994" y="415788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2" name="Google Shape;742;p56"/>
          <p:cNvSpPr/>
          <p:nvPr/>
        </p:nvSpPr>
        <p:spPr>
          <a:xfrm>
            <a:off x="11860957" y="19158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3" name="Google Shape;743;p56"/>
          <p:cNvSpPr/>
          <p:nvPr/>
        </p:nvSpPr>
        <p:spPr>
          <a:xfrm>
            <a:off x="11034430" y="373555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4" name="Google Shape;744;p56"/>
          <p:cNvSpPr/>
          <p:nvPr/>
        </p:nvSpPr>
        <p:spPr>
          <a:xfrm>
            <a:off x="10589146" y="112816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5" name="Google Shape;745;p56"/>
          <p:cNvSpPr/>
          <p:nvPr/>
        </p:nvSpPr>
        <p:spPr>
          <a:xfrm>
            <a:off x="7891506" y="233082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6" name="Google Shape;746;p56"/>
          <p:cNvSpPr/>
          <p:nvPr/>
        </p:nvSpPr>
        <p:spPr>
          <a:xfrm>
            <a:off x="10923182" y="172496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7" name="Google Shape;747;p56"/>
          <p:cNvSpPr/>
          <p:nvPr/>
        </p:nvSpPr>
        <p:spPr>
          <a:xfrm>
            <a:off x="9909766" y="203791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8" name="Google Shape;748;p56"/>
          <p:cNvSpPr/>
          <p:nvPr/>
        </p:nvSpPr>
        <p:spPr>
          <a:xfrm>
            <a:off x="11375523" y="479322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 name="Google Shape;749;p56"/>
          <p:cNvSpPr/>
          <p:nvPr/>
        </p:nvSpPr>
        <p:spPr>
          <a:xfrm>
            <a:off x="9484520" y="502695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0" name="Google Shape;750;p56"/>
          <p:cNvSpPr/>
          <p:nvPr/>
        </p:nvSpPr>
        <p:spPr>
          <a:xfrm>
            <a:off x="8041413" y="421129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 name="Google Shape;751;p56"/>
          <p:cNvSpPr/>
          <p:nvPr/>
        </p:nvSpPr>
        <p:spPr>
          <a:xfrm>
            <a:off x="11471350" y="1279606"/>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 name="Google Shape;752;p56"/>
          <p:cNvSpPr/>
          <p:nvPr/>
        </p:nvSpPr>
        <p:spPr>
          <a:xfrm>
            <a:off x="10777021" y="309769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 name="Google Shape;753;p56"/>
          <p:cNvSpPr/>
          <p:nvPr/>
        </p:nvSpPr>
        <p:spPr>
          <a:xfrm>
            <a:off x="11838392" y="1566411"/>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4" name="Google Shape;754;p56"/>
          <p:cNvSpPr/>
          <p:nvPr/>
        </p:nvSpPr>
        <p:spPr>
          <a:xfrm>
            <a:off x="10072874" y="451785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5" name="Google Shape;755;p56"/>
          <p:cNvSpPr/>
          <p:nvPr/>
        </p:nvSpPr>
        <p:spPr>
          <a:xfrm>
            <a:off x="10493010" y="200176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6" name="Google Shape;756;p56"/>
          <p:cNvSpPr/>
          <p:nvPr/>
        </p:nvSpPr>
        <p:spPr>
          <a:xfrm>
            <a:off x="8097621" y="4742009"/>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 name="Google Shape;757;p56"/>
          <p:cNvSpPr/>
          <p:nvPr/>
        </p:nvSpPr>
        <p:spPr>
          <a:xfrm>
            <a:off x="9792819" y="5017647"/>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8" name="Google Shape;758;p56"/>
          <p:cNvSpPr/>
          <p:nvPr/>
        </p:nvSpPr>
        <p:spPr>
          <a:xfrm>
            <a:off x="8379079" y="420951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9" name="Google Shape;759;p56"/>
          <p:cNvSpPr/>
          <p:nvPr/>
        </p:nvSpPr>
        <p:spPr>
          <a:xfrm>
            <a:off x="11235423" y="468253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0" name="Google Shape;760;p56"/>
          <p:cNvSpPr/>
          <p:nvPr/>
        </p:nvSpPr>
        <p:spPr>
          <a:xfrm>
            <a:off x="7852802" y="227825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 name="Google Shape;761;p56"/>
          <p:cNvSpPr/>
          <p:nvPr/>
        </p:nvSpPr>
        <p:spPr>
          <a:xfrm>
            <a:off x="7969234" y="3917991"/>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2" name="Google Shape;762;p56"/>
          <p:cNvSpPr/>
          <p:nvPr/>
        </p:nvSpPr>
        <p:spPr>
          <a:xfrm>
            <a:off x="9284894" y="485603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3" name="Google Shape;763;p56"/>
          <p:cNvSpPr/>
          <p:nvPr/>
        </p:nvSpPr>
        <p:spPr>
          <a:xfrm>
            <a:off x="9370729" y="404347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4" name="Google Shape;764;p56"/>
          <p:cNvSpPr/>
          <p:nvPr/>
        </p:nvSpPr>
        <p:spPr>
          <a:xfrm>
            <a:off x="11466774" y="169341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5" name="Google Shape;765;p56"/>
          <p:cNvSpPr/>
          <p:nvPr/>
        </p:nvSpPr>
        <p:spPr>
          <a:xfrm>
            <a:off x="9989973" y="2196020"/>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 name="Google Shape;766;p56"/>
          <p:cNvSpPr/>
          <p:nvPr/>
        </p:nvSpPr>
        <p:spPr>
          <a:xfrm>
            <a:off x="8913097" y="4096561"/>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 name="Google Shape;767;p56"/>
          <p:cNvSpPr/>
          <p:nvPr/>
        </p:nvSpPr>
        <p:spPr>
          <a:xfrm>
            <a:off x="8596526" y="3295225"/>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768" name="Google Shape;768;p56"/>
          <p:cNvPicPr preferRelativeResize="0"/>
          <p:nvPr/>
        </p:nvPicPr>
        <p:blipFill rotWithShape="1">
          <a:blip r:embed="rId2">
            <a:alphaModFix/>
          </a:blip>
          <a:srcRect b="0" l="0" r="0" t="0"/>
          <a:stretch/>
        </p:blipFill>
        <p:spPr>
          <a:xfrm>
            <a:off x="658368" y="566928"/>
            <a:ext cx="1828800" cy="955964"/>
          </a:xfrm>
          <a:prstGeom prst="rect">
            <a:avLst/>
          </a:prstGeom>
          <a:noFill/>
          <a:ln>
            <a:noFill/>
          </a:ln>
        </p:spPr>
      </p:pic>
      <p:sp>
        <p:nvSpPr>
          <p:cNvPr id="769" name="Google Shape;769;p56"/>
          <p:cNvSpPr txBox="1"/>
          <p:nvPr>
            <p:ph type="title"/>
          </p:nvPr>
        </p:nvSpPr>
        <p:spPr>
          <a:xfrm>
            <a:off x="658368" y="1938528"/>
            <a:ext cx="4937760" cy="548640"/>
          </a:xfrm>
          <a:prstGeom prst="rect">
            <a:avLst/>
          </a:prstGeom>
          <a:noFill/>
          <a:ln>
            <a:noFill/>
          </a:ln>
        </p:spPr>
        <p:txBody>
          <a:bodyPr anchorCtr="0" anchor="t"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0" name="Google Shape;770;p56"/>
          <p:cNvSpPr txBox="1"/>
          <p:nvPr>
            <p:ph idx="1" type="body"/>
          </p:nvPr>
        </p:nvSpPr>
        <p:spPr>
          <a:xfrm>
            <a:off x="676656" y="2670048"/>
            <a:ext cx="4937760" cy="41148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1" name="Google Shape;771;p56"/>
          <p:cNvSpPr txBox="1"/>
          <p:nvPr>
            <p:ph idx="2" type="body"/>
          </p:nvPr>
        </p:nvSpPr>
        <p:spPr>
          <a:xfrm>
            <a:off x="676656" y="3794760"/>
            <a:ext cx="5394960" cy="32004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2" name="Google Shape;772;p56"/>
          <p:cNvSpPr txBox="1"/>
          <p:nvPr/>
        </p:nvSpPr>
        <p:spPr>
          <a:xfrm>
            <a:off x="676656" y="5102352"/>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82B4C"/>
                </a:solidFill>
                <a:latin typeface="Arial"/>
                <a:ea typeface="Arial"/>
                <a:cs typeface="Arial"/>
                <a:sym typeface="Arial"/>
              </a:rPr>
              <a:t>NSDF</a:t>
            </a:r>
            <a:endParaRPr/>
          </a:p>
        </p:txBody>
      </p:sp>
      <p:sp>
        <p:nvSpPr>
          <p:cNvPr id="773" name="Google Shape;773;p56"/>
          <p:cNvSpPr/>
          <p:nvPr/>
        </p:nvSpPr>
        <p:spPr>
          <a:xfrm>
            <a:off x="0" y="6492240"/>
            <a:ext cx="12191695" cy="36576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f.png" id="774" name="Google Shape;774;p56"/>
          <p:cNvPicPr preferRelativeResize="0"/>
          <p:nvPr/>
        </p:nvPicPr>
        <p:blipFill rotWithShape="1">
          <a:blip r:embed="rId3">
            <a:alphaModFix/>
          </a:blip>
          <a:srcRect b="0" l="0" r="0" t="0"/>
          <a:stretch/>
        </p:blipFill>
        <p:spPr>
          <a:xfrm>
            <a:off x="11292840" y="5824728"/>
            <a:ext cx="640080" cy="643425"/>
          </a:xfrm>
          <a:prstGeom prst="rect">
            <a:avLst/>
          </a:prstGeom>
          <a:noFill/>
          <a:ln>
            <a:noFill/>
          </a:ln>
        </p:spPr>
      </p:pic>
      <p:sp>
        <p:nvSpPr>
          <p:cNvPr id="775" name="Google Shape;775;p56"/>
          <p:cNvSpPr txBox="1"/>
          <p:nvPr/>
        </p:nvSpPr>
        <p:spPr>
          <a:xfrm>
            <a:off x="8641080" y="6537960"/>
            <a:ext cx="1920240" cy="164592"/>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750">
                <a:solidFill>
                  <a:srgbClr val="FFFFFF"/>
                </a:solidFill>
                <a:latin typeface="Arial"/>
                <a:ea typeface="Arial"/>
                <a:cs typeface="Arial"/>
                <a:sym typeface="Arial"/>
              </a:rPr>
              <a:t>NSF Award #2609465</a:t>
            </a:r>
            <a:endParaRPr/>
          </a:p>
        </p:txBody>
      </p:sp>
      <p:sp>
        <p:nvSpPr>
          <p:cNvPr id="776" name="Google Shape;776;p56"/>
          <p:cNvSpPr/>
          <p:nvPr/>
        </p:nvSpPr>
        <p:spPr>
          <a:xfrm>
            <a:off x="658368" y="5138928"/>
            <a:ext cx="10561320" cy="1078992"/>
          </a:xfrm>
          <a:prstGeom prst="roundRect">
            <a:avLst>
              <a:gd fmla="val 16667" name="adj"/>
            </a:avLst>
          </a:prstGeom>
          <a:solidFill>
            <a:srgbClr val="FFFFFF"/>
          </a:solidFill>
          <a:ln cap="flat" cmpd="sng" w="9525">
            <a:solidFill>
              <a:srgbClr val="D9EA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7" name="Google Shape;777;p56"/>
          <p:cNvSpPr txBox="1"/>
          <p:nvPr/>
        </p:nvSpPr>
        <p:spPr>
          <a:xfrm>
            <a:off x="868680" y="5266944"/>
            <a:ext cx="1097280" cy="1645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rgbClr val="082B4C"/>
                </a:solidFill>
                <a:latin typeface="Arial"/>
                <a:ea typeface="Arial"/>
                <a:cs typeface="Arial"/>
                <a:sym typeface="Arial"/>
              </a:rPr>
              <a:t>NSDF PARTNERS</a:t>
            </a:r>
            <a:endParaRPr/>
          </a:p>
        </p:txBody>
      </p:sp>
      <p:sp>
        <p:nvSpPr>
          <p:cNvPr id="778" name="Google Shape;778;p56"/>
          <p:cNvSpPr txBox="1"/>
          <p:nvPr/>
        </p:nvSpPr>
        <p:spPr>
          <a:xfrm>
            <a:off x="182880" y="6519672"/>
            <a:ext cx="420624"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08</a:t>
            </a:r>
            <a:endParaRPr/>
          </a:p>
        </p:txBody>
      </p:sp>
      <p:pic>
        <p:nvPicPr>
          <p:cNvPr descr="mlc_lockup_black_green.png" id="779" name="Google Shape;779;p56"/>
          <p:cNvPicPr preferRelativeResize="0"/>
          <p:nvPr/>
        </p:nvPicPr>
        <p:blipFill rotWithShape="1">
          <a:blip r:embed="rId4">
            <a:alphaModFix/>
          </a:blip>
          <a:srcRect b="0" l="0" r="0" t="0"/>
          <a:stretch/>
        </p:blipFill>
        <p:spPr>
          <a:xfrm>
            <a:off x="8158063" y="5530876"/>
            <a:ext cx="1078992" cy="324998"/>
          </a:xfrm>
          <a:prstGeom prst="rect">
            <a:avLst/>
          </a:prstGeom>
          <a:noFill/>
          <a:ln>
            <a:noFill/>
          </a:ln>
        </p:spPr>
      </p:pic>
      <p:pic>
        <p:nvPicPr>
          <p:cNvPr descr="NSF-TACC-UT-Black.png" id="780" name="Google Shape;780;p56"/>
          <p:cNvPicPr preferRelativeResize="0"/>
          <p:nvPr/>
        </p:nvPicPr>
        <p:blipFill rotWithShape="1">
          <a:blip r:embed="rId5">
            <a:alphaModFix/>
          </a:blip>
          <a:srcRect b="0" l="0" r="0" t="0"/>
          <a:stretch/>
        </p:blipFill>
        <p:spPr>
          <a:xfrm>
            <a:off x="4397223" y="5501151"/>
            <a:ext cx="1874519" cy="384449"/>
          </a:xfrm>
          <a:prstGeom prst="rect">
            <a:avLst/>
          </a:prstGeom>
          <a:noFill/>
          <a:ln>
            <a:noFill/>
          </a:ln>
        </p:spPr>
      </p:pic>
      <p:pic>
        <p:nvPicPr>
          <p:cNvPr descr="UU-Logo-CTR_RED.png" id="781" name="Google Shape;781;p56"/>
          <p:cNvPicPr preferRelativeResize="0"/>
          <p:nvPr/>
        </p:nvPicPr>
        <p:blipFill rotWithShape="1">
          <a:blip r:embed="rId6">
            <a:alphaModFix/>
          </a:blip>
          <a:srcRect b="0" l="0" r="0" t="0"/>
          <a:stretch/>
        </p:blipFill>
        <p:spPr>
          <a:xfrm>
            <a:off x="3445758" y="5414483"/>
            <a:ext cx="489821" cy="557784"/>
          </a:xfrm>
          <a:prstGeom prst="rect">
            <a:avLst/>
          </a:prstGeom>
          <a:noFill/>
          <a:ln>
            <a:noFill/>
          </a:ln>
        </p:spPr>
      </p:pic>
      <p:pic>
        <p:nvPicPr>
          <p:cNvPr descr="University-HorizLeftLogo-RGB.png" id="782" name="Google Shape;782;p56"/>
          <p:cNvPicPr preferRelativeResize="0"/>
          <p:nvPr/>
        </p:nvPicPr>
        <p:blipFill rotWithShape="1">
          <a:blip r:embed="rId7">
            <a:alphaModFix/>
          </a:blip>
          <a:srcRect b="0" l="0" r="0" t="0"/>
          <a:stretch/>
        </p:blipFill>
        <p:spPr>
          <a:xfrm>
            <a:off x="1791326" y="5364997"/>
            <a:ext cx="1417320" cy="656756"/>
          </a:xfrm>
          <a:prstGeom prst="rect">
            <a:avLst/>
          </a:prstGeom>
          <a:noFill/>
          <a:ln>
            <a:noFill/>
          </a:ln>
        </p:spPr>
      </p:pic>
      <p:pic>
        <p:nvPicPr>
          <p:cNvPr descr="PU-H-Full-RGB.png" id="783" name="Google Shape;783;p56"/>
          <p:cNvPicPr preferRelativeResize="0"/>
          <p:nvPr/>
        </p:nvPicPr>
        <p:blipFill rotWithShape="1">
          <a:blip r:embed="rId8">
            <a:alphaModFix/>
          </a:blip>
          <a:srcRect b="0" l="0" r="0" t="0"/>
          <a:stretch/>
        </p:blipFill>
        <p:spPr>
          <a:xfrm>
            <a:off x="6520030" y="5562581"/>
            <a:ext cx="1461402" cy="26158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7"/>
          <p:cNvSpPr/>
          <p:nvPr/>
        </p:nvSpPr>
        <p:spPr>
          <a:xfrm>
            <a:off x="420000" y="180000"/>
            <a:ext cx="12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00" u="none" cap="none" strike="noStrike">
                <a:solidFill>
                  <a:schemeClr val="dk1"/>
                </a:solidFill>
                <a:latin typeface="Calibri"/>
                <a:ea typeface="Calibri"/>
                <a:cs typeface="Calibri"/>
                <a:sym typeface="Calibri"/>
              </a:rPr>
              <a:t>NSDF</a:t>
            </a:r>
            <a:endParaRPr sz="1800">
              <a:solidFill>
                <a:schemeClr val="dk1"/>
              </a:solidFill>
              <a:latin typeface="Calibri"/>
              <a:ea typeface="Calibri"/>
              <a:cs typeface="Calibri"/>
              <a:sym typeface="Calibri"/>
            </a:endParaRPr>
          </a:p>
        </p:txBody>
      </p:sp>
      <p:sp>
        <p:nvSpPr>
          <p:cNvPr id="16" name="Google Shape;16;p37"/>
          <p:cNvSpPr/>
          <p:nvPr/>
        </p:nvSpPr>
        <p:spPr>
          <a:xfrm>
            <a:off x="9550000" y="6410000"/>
            <a:ext cx="2100000" cy="26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700">
                <a:solidFill>
                  <a:schemeClr val="dk1"/>
                </a:solidFill>
                <a:latin typeface="Calibri"/>
                <a:ea typeface="Calibri"/>
                <a:cs typeface="Calibri"/>
                <a:sym typeface="Calibri"/>
              </a:rPr>
              <a:t>NSF Award #2609465</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8.jpg"/><Relationship Id="rId10" Type="http://schemas.openxmlformats.org/officeDocument/2006/relationships/image" Target="../media/image9.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0" Type="http://schemas.openxmlformats.org/officeDocument/2006/relationships/image" Target="../media/image13.jp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0"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40.jp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15.jp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0" Type="http://schemas.openxmlformats.org/officeDocument/2006/relationships/image" Target="../media/image14.jp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0" Type="http://schemas.openxmlformats.org/officeDocument/2006/relationships/image" Target="../media/image18.jp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9.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0.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1.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4.jp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2.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3.png"/><Relationship Id="rId12" Type="http://schemas.openxmlformats.org/officeDocument/2006/relationships/image" Target="../media/image21.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3.xml.rels><?xml version="1.0" encoding="UTF-8" standalone="yes"?><Relationships xmlns="http://schemas.openxmlformats.org/package/2006/relationships"><Relationship Id="rId10" Type="http://schemas.openxmlformats.org/officeDocument/2006/relationships/image" Target="../media/image28.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4.xml.rels><?xml version="1.0" encoding="UTF-8" standalone="yes"?><Relationships xmlns="http://schemas.openxmlformats.org/package/2006/relationships"><Relationship Id="rId10" Type="http://schemas.openxmlformats.org/officeDocument/2006/relationships/image" Target="../media/image26.jp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5.xml.rels><?xml version="1.0" encoding="UTF-8" standalone="yes"?><Relationships xmlns="http://schemas.openxmlformats.org/package/2006/relationships"><Relationship Id="rId11" Type="http://schemas.openxmlformats.org/officeDocument/2006/relationships/image" Target="../media/image29.jpg"/><Relationship Id="rId10" Type="http://schemas.openxmlformats.org/officeDocument/2006/relationships/image" Target="../media/image30.jp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6.xml.rels><?xml version="1.0" encoding="UTF-8" standalone="yes"?><Relationships xmlns="http://schemas.openxmlformats.org/package/2006/relationships"><Relationship Id="rId11" Type="http://schemas.openxmlformats.org/officeDocument/2006/relationships/image" Target="../media/image31.jpg"/><Relationship Id="rId10" Type="http://schemas.openxmlformats.org/officeDocument/2006/relationships/image" Target="../media/image32.jpg"/><Relationship Id="rId12" Type="http://schemas.openxmlformats.org/officeDocument/2006/relationships/image" Target="../media/image34.jp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7.xml.rels><?xml version="1.0" encoding="UTF-8" standalone="yes"?><Relationships xmlns="http://schemas.openxmlformats.org/package/2006/relationships"><Relationship Id="rId11" Type="http://schemas.openxmlformats.org/officeDocument/2006/relationships/image" Target="../media/image36.jpg"/><Relationship Id="rId10" Type="http://schemas.openxmlformats.org/officeDocument/2006/relationships/image" Target="../media/image33.jp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8.xml.rels><?xml version="1.0" encoding="UTF-8" standalone="yes"?><Relationships xmlns="http://schemas.openxmlformats.org/package/2006/relationships"><Relationship Id="rId11" Type="http://schemas.openxmlformats.org/officeDocument/2006/relationships/image" Target="../media/image35.jpg"/><Relationship Id="rId10" Type="http://schemas.openxmlformats.org/officeDocument/2006/relationships/image" Target="../media/image37.jp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19.xml.rels><?xml version="1.0" encoding="UTF-8" standalone="yes"?><Relationships xmlns="http://schemas.openxmlformats.org/package/2006/relationships"><Relationship Id="rId10" Type="http://schemas.openxmlformats.org/officeDocument/2006/relationships/image" Target="../media/image47.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0.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45.jp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1.xml.rels><?xml version="1.0" encoding="UTF-8" standalone="yes"?><Relationships xmlns="http://schemas.openxmlformats.org/package/2006/relationships"><Relationship Id="rId11" Type="http://schemas.openxmlformats.org/officeDocument/2006/relationships/image" Target="../media/image42.jpg"/><Relationship Id="rId10"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2.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39.jp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3.xml.rels><?xml version="1.0" encoding="UTF-8" standalone="yes"?><Relationships xmlns="http://schemas.openxmlformats.org/package/2006/relationships"><Relationship Id="rId10" Type="http://schemas.openxmlformats.org/officeDocument/2006/relationships/image" Target="../media/image43.jp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4.xml.rels><?xml version="1.0" encoding="UTF-8" standalone="yes"?><Relationships xmlns="http://schemas.openxmlformats.org/package/2006/relationships"><Relationship Id="rId11" Type="http://schemas.openxmlformats.org/officeDocument/2006/relationships/image" Target="../media/image48.png"/><Relationship Id="rId10" Type="http://schemas.openxmlformats.org/officeDocument/2006/relationships/image" Target="../media/image52.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5.xml.rels><?xml version="1.0" encoding="UTF-8" standalone="yes"?><Relationships xmlns="http://schemas.openxmlformats.org/package/2006/relationships"><Relationship Id="rId11" Type="http://schemas.openxmlformats.org/officeDocument/2006/relationships/image" Target="../media/image50.png"/><Relationship Id="rId10" Type="http://schemas.openxmlformats.org/officeDocument/2006/relationships/image" Target="../media/image49.jpg"/><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6.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51.jp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7.xml.rels><?xml version="1.0" encoding="UTF-8" standalone="yes"?><Relationships xmlns="http://schemas.openxmlformats.org/package/2006/relationships"><Relationship Id="rId11" Type="http://schemas.openxmlformats.org/officeDocument/2006/relationships/image" Target="../media/image54.jpg"/><Relationship Id="rId10" Type="http://schemas.openxmlformats.org/officeDocument/2006/relationships/image" Target="../media/image53.jp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8.xml.rels><?xml version="1.0" encoding="UTF-8" standalone="yes"?><Relationships xmlns="http://schemas.openxmlformats.org/package/2006/relationships"><Relationship Id="rId11" Type="http://schemas.openxmlformats.org/officeDocument/2006/relationships/image" Target="../media/image56.png"/><Relationship Id="rId10" Type="http://schemas.openxmlformats.org/officeDocument/2006/relationships/image" Target="../media/image55.jpg"/><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29.xml.rels><?xml version="1.0" encoding="UTF-8" standalone="yes"?><Relationships xmlns="http://schemas.openxmlformats.org/package/2006/relationships"><Relationship Id="rId10" Type="http://schemas.openxmlformats.org/officeDocument/2006/relationships/image" Target="../media/image57.jpg"/><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0.xml.rels><?xml version="1.0" encoding="UTF-8" standalone="yes"?><Relationships xmlns="http://schemas.openxmlformats.org/package/2006/relationships"><Relationship Id="rId11" Type="http://schemas.openxmlformats.org/officeDocument/2006/relationships/image" Target="../media/image60.png"/><Relationship Id="rId10" Type="http://schemas.openxmlformats.org/officeDocument/2006/relationships/image" Target="../media/image58.png"/><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1.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59.jpg"/><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2.xml.rels><?xml version="1.0" encoding="UTF-8" standalone="yes"?><Relationships xmlns="http://schemas.openxmlformats.org/package/2006/relationships"><Relationship Id="rId11" Type="http://schemas.openxmlformats.org/officeDocument/2006/relationships/image" Target="../media/image66.png"/><Relationship Id="rId10" Type="http://schemas.openxmlformats.org/officeDocument/2006/relationships/image" Target="../media/image61.jpg"/><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3.xml.rels><?xml version="1.0" encoding="UTF-8" standalone="yes"?><Relationships xmlns="http://schemas.openxmlformats.org/package/2006/relationships"><Relationship Id="rId11" Type="http://schemas.openxmlformats.org/officeDocument/2006/relationships/image" Target="../media/image68.png"/><Relationship Id="rId10" Type="http://schemas.openxmlformats.org/officeDocument/2006/relationships/image" Target="../media/image62.jpg"/><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4.xml.rels><?xml version="1.0" encoding="UTF-8" standalone="yes"?><Relationships xmlns="http://schemas.openxmlformats.org/package/2006/relationships"><Relationship Id="rId11" Type="http://schemas.openxmlformats.org/officeDocument/2006/relationships/image" Target="../media/image63.png"/><Relationship Id="rId10" Type="http://schemas.openxmlformats.org/officeDocument/2006/relationships/image" Target="../media/image64.jp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5.xml.rels><?xml version="1.0" encoding="UTF-8" standalone="yes"?><Relationships xmlns="http://schemas.openxmlformats.org/package/2006/relationships"><Relationship Id="rId11" Type="http://schemas.openxmlformats.org/officeDocument/2006/relationships/image" Target="../media/image65.png"/><Relationship Id="rId10" Type="http://schemas.openxmlformats.org/officeDocument/2006/relationships/image" Target="../media/image67.jpg"/><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6.xml.rels><?xml version="1.0" encoding="UTF-8" standalone="yes"?><Relationships xmlns="http://schemas.openxmlformats.org/package/2006/relationships"><Relationship Id="rId11" Type="http://schemas.openxmlformats.org/officeDocument/2006/relationships/image" Target="../media/image70.png"/><Relationship Id="rId10" Type="http://schemas.openxmlformats.org/officeDocument/2006/relationships/image" Target="../media/image69.png"/><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7.xml.rels><?xml version="1.0" encoding="UTF-8" standalone="yes"?>
<Relationships xmlns="http://schemas.openxmlformats.org/package/2006/relationships"><Relationship Id="rId11" Type="http://schemas.openxmlformats.org/officeDocument/2006/relationships/image" Target="../media/image_oakland_logo.png"/><Relationship Id="rId10" Type="http://schemas.openxmlformats.org/officeDocument/2006/relationships/image" Target="../media/image_qu_headshot.jpg"/><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1.xml"/>
<Relationship Id="rIdNsdfLogo" Type="http://schemas.openxmlformats.org/officeDocument/2006/relationships/image" Target="../media/image1.png"/>
<Relationship Id="rIdSkyline" Type="http://schemas.openxmlformats.org/officeDocument/2006/relationships/image" Target="../media/image_skyline.png"/>
<Relationship Id="rIdTenn" Type="http://schemas.openxmlformats.org/officeDocument/2006/relationships/image" Target="../media/image6.png"/>
<Relationship Id="rIdUtah" Type="http://schemas.openxmlformats.org/officeDocument/2006/relationships/image" Target="../media/image5.png"/>
<Relationship Id="rIdTaccTexas" Type="http://schemas.openxmlformats.org/officeDocument/2006/relationships/image" Target="../media/image2.png"/>
<Relationship Id="rIdPurdue" Type="http://schemas.openxmlformats.org/officeDocument/2006/relationships/image" Target="../media/image4.png"/>
<Relationship Id="rIdMl" Type="http://schemas.openxmlformats.org/officeDocument/2006/relationships/image" Target="../media/image3.png"/>
<Relationship Id="rIdNsfSeal"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1"/>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D0D0D"/>
              </a:solidFill>
              <a:latin typeface="Arial"/>
              <a:ea typeface="Arial"/>
              <a:cs typeface="Arial"/>
              <a:sym typeface="Arial"/>
            </a:endParaRPr>
          </a:p>
        </p:txBody>
      </p:sp>
      <p:sp>
        <p:nvSpPr>
          <p:cNvPr id="790" name="Google Shape;790;p1"/>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1" name="Google Shape;791;p1"/>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2" name="Google Shape;792;p1"/>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3" name="Google Shape;793;p1"/>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4" name="Google Shape;794;p1"/>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5" name="Google Shape;795;p1"/>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6" name="Google Shape;796;p1"/>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7" name="Google Shape;797;p1"/>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8" name="Google Shape;798;p1"/>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799" name="Google Shape;799;p1"/>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0" name="Google Shape;800;p1"/>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1" name="Google Shape;801;p1"/>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2" name="Google Shape;802;p1"/>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3" name="Google Shape;803;p1"/>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4" name="Google Shape;804;p1"/>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5" name="Google Shape;805;p1"/>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6" name="Google Shape;806;p1"/>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7" name="Google Shape;807;p1"/>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8" name="Google Shape;808;p1"/>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09" name="Google Shape;809;p1"/>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0" name="Google Shape;810;p1"/>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1" name="Google Shape;811;p1"/>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2" name="Google Shape;812;p1"/>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3" name="Google Shape;813;p1"/>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4" name="Google Shape;814;p1"/>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5" name="Google Shape;815;p1"/>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6" name="Google Shape;816;p1"/>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7" name="Google Shape;817;p1"/>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8" name="Google Shape;818;p1"/>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19" name="Google Shape;819;p1"/>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0" name="Google Shape;820;p1"/>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1" name="Google Shape;821;p1"/>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2" name="Google Shape;822;p1"/>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3" name="Google Shape;823;p1"/>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4" name="Google Shape;824;p1"/>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5" name="Google Shape;825;p1"/>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6" name="Google Shape;826;p1"/>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7" name="Google Shape;827;p1"/>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8" name="Google Shape;828;p1"/>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29" name="Google Shape;829;p1"/>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0" name="Google Shape;830;p1"/>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1" name="Google Shape;831;p1"/>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2" name="Google Shape;832;p1"/>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3" name="Google Shape;833;p1"/>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4" name="Google Shape;834;p1"/>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5" name="Google Shape;835;p1"/>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6" name="Google Shape;836;p1"/>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7" name="Google Shape;837;p1"/>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38" name="Google Shape;838;p1"/>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839" name="Google Shape;839;p1"/>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0" name="Google Shape;840;p1"/>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1" name="Google Shape;841;p1"/>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2" name="Google Shape;842;p1"/>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3" name="Google Shape;843;p1"/>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4" name="Google Shape;844;p1"/>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 name="Google Shape;845;p1"/>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1"/>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 name="Google Shape;847;p1"/>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8" name="Google Shape;848;p1"/>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9" name="Google Shape;849;p1"/>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0" name="Google Shape;850;p1"/>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1" name="Google Shape;851;p1"/>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2" name="Google Shape;852;p1"/>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3" name="Google Shape;853;p1"/>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4" name="Google Shape;854;p1"/>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5" name="Google Shape;855;p1"/>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6" name="Google Shape;856;p1"/>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 name="Google Shape;857;p1"/>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8" name="Google Shape;858;p1"/>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9" name="Google Shape;859;p1"/>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0" name="Google Shape;860;p1"/>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1" name="Google Shape;861;p1"/>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2" name="Google Shape;862;p1"/>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863" name="Google Shape;863;p1"/>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864" name="Google Shape;864;p1"/>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5" name="Google Shape;865;p1"/>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866" name="Google Shape;866;p1"/>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867" name="Google Shape;867;p1"/>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868" name="Google Shape;868;p1"/>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869" name="Google Shape;869;p1"/>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870" name="Google Shape;870;p1"/>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a:t>
            </a:r>
            <a:endParaRPr/>
          </a:p>
        </p:txBody>
      </p:sp>
      <p:pic>
        <p:nvPicPr>
          <p:cNvPr descr="PU-H-Full-RGB.png" id="871" name="Google Shape;871;p1"/>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872" name="Google Shape;872;p1"/>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873" name="Google Shape;873;p1"/>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874" name="Google Shape;874;p1"/>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Michela Taufer</a:t>
            </a:r>
            <a:endParaRPr/>
          </a:p>
        </p:txBody>
      </p:sp>
      <p:sp>
        <p:nvSpPr>
          <p:cNvPr id="875" name="Google Shape;875;p1"/>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0">
                <a:solidFill>
                  <a:srgbClr val="5F7385"/>
                </a:solidFill>
                <a:latin typeface="Arial"/>
                <a:ea typeface="Arial"/>
                <a:cs typeface="Arial"/>
                <a:sym typeface="Arial"/>
              </a:rPr>
              <a:t>Summit Organizer</a:t>
            </a:r>
            <a:endParaRPr/>
          </a:p>
        </p:txBody>
      </p:sp>
      <p:sp>
        <p:nvSpPr>
          <p:cNvPr id="876" name="Google Shape;876;p1"/>
          <p:cNvSpPr txBox="1"/>
          <p:nvPr/>
        </p:nvSpPr>
        <p:spPr>
          <a:xfrm>
            <a:off x="4343400" y="128016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Tennessee, Knoxville</a:t>
            </a:r>
            <a:endParaRPr/>
          </a:p>
        </p:txBody>
      </p:sp>
      <p:sp>
        <p:nvSpPr>
          <p:cNvPr id="877" name="Google Shape;877;p1"/>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WELCOME · 15 MIN</a:t>
            </a:r>
            <a:endParaRPr/>
          </a:p>
        </p:txBody>
      </p:sp>
      <p:sp>
        <p:nvSpPr>
          <p:cNvPr id="878" name="Google Shape;878;p1"/>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Welcome: The Collaboration Challenge</a:t>
            </a:r>
            <a:endParaRPr/>
          </a:p>
        </p:txBody>
      </p:sp>
      <p:sp>
        <p:nvSpPr>
          <p:cNvPr id="879" name="Google Shape;879;p1"/>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NSDF Summit on Federated Autonomous Science</a:t>
            </a:r>
            <a:endParaRPr/>
          </a:p>
        </p:txBody>
      </p:sp>
      <p:sp>
        <p:nvSpPr>
          <p:cNvPr id="880" name="Google Shape;880;p1"/>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9:00–9:15 AM CT</a:t>
            </a:r>
            <a:endParaRPr/>
          </a:p>
        </p:txBody>
      </p:sp>
      <p:sp>
        <p:nvSpPr>
          <p:cNvPr id="881" name="Google Shape;881;p1"/>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882" name="Google Shape;882;p1"/>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883" name="Google Shape;883;p1"/>
          <p:cNvPicPr preferRelativeResize="0"/>
          <p:nvPr/>
        </p:nvPicPr>
        <p:blipFill rotWithShape="1">
          <a:blip r:embed="rId10">
            <a:alphaModFix/>
          </a:blip>
          <a:srcRect b="0" l="0" r="0" t="0"/>
          <a:stretch/>
        </p:blipFill>
        <p:spPr>
          <a:xfrm>
            <a:off x="9144000" y="59358"/>
            <a:ext cx="2981325" cy="1529108"/>
          </a:xfrm>
          <a:prstGeom prst="rect">
            <a:avLst/>
          </a:prstGeom>
          <a:noFill/>
          <a:ln>
            <a:noFill/>
          </a:ln>
        </p:spPr>
      </p:pic>
      <p:pic>
        <p:nvPicPr>
          <p:cNvPr descr="Michela Taufer" id="884" name="Google Shape;884;p1"/>
          <p:cNvPicPr preferRelativeResize="0"/>
          <p:nvPr/>
        </p:nvPicPr>
        <p:blipFill rotWithShape="1">
          <a:blip r:embed="rId11">
            <a:alphaModFix/>
          </a:blip>
          <a:srcRect b="0" l="0" r="0" t="0"/>
          <a:stretch/>
        </p:blipFill>
        <p:spPr>
          <a:xfrm>
            <a:off x="314125" y="2073175"/>
            <a:ext cx="3306900" cy="3132000"/>
          </a:xfrm>
          <a:prstGeom prst="ellipse">
            <a:avLst/>
          </a:prstGeom>
          <a:noFill/>
          <a:ln>
            <a:noFill/>
          </a:ln>
        </p:spPr>
      </p:pic>
      <p:sp>
        <p:nvSpPr>
          <p:cNvPr id="885" name="Google Shape;885;p1"/>
          <p:cNvSpPr txBox="1"/>
          <p:nvPr/>
        </p:nvSpPr>
        <p:spPr>
          <a:xfrm>
            <a:off x="4343400" y="3694176"/>
            <a:ext cx="667512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Michela Taufer is a MathWorks Professor and ACM Distinguished Scientist specializing in high-performance and heterogeneous computing, cloud computing, and performance optimization of scientific applications. She is a leader in interdisciplinary computational research and has held prominent leadership roles in the ACM and IEEE high-performance computing communities.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2"/>
          <p:cNvSpPr/>
          <p:nvPr/>
        </p:nvSpPr>
        <p:spPr>
          <a:xfrm>
            <a:off x="271517" y="234186"/>
            <a:ext cx="12445695" cy="6717861"/>
          </a:xfrm>
          <a:prstGeom prst="rect">
            <a:avLst/>
          </a:prstGeom>
          <a:solidFill>
            <a:schemeClr val="lt1"/>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Valerio Pascucci is as research has advanced the analysis and visualization</a:t>
            </a:r>
            <a:endParaRPr sz="1800">
              <a:solidFill>
                <a:schemeClr val="lt1"/>
              </a:solidFill>
              <a:latin typeface="Calibri"/>
              <a:ea typeface="Calibri"/>
              <a:cs typeface="Calibri"/>
              <a:sym typeface="Calibri"/>
            </a:endParaRPr>
          </a:p>
        </p:txBody>
      </p:sp>
      <p:sp>
        <p:nvSpPr>
          <p:cNvPr id="892" name="Google Shape;892;p2"/>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93" name="Google Shape;893;p2"/>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94" name="Google Shape;894;p2"/>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95" name="Google Shape;895;p2"/>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96" name="Google Shape;896;p2"/>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97" name="Google Shape;897;p2"/>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98" name="Google Shape;898;p2"/>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899" name="Google Shape;899;p2"/>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0" name="Google Shape;900;p2"/>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1" name="Google Shape;901;p2"/>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2" name="Google Shape;902;p2"/>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3" name="Google Shape;903;p2"/>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4" name="Google Shape;904;p2"/>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5" name="Google Shape;905;p2"/>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6" name="Google Shape;906;p2"/>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7" name="Google Shape;907;p2"/>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8" name="Google Shape;908;p2"/>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09" name="Google Shape;909;p2"/>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0" name="Google Shape;910;p2"/>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1" name="Google Shape;911;p2"/>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2" name="Google Shape;912;p2"/>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3" name="Google Shape;913;p2"/>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4" name="Google Shape;914;p2"/>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5" name="Google Shape;915;p2"/>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6" name="Google Shape;916;p2"/>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7" name="Google Shape;917;p2"/>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8" name="Google Shape;918;p2"/>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19" name="Google Shape;919;p2"/>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0" name="Google Shape;920;p2"/>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1" name="Google Shape;921;p2"/>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2" name="Google Shape;922;p2"/>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3" name="Google Shape;923;p2"/>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4" name="Google Shape;924;p2"/>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5" name="Google Shape;925;p2"/>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6" name="Google Shape;926;p2"/>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7" name="Google Shape;927;p2"/>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8" name="Google Shape;928;p2"/>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29" name="Google Shape;929;p2"/>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0" name="Google Shape;930;p2"/>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1" name="Google Shape;931;p2"/>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2" name="Google Shape;932;p2"/>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3" name="Google Shape;933;p2"/>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4" name="Google Shape;934;p2"/>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5" name="Google Shape;935;p2"/>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6" name="Google Shape;936;p2"/>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7" name="Google Shape;937;p2"/>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8" name="Google Shape;938;p2"/>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39" name="Google Shape;939;p2"/>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40" name="Google Shape;940;p2"/>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941" name="Google Shape;941;p2"/>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2" name="Google Shape;942;p2"/>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3" name="Google Shape;943;p2"/>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4" name="Google Shape;944;p2"/>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5" name="Google Shape;945;p2"/>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6" name="Google Shape;946;p2"/>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7" name="Google Shape;947;p2"/>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8" name="Google Shape;948;p2"/>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9" name="Google Shape;949;p2"/>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0" name="Google Shape;950;p2"/>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1" name="Google Shape;951;p2"/>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2" name="Google Shape;952;p2"/>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3" name="Google Shape;953;p2"/>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4" name="Google Shape;954;p2"/>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5" name="Google Shape;955;p2"/>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6" name="Google Shape;956;p2"/>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7" name="Google Shape;957;p2"/>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8" name="Google Shape;958;p2"/>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9" name="Google Shape;959;p2"/>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0" name="Google Shape;960;p2"/>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1" name="Google Shape;961;p2"/>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2" name="Google Shape;962;p2"/>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3" name="Google Shape;963;p2"/>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4" name="Google Shape;964;p2"/>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965" name="Google Shape;965;p2"/>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966" name="Google Shape;966;p2"/>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7" name="Google Shape;967;p2"/>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968" name="Google Shape;968;p2"/>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969" name="Google Shape;969;p2"/>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970" name="Google Shape;970;p2"/>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971" name="Google Shape;971;p2"/>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972" name="Google Shape;972;p2"/>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a:t>
            </a:r>
            <a:endParaRPr/>
          </a:p>
        </p:txBody>
      </p:sp>
      <p:pic>
        <p:nvPicPr>
          <p:cNvPr descr="PU-H-Full-RGB.png" id="973" name="Google Shape;973;p2"/>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974" name="Google Shape;974;p2"/>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975" name="Google Shape;975;p2"/>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976" name="Google Shape;976;p2"/>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Valerio Pascucci</a:t>
            </a:r>
            <a:endParaRPr/>
          </a:p>
        </p:txBody>
      </p:sp>
      <p:sp>
        <p:nvSpPr>
          <p:cNvPr id="977" name="Google Shape;977;p2"/>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0">
                <a:solidFill>
                  <a:srgbClr val="5F7385"/>
                </a:solidFill>
                <a:latin typeface="Arial"/>
                <a:ea typeface="Arial"/>
                <a:cs typeface="Arial"/>
                <a:sym typeface="Arial"/>
              </a:rPr>
              <a:t>Summit Organizer</a:t>
            </a:r>
            <a:endParaRPr/>
          </a:p>
        </p:txBody>
      </p:sp>
      <p:sp>
        <p:nvSpPr>
          <p:cNvPr id="978" name="Google Shape;978;p2"/>
          <p:cNvSpPr txBox="1"/>
          <p:nvPr/>
        </p:nvSpPr>
        <p:spPr>
          <a:xfrm>
            <a:off x="4343400" y="128016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Utah</a:t>
            </a:r>
            <a:endParaRPr/>
          </a:p>
        </p:txBody>
      </p:sp>
      <p:sp>
        <p:nvSpPr>
          <p:cNvPr id="979" name="Google Shape;979;p2"/>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WELCOME · 15 MIN</a:t>
            </a:r>
            <a:endParaRPr/>
          </a:p>
        </p:txBody>
      </p:sp>
      <p:sp>
        <p:nvSpPr>
          <p:cNvPr id="980" name="Google Shape;980;p2"/>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Welcome: The Collaboration Challenge</a:t>
            </a:r>
            <a:endParaRPr/>
          </a:p>
        </p:txBody>
      </p:sp>
      <p:sp>
        <p:nvSpPr>
          <p:cNvPr id="981" name="Google Shape;981;p2"/>
          <p:cNvSpPr txBox="1"/>
          <p:nvPr/>
        </p:nvSpPr>
        <p:spPr>
          <a:xfrm>
            <a:off x="4343400" y="3050662"/>
            <a:ext cx="7151765" cy="5012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NSDF Summit on Federated Autonomous Science</a:t>
            </a:r>
            <a:endParaRPr/>
          </a:p>
        </p:txBody>
      </p:sp>
      <p:sp>
        <p:nvSpPr>
          <p:cNvPr id="982" name="Google Shape;982;p2"/>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9:00–9:15 AM CT</a:t>
            </a:r>
            <a:endParaRPr/>
          </a:p>
        </p:txBody>
      </p:sp>
      <p:sp>
        <p:nvSpPr>
          <p:cNvPr id="983" name="Google Shape;983;p2"/>
          <p:cNvSpPr txBox="1"/>
          <p:nvPr/>
        </p:nvSpPr>
        <p:spPr>
          <a:xfrm>
            <a:off x="4343400" y="3931920"/>
            <a:ext cx="3429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1" i="0" sz="1200">
              <a:solidFill>
                <a:srgbClr val="5F7385"/>
              </a:solidFill>
              <a:latin typeface="Arial"/>
              <a:ea typeface="Arial"/>
              <a:cs typeface="Arial"/>
              <a:sym typeface="Arial"/>
            </a:endParaRPr>
          </a:p>
        </p:txBody>
      </p:sp>
      <p:sp>
        <p:nvSpPr>
          <p:cNvPr id="984" name="Google Shape;984;p2"/>
          <p:cNvSpPr txBox="1"/>
          <p:nvPr/>
        </p:nvSpPr>
        <p:spPr>
          <a:xfrm>
            <a:off x="4343399" y="3738078"/>
            <a:ext cx="6990907" cy="13551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985" name="Google Shape;985;p2"/>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986" name="Google Shape;986;p2"/>
          <p:cNvSpPr txBox="1"/>
          <p:nvPr/>
        </p:nvSpPr>
        <p:spPr>
          <a:xfrm>
            <a:off x="4193149" y="3730507"/>
            <a:ext cx="7016506" cy="9917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1" i="0" sz="1200">
              <a:solidFill>
                <a:srgbClr val="5F7385"/>
              </a:solidFill>
              <a:latin typeface="Arial"/>
              <a:ea typeface="Arial"/>
              <a:cs typeface="Arial"/>
              <a:sym typeface="Arial"/>
            </a:endParaRPr>
          </a:p>
        </p:txBody>
      </p:sp>
      <p:pic>
        <p:nvPicPr>
          <p:cNvPr descr="UU-Logo-CTR_RED.png" id="987" name="Google Shape;987;p2"/>
          <p:cNvPicPr preferRelativeResize="0"/>
          <p:nvPr/>
        </p:nvPicPr>
        <p:blipFill rotWithShape="1">
          <a:blip r:embed="rId6">
            <a:alphaModFix/>
          </a:blip>
          <a:srcRect b="0" l="0" r="0" t="0"/>
          <a:stretch/>
        </p:blipFill>
        <p:spPr>
          <a:xfrm>
            <a:off x="10163692" y="407706"/>
            <a:ext cx="1562735" cy="1220227"/>
          </a:xfrm>
          <a:prstGeom prst="rect">
            <a:avLst/>
          </a:prstGeom>
          <a:noFill/>
          <a:ln>
            <a:noFill/>
          </a:ln>
        </p:spPr>
      </p:pic>
      <p:pic>
        <p:nvPicPr>
          <p:cNvPr descr="Valerio Pascucci" id="988" name="Google Shape;988;p2"/>
          <p:cNvPicPr preferRelativeResize="0"/>
          <p:nvPr/>
        </p:nvPicPr>
        <p:blipFill rotWithShape="1">
          <a:blip r:embed="rId10">
            <a:alphaModFix/>
          </a:blip>
          <a:srcRect b="0" l="0" r="0" t="0"/>
          <a:stretch/>
        </p:blipFill>
        <p:spPr>
          <a:xfrm>
            <a:off x="358313" y="2320688"/>
            <a:ext cx="2989200" cy="2701500"/>
          </a:xfrm>
          <a:prstGeom prst="ellipse">
            <a:avLst/>
          </a:prstGeom>
          <a:noFill/>
          <a:ln>
            <a:noFill/>
          </a:ln>
        </p:spPr>
      </p:pic>
      <p:sp>
        <p:nvSpPr>
          <p:cNvPr id="989" name="Google Shape;989;p2"/>
          <p:cNvSpPr txBox="1"/>
          <p:nvPr/>
        </p:nvSpPr>
        <p:spPr>
          <a:xfrm>
            <a:off x="4346904" y="3915542"/>
            <a:ext cx="6568746"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Valerio Pascucci is a distinguished Professor of Computer Science at the University of Utah and an internationally recognized leader in scientific visualization, computational topology, and large-scale data analytics. His research has advanced the analysis and visualization of massive scientific datasets, combining academic leadership with extensive experience at U.S. national laboratories.</a:t>
            </a:r>
            <a:endParaRPr sz="14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3"/>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996" name="Google Shape;996;p3"/>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97" name="Google Shape;997;p3"/>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98" name="Google Shape;998;p3"/>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999" name="Google Shape;999;p3"/>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0" name="Google Shape;1000;p3"/>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1" name="Google Shape;1001;p3"/>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2" name="Google Shape;1002;p3"/>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3" name="Google Shape;1003;p3"/>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4" name="Google Shape;1004;p3"/>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5" name="Google Shape;1005;p3"/>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6" name="Google Shape;1006;p3"/>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7" name="Google Shape;1007;p3"/>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8" name="Google Shape;1008;p3"/>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09" name="Google Shape;1009;p3"/>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0" name="Google Shape;1010;p3"/>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1" name="Google Shape;1011;p3"/>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2" name="Google Shape;1012;p3"/>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3" name="Google Shape;1013;p3"/>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4" name="Google Shape;1014;p3"/>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5" name="Google Shape;1015;p3"/>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6" name="Google Shape;1016;p3"/>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7" name="Google Shape;1017;p3"/>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8" name="Google Shape;1018;p3"/>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19" name="Google Shape;1019;p3"/>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0" name="Google Shape;1020;p3"/>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1" name="Google Shape;1021;p3"/>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2" name="Google Shape;1022;p3"/>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3" name="Google Shape;1023;p3"/>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4" name="Google Shape;1024;p3"/>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5" name="Google Shape;1025;p3"/>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6" name="Google Shape;1026;p3"/>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7" name="Google Shape;1027;p3"/>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8" name="Google Shape;1028;p3"/>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29" name="Google Shape;1029;p3"/>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0" name="Google Shape;1030;p3"/>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1" name="Google Shape;1031;p3"/>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2" name="Google Shape;1032;p3"/>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3" name="Google Shape;1033;p3"/>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4" name="Google Shape;1034;p3"/>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5" name="Google Shape;1035;p3"/>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6" name="Google Shape;1036;p3"/>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7" name="Google Shape;1037;p3"/>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8" name="Google Shape;1038;p3"/>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39" name="Google Shape;1039;p3"/>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40" name="Google Shape;1040;p3"/>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41" name="Google Shape;1041;p3"/>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42" name="Google Shape;1042;p3"/>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43" name="Google Shape;1043;p3"/>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044" name="Google Shape;1044;p3"/>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5" name="Google Shape;1045;p3"/>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6" name="Google Shape;1046;p3"/>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7" name="Google Shape;1047;p3"/>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8" name="Google Shape;1048;p3"/>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9" name="Google Shape;1049;p3"/>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0" name="Google Shape;1050;p3"/>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1" name="Google Shape;1051;p3"/>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2" name="Google Shape;1052;p3"/>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3" name="Google Shape;1053;p3"/>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4" name="Google Shape;1054;p3"/>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5" name="Google Shape;1055;p3"/>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6" name="Google Shape;1056;p3"/>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7" name="Google Shape;1057;p3"/>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8" name="Google Shape;1058;p3"/>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9" name="Google Shape;1059;p3"/>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0" name="Google Shape;1060;p3"/>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1" name="Google Shape;1061;p3"/>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2" name="Google Shape;1062;p3"/>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3" name="Google Shape;1063;p3"/>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4" name="Google Shape;1064;p3"/>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5" name="Google Shape;1065;p3"/>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6" name="Google Shape;1066;p3"/>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7" name="Google Shape;1067;p3"/>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068" name="Google Shape;1068;p3"/>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069" name="Google Shape;1069;p3"/>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0" name="Google Shape;1070;p3"/>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071" name="Google Shape;1071;p3"/>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072" name="Google Shape;1072;p3"/>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073" name="Google Shape;1073;p3"/>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074" name="Google Shape;1074;p3"/>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075" name="Google Shape;1075;p3"/>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a:t>
            </a:r>
            <a:endParaRPr/>
          </a:p>
        </p:txBody>
      </p:sp>
      <p:pic>
        <p:nvPicPr>
          <p:cNvPr descr="PU-H-Full-RGB.png" id="1076" name="Google Shape;1076;p3"/>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077" name="Google Shape;1077;p3"/>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078" name="Google Shape;1078;p3"/>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079" name="Google Shape;1079;p3"/>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Todd Hufnagel</a:t>
            </a:r>
            <a:endParaRPr/>
          </a:p>
        </p:txBody>
      </p:sp>
      <p:sp>
        <p:nvSpPr>
          <p:cNvPr id="1080" name="Google Shape;1080;p3"/>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1" name="Google Shape;1081;p3"/>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Johns Hopkins University</a:t>
            </a:r>
            <a:endParaRPr/>
          </a:p>
        </p:txBody>
      </p:sp>
      <p:sp>
        <p:nvSpPr>
          <p:cNvPr id="1082" name="Google Shape;1082;p3"/>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15 MIN</a:t>
            </a:r>
            <a:endParaRPr/>
          </a:p>
        </p:txBody>
      </p:sp>
      <p:sp>
        <p:nvSpPr>
          <p:cNvPr id="1083" name="Google Shape;1083;p3"/>
          <p:cNvSpPr txBox="1"/>
          <p:nvPr/>
        </p:nvSpPr>
        <p:spPr>
          <a:xfrm>
            <a:off x="4343400" y="2121408"/>
            <a:ext cx="7178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00">
                <a:solidFill>
                  <a:srgbClr val="082B4C"/>
                </a:solidFill>
                <a:latin typeface="Arial"/>
                <a:ea typeface="Arial"/>
                <a:cs typeface="Arial"/>
                <a:sym typeface="Arial"/>
              </a:rPr>
              <a:t>Materials Science: Artificial Intelligence for Materials Design PCL Node AIMD-Net</a:t>
            </a:r>
            <a:endParaRPr/>
          </a:p>
        </p:txBody>
      </p:sp>
      <p:sp>
        <p:nvSpPr>
          <p:cNvPr id="1084" name="Google Shape;1084;p3"/>
          <p:cNvSpPr txBox="1"/>
          <p:nvPr/>
        </p:nvSpPr>
        <p:spPr>
          <a:xfrm>
            <a:off x="4343400" y="2889503"/>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Foundations for Federated Autonomous Science</a:t>
            </a:r>
            <a:endParaRPr/>
          </a:p>
        </p:txBody>
      </p:sp>
      <p:sp>
        <p:nvSpPr>
          <p:cNvPr id="1085" name="Google Shape;1085;p3"/>
          <p:cNvSpPr txBox="1"/>
          <p:nvPr/>
        </p:nvSpPr>
        <p:spPr>
          <a:xfrm>
            <a:off x="4343400" y="316382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9:15–10:00 AM CT</a:t>
            </a:r>
            <a:endParaRPr/>
          </a:p>
        </p:txBody>
      </p:sp>
      <p:sp>
        <p:nvSpPr>
          <p:cNvPr id="1086" name="Google Shape;1086;p3"/>
          <p:cNvSpPr txBox="1"/>
          <p:nvPr/>
        </p:nvSpPr>
        <p:spPr>
          <a:xfrm>
            <a:off x="4343399" y="3696930"/>
            <a:ext cx="6150935" cy="1396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Todd Hufnagel is a Professor of Materials Science and Engineering at Johns Hopkins University and an expert in structural materials, nanomaterials, X-ray scattering, 3D microstructures, and metals. He also serves as Associate Director of the Materials Science in Extreme Environments University Research Alliance, an 18-institution research collaboration focused on materials under extreme conditions.</a:t>
            </a:r>
            <a:endParaRPr/>
          </a:p>
        </p:txBody>
      </p:sp>
      <p:sp>
        <p:nvSpPr>
          <p:cNvPr id="1087" name="Google Shape;1087;p3"/>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1088" name="Google Shape;1088;p3"/>
          <p:cNvPicPr preferRelativeResize="0"/>
          <p:nvPr/>
        </p:nvPicPr>
        <p:blipFill rotWithShape="1">
          <a:blip r:embed="rId10">
            <a:alphaModFix/>
          </a:blip>
          <a:srcRect b="0" l="0" r="0" t="0"/>
          <a:stretch/>
        </p:blipFill>
        <p:spPr>
          <a:xfrm>
            <a:off x="9002485" y="3855"/>
            <a:ext cx="2913743" cy="1770290"/>
          </a:xfrm>
          <a:prstGeom prst="rect">
            <a:avLst/>
          </a:prstGeom>
          <a:noFill/>
          <a:ln>
            <a:noFill/>
          </a:ln>
        </p:spPr>
      </p:pic>
      <p:pic>
        <p:nvPicPr>
          <p:cNvPr id="1089" name="Google Shape;1089;p3"/>
          <p:cNvPicPr preferRelativeResize="0"/>
          <p:nvPr/>
        </p:nvPicPr>
        <p:blipFill rotWithShape="1">
          <a:blip r:embed="rId11">
            <a:alphaModFix/>
          </a:blip>
          <a:srcRect b="0" l="0" r="0" t="0"/>
          <a:stretch/>
        </p:blipFill>
        <p:spPr>
          <a:xfrm>
            <a:off x="497816" y="2273420"/>
            <a:ext cx="2857500" cy="28575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4"/>
          <p:cNvSpPr/>
          <p:nvPr/>
        </p:nvSpPr>
        <p:spPr>
          <a:xfrm>
            <a:off x="4345520" y="3592284"/>
            <a:ext cx="7383838" cy="127000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Meng-Jen “Vince” Wang is an Assistant Professor of Nuclear Engineering at the University of Utah specializing in computational particle transport, reactor physics, radiation shielding, and multiphysics simulation. His research combines high-performance computing and advanced numerical methods to develop predictive models and digital twins of nuclear reactors, complemented by industry experience in advanced reactor design and a U.S. NRC Senior Reactor Operator license.</a:t>
            </a:r>
            <a:endParaRPr/>
          </a:p>
        </p:txBody>
      </p:sp>
      <p:sp>
        <p:nvSpPr>
          <p:cNvPr id="1096" name="Google Shape;1096;p4"/>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97" name="Google Shape;1097;p4"/>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98" name="Google Shape;1098;p4"/>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099" name="Google Shape;1099;p4"/>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0" name="Google Shape;1100;p4"/>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1" name="Google Shape;1101;p4"/>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2" name="Google Shape;1102;p4"/>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3" name="Google Shape;1103;p4"/>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4" name="Google Shape;1104;p4"/>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5" name="Google Shape;1105;p4"/>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6" name="Google Shape;1106;p4"/>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7" name="Google Shape;1107;p4"/>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8" name="Google Shape;1108;p4"/>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09" name="Google Shape;1109;p4"/>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0" name="Google Shape;1110;p4"/>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1" name="Google Shape;1111;p4"/>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2" name="Google Shape;1112;p4"/>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3" name="Google Shape;1113;p4"/>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4" name="Google Shape;1114;p4"/>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5" name="Google Shape;1115;p4"/>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6" name="Google Shape;1116;p4"/>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7" name="Google Shape;1117;p4"/>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8" name="Google Shape;1118;p4"/>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19" name="Google Shape;1119;p4"/>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0" name="Google Shape;1120;p4"/>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1" name="Google Shape;1121;p4"/>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2" name="Google Shape;1122;p4"/>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3" name="Google Shape;1123;p4"/>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4" name="Google Shape;1124;p4"/>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5" name="Google Shape;1125;p4"/>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6" name="Google Shape;1126;p4"/>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7" name="Google Shape;1127;p4"/>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8" name="Google Shape;1128;p4"/>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29" name="Google Shape;1129;p4"/>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0" name="Google Shape;1130;p4"/>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1" name="Google Shape;1131;p4"/>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2" name="Google Shape;1132;p4"/>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3" name="Google Shape;1133;p4"/>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4" name="Google Shape;1134;p4"/>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5" name="Google Shape;1135;p4"/>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6" name="Google Shape;1136;p4"/>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7" name="Google Shape;1137;p4"/>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8" name="Google Shape;1138;p4"/>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39" name="Google Shape;1139;p4"/>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40" name="Google Shape;1140;p4"/>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41" name="Google Shape;1141;p4"/>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42" name="Google Shape;1142;p4"/>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43" name="Google Shape;1143;p4"/>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44" name="Google Shape;1144;p4"/>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145" name="Google Shape;1145;p4"/>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6" name="Google Shape;1146;p4"/>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7" name="Google Shape;1147;p4"/>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8" name="Google Shape;1148;p4"/>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9" name="Google Shape;1149;p4"/>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0" name="Google Shape;1150;p4"/>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1" name="Google Shape;1151;p4"/>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2" name="Google Shape;1152;p4"/>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3" name="Google Shape;1153;p4"/>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4" name="Google Shape;1154;p4"/>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5" name="Google Shape;1155;p4"/>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6" name="Google Shape;1156;p4"/>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7" name="Google Shape;1157;p4"/>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8" name="Google Shape;1158;p4"/>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9" name="Google Shape;1159;p4"/>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0" name="Google Shape;1160;p4"/>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1" name="Google Shape;1161;p4"/>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2" name="Google Shape;1162;p4"/>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3" name="Google Shape;1163;p4"/>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4" name="Google Shape;1164;p4"/>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5" name="Google Shape;1165;p4"/>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6" name="Google Shape;1166;p4"/>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7" name="Google Shape;1167;p4"/>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8" name="Google Shape;1168;p4"/>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169" name="Google Shape;1169;p4"/>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170" name="Google Shape;1170;p4"/>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1" name="Google Shape;1171;p4"/>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172" name="Google Shape;1172;p4"/>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173" name="Google Shape;1173;p4"/>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174" name="Google Shape;1174;p4"/>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175" name="Google Shape;1175;p4"/>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176" name="Google Shape;1176;p4"/>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4</a:t>
            </a:r>
            <a:endParaRPr/>
          </a:p>
        </p:txBody>
      </p:sp>
      <p:pic>
        <p:nvPicPr>
          <p:cNvPr descr="PU-H-Full-RGB.png" id="1177" name="Google Shape;1177;p4"/>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178" name="Google Shape;1178;p4"/>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179" name="Google Shape;1179;p4"/>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180" name="Google Shape;1180;p4"/>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Vince Wang</a:t>
            </a:r>
            <a:endParaRPr/>
          </a:p>
        </p:txBody>
      </p:sp>
      <p:sp>
        <p:nvSpPr>
          <p:cNvPr id="1181" name="Google Shape;1181;p4"/>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2" name="Google Shape;1182;p4"/>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Utah Nuclear Engineering Program</a:t>
            </a:r>
            <a:endParaRPr/>
          </a:p>
        </p:txBody>
      </p:sp>
      <p:sp>
        <p:nvSpPr>
          <p:cNvPr id="1183" name="Google Shape;1183;p4"/>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15 MIN</a:t>
            </a:r>
            <a:endParaRPr/>
          </a:p>
        </p:txBody>
      </p:sp>
      <p:sp>
        <p:nvSpPr>
          <p:cNvPr id="1184" name="Google Shape;1184;p4"/>
          <p:cNvSpPr txBox="1"/>
          <p:nvPr/>
        </p:nvSpPr>
        <p:spPr>
          <a:xfrm>
            <a:off x="4343400" y="2121408"/>
            <a:ext cx="7178040" cy="655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a:solidFill>
                  <a:srgbClr val="082B4C"/>
                </a:solidFill>
                <a:latin typeface="Arial"/>
                <a:ea typeface="Arial"/>
                <a:cs typeface="Arial"/>
                <a:sym typeface="Arial"/>
              </a:rPr>
              <a:t>Energy: Trustworthy Autonomous Control of Nuclear Reactors Through Federated Science</a:t>
            </a:r>
            <a:endParaRPr/>
          </a:p>
        </p:txBody>
      </p:sp>
      <p:sp>
        <p:nvSpPr>
          <p:cNvPr id="1185" name="Google Shape;1185;p4"/>
          <p:cNvSpPr txBox="1"/>
          <p:nvPr/>
        </p:nvSpPr>
        <p:spPr>
          <a:xfrm>
            <a:off x="4343400" y="285902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Foundations for Federated Autonomous Science</a:t>
            </a:r>
            <a:endParaRPr/>
          </a:p>
        </p:txBody>
      </p:sp>
      <p:sp>
        <p:nvSpPr>
          <p:cNvPr id="1186" name="Google Shape;1186;p4"/>
          <p:cNvSpPr txBox="1"/>
          <p:nvPr/>
        </p:nvSpPr>
        <p:spPr>
          <a:xfrm>
            <a:off x="4343400" y="313334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9:15–10:00 AM CT</a:t>
            </a:r>
            <a:endParaRPr/>
          </a:p>
        </p:txBody>
      </p:sp>
      <p:sp>
        <p:nvSpPr>
          <p:cNvPr id="1187" name="Google Shape;1187;p4"/>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4"/>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1189" name="Google Shape;1189;p4"/>
          <p:cNvPicPr preferRelativeResize="0"/>
          <p:nvPr/>
        </p:nvPicPr>
        <p:blipFill rotWithShape="1">
          <a:blip r:embed="rId10">
            <a:alphaModFix/>
          </a:blip>
          <a:srcRect b="0" l="0" r="0" t="0"/>
          <a:stretch/>
        </p:blipFill>
        <p:spPr>
          <a:xfrm>
            <a:off x="576035" y="2381252"/>
            <a:ext cx="2739571" cy="2657925"/>
          </a:xfrm>
          <a:prstGeom prst="ellipse">
            <a:avLst/>
          </a:prstGeom>
          <a:noFill/>
          <a:ln>
            <a:noFill/>
          </a:ln>
        </p:spPr>
      </p:pic>
      <p:pic>
        <p:nvPicPr>
          <p:cNvPr descr="UU-Logo-CTR_RED.png" id="1190" name="Google Shape;1190;p4"/>
          <p:cNvPicPr preferRelativeResize="0"/>
          <p:nvPr/>
        </p:nvPicPr>
        <p:blipFill rotWithShape="1">
          <a:blip r:embed="rId6">
            <a:alphaModFix/>
          </a:blip>
          <a:srcRect b="0" l="0" r="0" t="0"/>
          <a:stretch/>
        </p:blipFill>
        <p:spPr>
          <a:xfrm>
            <a:off x="10553625" y="248273"/>
            <a:ext cx="1034105" cy="9659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5"/>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7" name="Google Shape;1197;p5"/>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98" name="Google Shape;1198;p5"/>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199" name="Google Shape;1199;p5"/>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0" name="Google Shape;1200;p5"/>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1" name="Google Shape;1201;p5"/>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2" name="Google Shape;1202;p5"/>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3" name="Google Shape;1203;p5"/>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4" name="Google Shape;1204;p5"/>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5" name="Google Shape;1205;p5"/>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6" name="Google Shape;1206;p5"/>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7" name="Google Shape;1207;p5"/>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8" name="Google Shape;1208;p5"/>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09" name="Google Shape;1209;p5"/>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0" name="Google Shape;1210;p5"/>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1" name="Google Shape;1211;p5"/>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2" name="Google Shape;1212;p5"/>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3" name="Google Shape;1213;p5"/>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4" name="Google Shape;1214;p5"/>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5" name="Google Shape;1215;p5"/>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6" name="Google Shape;1216;p5"/>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7" name="Google Shape;1217;p5"/>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8" name="Google Shape;1218;p5"/>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19" name="Google Shape;1219;p5"/>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0" name="Google Shape;1220;p5"/>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1" name="Google Shape;1221;p5"/>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2" name="Google Shape;1222;p5"/>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3" name="Google Shape;1223;p5"/>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4" name="Google Shape;1224;p5"/>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5" name="Google Shape;1225;p5"/>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6" name="Google Shape;1226;p5"/>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7" name="Google Shape;1227;p5"/>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8" name="Google Shape;1228;p5"/>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29" name="Google Shape;1229;p5"/>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0" name="Google Shape;1230;p5"/>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1" name="Google Shape;1231;p5"/>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2" name="Google Shape;1232;p5"/>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3" name="Google Shape;1233;p5"/>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4" name="Google Shape;1234;p5"/>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5" name="Google Shape;1235;p5"/>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6" name="Google Shape;1236;p5"/>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7" name="Google Shape;1237;p5"/>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8" name="Google Shape;1238;p5"/>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39" name="Google Shape;1239;p5"/>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40" name="Google Shape;1240;p5"/>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41" name="Google Shape;1241;p5"/>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42" name="Google Shape;1242;p5"/>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43" name="Google Shape;1243;p5"/>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44" name="Google Shape;1244;p5"/>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245" name="Google Shape;1245;p5"/>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246" name="Google Shape;1246;p5"/>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7" name="Google Shape;1247;p5"/>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8" name="Google Shape;1248;p5"/>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9" name="Google Shape;1249;p5"/>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0" name="Google Shape;1250;p5"/>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1" name="Google Shape;1251;p5"/>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2" name="Google Shape;1252;p5"/>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3" name="Google Shape;1253;p5"/>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4" name="Google Shape;1254;p5"/>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5" name="Google Shape;1255;p5"/>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6" name="Google Shape;1256;p5"/>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7" name="Google Shape;1257;p5"/>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8" name="Google Shape;1258;p5"/>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9" name="Google Shape;1259;p5"/>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0" name="Google Shape;1260;p5"/>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1" name="Google Shape;1261;p5"/>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2" name="Google Shape;1262;p5"/>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3" name="Google Shape;1263;p5"/>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4" name="Google Shape;1264;p5"/>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5" name="Google Shape;1265;p5"/>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6" name="Google Shape;1266;p5"/>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7" name="Google Shape;1267;p5"/>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8" name="Google Shape;1268;p5"/>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9" name="Google Shape;1269;p5"/>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270" name="Google Shape;1270;p5"/>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271" name="Google Shape;1271;p5"/>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2" name="Google Shape;1272;p5"/>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273" name="Google Shape;1273;p5"/>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274" name="Google Shape;1274;p5"/>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275" name="Google Shape;1275;p5"/>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276" name="Google Shape;1276;p5"/>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277" name="Google Shape;1277;p5"/>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5</a:t>
            </a:r>
            <a:endParaRPr/>
          </a:p>
        </p:txBody>
      </p:sp>
      <p:pic>
        <p:nvPicPr>
          <p:cNvPr descr="PU-H-Full-RGB.png" id="1278" name="Google Shape;1278;p5"/>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279" name="Google Shape;1279;p5"/>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280" name="Google Shape;1280;p5"/>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281" name="Google Shape;1281;p5"/>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Mark A. Musen</a:t>
            </a:r>
            <a:endParaRPr/>
          </a:p>
        </p:txBody>
      </p:sp>
      <p:sp>
        <p:nvSpPr>
          <p:cNvPr id="1282" name="Google Shape;1282;p5"/>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3" name="Google Shape;1283;p5"/>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Stanford University</a:t>
            </a:r>
            <a:endParaRPr/>
          </a:p>
        </p:txBody>
      </p:sp>
      <p:sp>
        <p:nvSpPr>
          <p:cNvPr id="1284" name="Google Shape;1284;p5"/>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15 MIN</a:t>
            </a:r>
            <a:endParaRPr/>
          </a:p>
        </p:txBody>
      </p:sp>
      <p:sp>
        <p:nvSpPr>
          <p:cNvPr id="1285" name="Google Shape;1285;p5"/>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Health/Medical: The Need for Community Standards</a:t>
            </a:r>
            <a:endParaRPr/>
          </a:p>
        </p:txBody>
      </p:sp>
      <p:sp>
        <p:nvSpPr>
          <p:cNvPr id="1286" name="Google Shape;1286;p5"/>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Foundations for Federated Autonomous Science</a:t>
            </a:r>
            <a:endParaRPr/>
          </a:p>
        </p:txBody>
      </p:sp>
      <p:sp>
        <p:nvSpPr>
          <p:cNvPr id="1287" name="Google Shape;1287;p5"/>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9:15–10:00 AM CT</a:t>
            </a:r>
            <a:endParaRPr/>
          </a:p>
        </p:txBody>
      </p:sp>
      <p:sp>
        <p:nvSpPr>
          <p:cNvPr id="1288" name="Google Shape;1288;p5"/>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1289" name="Google Shape;1289;p5"/>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Mark Musen" id="1290" name="Google Shape;1290;p5"/>
          <p:cNvPicPr preferRelativeResize="0"/>
          <p:nvPr/>
        </p:nvPicPr>
        <p:blipFill rotWithShape="1">
          <a:blip r:embed="rId10">
            <a:alphaModFix/>
          </a:blip>
          <a:srcRect b="0" l="0" r="0" t="0"/>
          <a:stretch/>
        </p:blipFill>
        <p:spPr>
          <a:xfrm>
            <a:off x="605971" y="2356757"/>
            <a:ext cx="2743200" cy="2743200"/>
          </a:xfrm>
          <a:prstGeom prst="ellipse">
            <a:avLst/>
          </a:prstGeom>
          <a:noFill/>
          <a:ln>
            <a:noFill/>
          </a:ln>
        </p:spPr>
      </p:pic>
      <p:pic>
        <p:nvPicPr>
          <p:cNvPr id="1291" name="Google Shape;1291;p5"/>
          <p:cNvPicPr preferRelativeResize="0"/>
          <p:nvPr/>
        </p:nvPicPr>
        <p:blipFill rotWithShape="1">
          <a:blip r:embed="rId11">
            <a:alphaModFix/>
          </a:blip>
          <a:srcRect b="0" l="0" r="0" t="0"/>
          <a:stretch/>
        </p:blipFill>
        <p:spPr>
          <a:xfrm>
            <a:off x="9650186" y="423649"/>
            <a:ext cx="2080984" cy="404560"/>
          </a:xfrm>
          <a:prstGeom prst="rect">
            <a:avLst/>
          </a:prstGeom>
          <a:noFill/>
          <a:ln>
            <a:noFill/>
          </a:ln>
        </p:spPr>
      </p:pic>
      <p:sp>
        <p:nvSpPr>
          <p:cNvPr id="1292" name="Google Shape;1292;p5"/>
          <p:cNvSpPr txBox="1"/>
          <p:nvPr/>
        </p:nvSpPr>
        <p:spPr>
          <a:xfrm>
            <a:off x="4355515" y="3696931"/>
            <a:ext cx="6131056"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Mark Musen is the Stanford Medicine Professor of Computational Medicine and Chief of Stanford’s Division of Computational Medicine, with internationally recognized expertise in biomedical informatics, AI, knowledge representation, and open science. He led the development of Protégé, a widely used platform for building biomedical ontologies, and is an elected member of the National Academy of Medicine.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6"/>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9" name="Google Shape;1299;p6"/>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300" name="Google Shape;1300;p6"/>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1" name="Google Shape;1301;p6"/>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2" name="Google Shape;1302;p6"/>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3" name="Google Shape;1303;p6"/>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4" name="Google Shape;1304;p6"/>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5" name="Google Shape;1305;p6"/>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6" name="Google Shape;1306;p6"/>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7" name="Google Shape;1307;p6"/>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8" name="Google Shape;1308;p6"/>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09" name="Google Shape;1309;p6"/>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0" name="Google Shape;1310;p6"/>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1" name="Google Shape;1311;p6"/>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2" name="Google Shape;1312;p6"/>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3" name="Google Shape;1313;p6"/>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4" name="Google Shape;1314;p6"/>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5" name="Google Shape;1315;p6"/>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6" name="Google Shape;1316;p6"/>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7" name="Google Shape;1317;p6"/>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8" name="Google Shape;1318;p6"/>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19" name="Google Shape;1319;p6"/>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0" name="Google Shape;1320;p6"/>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1" name="Google Shape;1321;p6"/>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2" name="Google Shape;1322;p6"/>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3" name="Google Shape;1323;p6"/>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4" name="Google Shape;1324;p6"/>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5" name="Google Shape;1325;p6"/>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6" name="Google Shape;1326;p6"/>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7" name="Google Shape;1327;p6"/>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8" name="Google Shape;1328;p6"/>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29" name="Google Shape;1329;p6"/>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0" name="Google Shape;1330;p6"/>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1" name="Google Shape;1331;p6"/>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2" name="Google Shape;1332;p6"/>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3" name="Google Shape;1333;p6"/>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4" name="Google Shape;1334;p6"/>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5" name="Google Shape;1335;p6"/>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6" name="Google Shape;1336;p6"/>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7" name="Google Shape;1337;p6"/>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8" name="Google Shape;1338;p6"/>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39" name="Google Shape;1339;p6"/>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0" name="Google Shape;1340;p6"/>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1" name="Google Shape;1341;p6"/>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2" name="Google Shape;1342;p6"/>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3" name="Google Shape;1343;p6"/>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4" name="Google Shape;1344;p6"/>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5" name="Google Shape;1345;p6"/>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6" name="Google Shape;1346;p6"/>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347" name="Google Shape;1347;p6"/>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348" name="Google Shape;1348;p6"/>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9" name="Google Shape;1349;p6"/>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0" name="Google Shape;1350;p6"/>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1" name="Google Shape;1351;p6"/>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2" name="Google Shape;1352;p6"/>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3" name="Google Shape;1353;p6"/>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4" name="Google Shape;1354;p6"/>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5" name="Google Shape;1355;p6"/>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6" name="Google Shape;1356;p6"/>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7" name="Google Shape;1357;p6"/>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8" name="Google Shape;1358;p6"/>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9" name="Google Shape;1359;p6"/>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0" name="Google Shape;1360;p6"/>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1" name="Google Shape;1361;p6"/>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2" name="Google Shape;1362;p6"/>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3" name="Google Shape;1363;p6"/>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4" name="Google Shape;1364;p6"/>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5" name="Google Shape;1365;p6"/>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6" name="Google Shape;1366;p6"/>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7" name="Google Shape;1367;p6"/>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8" name="Google Shape;1368;p6"/>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9" name="Google Shape;1369;p6"/>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0" name="Google Shape;1370;p6"/>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1" name="Google Shape;1371;p6"/>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372" name="Google Shape;1372;p6"/>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373" name="Google Shape;1373;p6"/>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4" name="Google Shape;1374;p6"/>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375" name="Google Shape;1375;p6"/>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376" name="Google Shape;1376;p6"/>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377" name="Google Shape;1377;p6"/>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378" name="Google Shape;1378;p6"/>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379" name="Google Shape;1379;p6"/>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6</a:t>
            </a:r>
            <a:endParaRPr/>
          </a:p>
        </p:txBody>
      </p:sp>
      <p:pic>
        <p:nvPicPr>
          <p:cNvPr descr="PU-H-Full-RGB.png" id="1380" name="Google Shape;1380;p6"/>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381" name="Google Shape;1381;p6"/>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382" name="Google Shape;1382;p6"/>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383" name="Google Shape;1383;p6"/>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Mike Papka</a:t>
            </a:r>
            <a:endParaRPr/>
          </a:p>
        </p:txBody>
      </p:sp>
      <p:sp>
        <p:nvSpPr>
          <p:cNvPr id="1384" name="Google Shape;1384;p6"/>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0">
                <a:solidFill>
                  <a:srgbClr val="5F7385"/>
                </a:solidFill>
                <a:latin typeface="Arial"/>
                <a:ea typeface="Arial"/>
                <a:cs typeface="Arial"/>
                <a:sym typeface="Arial"/>
              </a:rPr>
              <a:t>Session Moderator</a:t>
            </a:r>
            <a:endParaRPr/>
          </a:p>
        </p:txBody>
      </p:sp>
      <p:sp>
        <p:nvSpPr>
          <p:cNvPr id="1385" name="Google Shape;1385;p6"/>
          <p:cNvSpPr txBox="1"/>
          <p:nvPr/>
        </p:nvSpPr>
        <p:spPr>
          <a:xfrm>
            <a:off x="4343400" y="128016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Argonne National Laboratory; University of Illinois Chicago</a:t>
            </a:r>
            <a:endParaRPr/>
          </a:p>
        </p:txBody>
      </p:sp>
      <p:sp>
        <p:nvSpPr>
          <p:cNvPr id="1386" name="Google Shape;1386;p6"/>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MODERATOR · 90 MIN</a:t>
            </a:r>
            <a:endParaRPr/>
          </a:p>
        </p:txBody>
      </p:sp>
      <p:sp>
        <p:nvSpPr>
          <p:cNvPr id="1387" name="Google Shape;1387;p6"/>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Science Domains and Trustworthy Autonomy</a:t>
            </a:r>
            <a:endParaRPr/>
          </a:p>
        </p:txBody>
      </p:sp>
      <p:sp>
        <p:nvSpPr>
          <p:cNvPr id="1388" name="Google Shape;1388;p6"/>
          <p:cNvSpPr txBox="1"/>
          <p:nvPr/>
        </p:nvSpPr>
        <p:spPr>
          <a:xfrm>
            <a:off x="4343400" y="30419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1389" name="Google Shape;1389;p6"/>
          <p:cNvSpPr txBox="1"/>
          <p:nvPr/>
        </p:nvSpPr>
        <p:spPr>
          <a:xfrm>
            <a:off x="4343399" y="3499529"/>
            <a:ext cx="6519333" cy="16549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Michael Papka is a Senior Scientist and Distinguished Fellow at Argonne National Laboratory, Deputy Associate Laboratory Director for Computing, Environment and Life Sciences, and Director of the Argonne Leadership Computing Facility, one of the nation’s premier scientific supercomputing facilities. His research and leadership span high-performance computing, large-scale data analysis and visualization, and advanced research infrastructure, with nearly 30 years of experience applying computation to accelerate scientific discovery.</a:t>
            </a:r>
            <a:endParaRPr/>
          </a:p>
        </p:txBody>
      </p:sp>
      <p:pic>
        <p:nvPicPr>
          <p:cNvPr descr="Michael E. Papka preview image" id="1390" name="Google Shape;1390;p6"/>
          <p:cNvPicPr preferRelativeResize="0"/>
          <p:nvPr/>
        </p:nvPicPr>
        <p:blipFill rotWithShape="1">
          <a:blip r:embed="rId10">
            <a:alphaModFix/>
          </a:blip>
          <a:srcRect b="0" l="0" r="0" t="0"/>
          <a:stretch/>
        </p:blipFill>
        <p:spPr>
          <a:xfrm>
            <a:off x="396919" y="2011764"/>
            <a:ext cx="3023320" cy="3023320"/>
          </a:xfrm>
          <a:prstGeom prst="ellipse">
            <a:avLst/>
          </a:prstGeom>
          <a:noFill/>
          <a:ln>
            <a:noFill/>
          </a:ln>
        </p:spPr>
      </p:pic>
      <p:pic>
        <p:nvPicPr>
          <p:cNvPr descr="File:Argonnelablogo.PNG - Wikimedia Commons" id="1391" name="Google Shape;1391;p6"/>
          <p:cNvPicPr preferRelativeResize="0"/>
          <p:nvPr/>
        </p:nvPicPr>
        <p:blipFill rotWithShape="1">
          <a:blip r:embed="rId11">
            <a:alphaModFix/>
          </a:blip>
          <a:srcRect b="0" l="0" r="0" t="0"/>
          <a:stretch/>
        </p:blipFill>
        <p:spPr>
          <a:xfrm>
            <a:off x="9372736" y="236226"/>
            <a:ext cx="2406649" cy="8343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7"/>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8" name="Google Shape;1398;p7"/>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399" name="Google Shape;1399;p7"/>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0" name="Google Shape;1400;p7"/>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1" name="Google Shape;1401;p7"/>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2" name="Google Shape;1402;p7"/>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3" name="Google Shape;1403;p7"/>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4" name="Google Shape;1404;p7"/>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5" name="Google Shape;1405;p7"/>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6" name="Google Shape;1406;p7"/>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7" name="Google Shape;1407;p7"/>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8" name="Google Shape;1408;p7"/>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09" name="Google Shape;1409;p7"/>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0" name="Google Shape;1410;p7"/>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1" name="Google Shape;1411;p7"/>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2" name="Google Shape;1412;p7"/>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3" name="Google Shape;1413;p7"/>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4" name="Google Shape;1414;p7"/>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5" name="Google Shape;1415;p7"/>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6" name="Google Shape;1416;p7"/>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7" name="Google Shape;1417;p7"/>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8" name="Google Shape;1418;p7"/>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19" name="Google Shape;1419;p7"/>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0" name="Google Shape;1420;p7"/>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1" name="Google Shape;1421;p7"/>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2" name="Google Shape;1422;p7"/>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3" name="Google Shape;1423;p7"/>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4" name="Google Shape;1424;p7"/>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5" name="Google Shape;1425;p7"/>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6" name="Google Shape;1426;p7"/>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7" name="Google Shape;1427;p7"/>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8" name="Google Shape;1428;p7"/>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29" name="Google Shape;1429;p7"/>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0" name="Google Shape;1430;p7"/>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1" name="Google Shape;1431;p7"/>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2" name="Google Shape;1432;p7"/>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3" name="Google Shape;1433;p7"/>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4" name="Google Shape;1434;p7"/>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5" name="Google Shape;1435;p7"/>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6" name="Google Shape;1436;p7"/>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7" name="Google Shape;1437;p7"/>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8" name="Google Shape;1438;p7"/>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39" name="Google Shape;1439;p7"/>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0" name="Google Shape;1440;p7"/>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1" name="Google Shape;1441;p7"/>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2" name="Google Shape;1442;p7"/>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3" name="Google Shape;1443;p7"/>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4" name="Google Shape;1444;p7"/>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5" name="Google Shape;1445;p7"/>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446" name="Google Shape;1446;p7"/>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447" name="Google Shape;1447;p7"/>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8" name="Google Shape;1448;p7"/>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9" name="Google Shape;1449;p7"/>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0" name="Google Shape;1450;p7"/>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1" name="Google Shape;1451;p7"/>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2" name="Google Shape;1452;p7"/>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3" name="Google Shape;1453;p7"/>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4" name="Google Shape;1454;p7"/>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5" name="Google Shape;1455;p7"/>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6" name="Google Shape;1456;p7"/>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7" name="Google Shape;1457;p7"/>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8" name="Google Shape;1458;p7"/>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9" name="Google Shape;1459;p7"/>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0" name="Google Shape;1460;p7"/>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1" name="Google Shape;1461;p7"/>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2" name="Google Shape;1462;p7"/>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3" name="Google Shape;1463;p7"/>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4" name="Google Shape;1464;p7"/>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5" name="Google Shape;1465;p7"/>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6" name="Google Shape;1466;p7"/>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7" name="Google Shape;1467;p7"/>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8" name="Google Shape;1468;p7"/>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9" name="Google Shape;1469;p7"/>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0" name="Google Shape;1470;p7"/>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471" name="Google Shape;1471;p7"/>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472" name="Google Shape;1472;p7"/>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3" name="Google Shape;1473;p7"/>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474" name="Google Shape;1474;p7"/>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475" name="Google Shape;1475;p7"/>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476" name="Google Shape;1476;p7"/>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477" name="Google Shape;1477;p7"/>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478" name="Google Shape;1478;p7"/>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7</a:t>
            </a:r>
            <a:endParaRPr/>
          </a:p>
        </p:txBody>
      </p:sp>
      <p:pic>
        <p:nvPicPr>
          <p:cNvPr descr="PU-H-Full-RGB.png" id="1479" name="Google Shape;1479;p7"/>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480" name="Google Shape;1480;p7"/>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481" name="Google Shape;1481;p7"/>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482" name="Google Shape;1482;p7"/>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David Hart</a:t>
            </a:r>
            <a:endParaRPr/>
          </a:p>
        </p:txBody>
      </p:sp>
      <p:sp>
        <p:nvSpPr>
          <p:cNvPr id="1483" name="Google Shape;1483;p7"/>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4" name="Google Shape;1484;p7"/>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Internet2</a:t>
            </a:r>
            <a:endParaRPr/>
          </a:p>
        </p:txBody>
      </p:sp>
      <p:sp>
        <p:nvSpPr>
          <p:cNvPr id="1485" name="Google Shape;1485;p7"/>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10 MIN</a:t>
            </a:r>
            <a:endParaRPr/>
          </a:p>
        </p:txBody>
      </p:sp>
      <p:sp>
        <p:nvSpPr>
          <p:cNvPr id="1486" name="Google Shape;1486;p7"/>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Internet2 and the Future of Federated Autonomous Science</a:t>
            </a:r>
            <a:endParaRPr/>
          </a:p>
        </p:txBody>
      </p:sp>
      <p:sp>
        <p:nvSpPr>
          <p:cNvPr id="1487" name="Google Shape;1487;p7"/>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Science Domains and Trustworthy Autonomy</a:t>
            </a:r>
            <a:endParaRPr/>
          </a:p>
        </p:txBody>
      </p:sp>
      <p:sp>
        <p:nvSpPr>
          <p:cNvPr id="1488" name="Google Shape;1488;p7"/>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1489" name="Google Shape;1489;p7"/>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1490" name="Google Shape;1490;p7"/>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David Hart, Director of Research Infrastructure Partnerships" id="1491" name="Google Shape;1491;p7"/>
          <p:cNvPicPr preferRelativeResize="0"/>
          <p:nvPr/>
        </p:nvPicPr>
        <p:blipFill rotWithShape="1">
          <a:blip r:embed="rId10">
            <a:alphaModFix/>
          </a:blip>
          <a:srcRect b="0" l="0" r="0" t="0"/>
          <a:stretch/>
        </p:blipFill>
        <p:spPr>
          <a:xfrm>
            <a:off x="599395" y="2353698"/>
            <a:ext cx="2711116" cy="2687060"/>
          </a:xfrm>
          <a:prstGeom prst="ellipse">
            <a:avLst/>
          </a:prstGeom>
          <a:noFill/>
          <a:ln>
            <a:noFill/>
          </a:ln>
        </p:spPr>
      </p:pic>
      <p:sp>
        <p:nvSpPr>
          <p:cNvPr id="1492" name="Google Shape;1492;p7"/>
          <p:cNvSpPr txBox="1"/>
          <p:nvPr/>
        </p:nvSpPr>
        <p:spPr>
          <a:xfrm>
            <a:off x="4335460" y="3914112"/>
            <a:ext cx="6608358"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David Hart is Director of Research Infrastructure Partnerships at Internet2, where he provides strategic leadership for national cyberinfrastructure and AI initiatives and builds partnerships across academia, government, and industry. He brings 30 years of research computing experience, including leadership roles with the NAIRR Pilot, NSF ACCESS, XSEDE, TeraGrid, NCAR, and the San Diego Supercomputer Center.</a:t>
            </a:r>
            <a:endParaRPr/>
          </a:p>
        </p:txBody>
      </p:sp>
      <p:sp>
        <p:nvSpPr>
          <p:cNvPr descr="Internet2 logo" id="1493" name="Google Shape;1493;p7"/>
          <p:cNvSpPr/>
          <p:nvPr/>
        </p:nvSpPr>
        <p:spPr>
          <a:xfrm>
            <a:off x="10043886" y="248412"/>
            <a:ext cx="1698829" cy="1292734"/>
          </a:xfrm>
          <a:prstGeom prst="rect">
            <a:avLst/>
          </a:prstGeom>
          <a:no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8"/>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0" name="Google Shape;1500;p8"/>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501" name="Google Shape;1501;p8"/>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2" name="Google Shape;1502;p8"/>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3" name="Google Shape;1503;p8"/>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4" name="Google Shape;1504;p8"/>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5" name="Google Shape;1505;p8"/>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6" name="Google Shape;1506;p8"/>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7" name="Google Shape;1507;p8"/>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8" name="Google Shape;1508;p8"/>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09" name="Google Shape;1509;p8"/>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0" name="Google Shape;1510;p8"/>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1" name="Google Shape;1511;p8"/>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2" name="Google Shape;1512;p8"/>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3" name="Google Shape;1513;p8"/>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4" name="Google Shape;1514;p8"/>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5" name="Google Shape;1515;p8"/>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6" name="Google Shape;1516;p8"/>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7" name="Google Shape;1517;p8"/>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8" name="Google Shape;1518;p8"/>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19" name="Google Shape;1519;p8"/>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0" name="Google Shape;1520;p8"/>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1" name="Google Shape;1521;p8"/>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2" name="Google Shape;1522;p8"/>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3" name="Google Shape;1523;p8"/>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4" name="Google Shape;1524;p8"/>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5" name="Google Shape;1525;p8"/>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6" name="Google Shape;1526;p8"/>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7" name="Google Shape;1527;p8"/>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8" name="Google Shape;1528;p8"/>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29" name="Google Shape;1529;p8"/>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0" name="Google Shape;1530;p8"/>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1" name="Google Shape;1531;p8"/>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2" name="Google Shape;1532;p8"/>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3" name="Google Shape;1533;p8"/>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4" name="Google Shape;1534;p8"/>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5" name="Google Shape;1535;p8"/>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6" name="Google Shape;1536;p8"/>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7" name="Google Shape;1537;p8"/>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8" name="Google Shape;1538;p8"/>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39" name="Google Shape;1539;p8"/>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0" name="Google Shape;1540;p8"/>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1" name="Google Shape;1541;p8"/>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2" name="Google Shape;1542;p8"/>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3" name="Google Shape;1543;p8"/>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4" name="Google Shape;1544;p8"/>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5" name="Google Shape;1545;p8"/>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6" name="Google Shape;1546;p8"/>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7" name="Google Shape;1547;p8"/>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548" name="Google Shape;1548;p8"/>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549" name="Google Shape;1549;p8"/>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0" name="Google Shape;1550;p8"/>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1" name="Google Shape;1551;p8"/>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2" name="Google Shape;1552;p8"/>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3" name="Google Shape;1553;p8"/>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4" name="Google Shape;1554;p8"/>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5" name="Google Shape;1555;p8"/>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6" name="Google Shape;1556;p8"/>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7" name="Google Shape;1557;p8"/>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8" name="Google Shape;1558;p8"/>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9" name="Google Shape;1559;p8"/>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0" name="Google Shape;1560;p8"/>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1" name="Google Shape;1561;p8"/>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2" name="Google Shape;1562;p8"/>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3" name="Google Shape;1563;p8"/>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4" name="Google Shape;1564;p8"/>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5" name="Google Shape;1565;p8"/>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6" name="Google Shape;1566;p8"/>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7" name="Google Shape;1567;p8"/>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8" name="Google Shape;1568;p8"/>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9" name="Google Shape;1569;p8"/>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0" name="Google Shape;1570;p8"/>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1" name="Google Shape;1571;p8"/>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2" name="Google Shape;1572;p8"/>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573" name="Google Shape;1573;p8"/>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574" name="Google Shape;1574;p8"/>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5" name="Google Shape;1575;p8"/>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576" name="Google Shape;1576;p8"/>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577" name="Google Shape;1577;p8"/>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578" name="Google Shape;1578;p8"/>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579" name="Google Shape;1579;p8"/>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580" name="Google Shape;1580;p8"/>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8</a:t>
            </a:r>
            <a:endParaRPr/>
          </a:p>
        </p:txBody>
      </p:sp>
      <p:pic>
        <p:nvPicPr>
          <p:cNvPr descr="PU-H-Full-RGB.png" id="1581" name="Google Shape;1581;p8"/>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582" name="Google Shape;1582;p8"/>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583" name="Google Shape;1583;p8"/>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584" name="Google Shape;1584;p8"/>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Orly Alter</a:t>
            </a:r>
            <a:endParaRPr/>
          </a:p>
        </p:txBody>
      </p:sp>
      <p:sp>
        <p:nvSpPr>
          <p:cNvPr id="1585" name="Google Shape;1585;p8"/>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6" name="Google Shape;1586;p8"/>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University of Utah and </a:t>
            </a:r>
            <a:r>
              <a:rPr b="1" lang="en-US">
                <a:solidFill>
                  <a:srgbClr val="1D6F98"/>
                </a:solidFill>
              </a:rPr>
              <a:t>Qalanit</a:t>
            </a:r>
            <a:endParaRPr/>
          </a:p>
        </p:txBody>
      </p:sp>
      <p:sp>
        <p:nvSpPr>
          <p:cNvPr id="1587" name="Google Shape;1587;p8"/>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10 MIN</a:t>
            </a:r>
            <a:endParaRPr/>
          </a:p>
        </p:txBody>
      </p:sp>
      <p:sp>
        <p:nvSpPr>
          <p:cNvPr id="1588" name="Google Shape;1588;p8"/>
          <p:cNvSpPr txBox="1"/>
          <p:nvPr/>
        </p:nvSpPr>
        <p:spPr>
          <a:xfrm>
            <a:off x="4343400" y="2121408"/>
            <a:ext cx="7178040" cy="899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a:solidFill>
                  <a:srgbClr val="082B4C"/>
                </a:solidFill>
                <a:latin typeface="Arial"/>
                <a:ea typeface="Arial"/>
                <a:cs typeface="Arial"/>
                <a:sym typeface="Arial"/>
              </a:rPr>
              <a:t>Quantum Mechanics-Based Multitensor AI/ML Uniquely Able to Discover, Validate and Interpret Predictors of Patient Outcomes and Drug Targets from Small-Cohort, Noisy and High-Dimensional Multiomic Data</a:t>
            </a:r>
            <a:endParaRPr/>
          </a:p>
        </p:txBody>
      </p:sp>
      <p:sp>
        <p:nvSpPr>
          <p:cNvPr id="1589" name="Google Shape;1589;p8"/>
          <p:cNvSpPr txBox="1"/>
          <p:nvPr/>
        </p:nvSpPr>
        <p:spPr>
          <a:xfrm>
            <a:off x="4343400" y="310286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Science Domains and Trustworthy Autonomy</a:t>
            </a:r>
            <a:endParaRPr/>
          </a:p>
        </p:txBody>
      </p:sp>
      <p:sp>
        <p:nvSpPr>
          <p:cNvPr id="1590" name="Google Shape;1590;p8"/>
          <p:cNvSpPr txBox="1"/>
          <p:nvPr/>
        </p:nvSpPr>
        <p:spPr>
          <a:xfrm>
            <a:off x="4343400" y="337718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1591" name="Google Shape;1591;p8"/>
          <p:cNvSpPr txBox="1"/>
          <p:nvPr/>
        </p:nvSpPr>
        <p:spPr>
          <a:xfrm>
            <a:off x="4343399" y="3779226"/>
            <a:ext cx="5780305" cy="13139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Orly Alter is a USTAR Associate Professor of Bioengineering and Human Genetics at the University of Utah and Chief Scientific Officer and Co-Founder of </a:t>
            </a:r>
            <a:r>
              <a:rPr lang="en-US" sz="1300">
                <a:solidFill>
                  <a:schemeClr val="dk1"/>
                </a:solidFill>
              </a:rPr>
              <a:t>Qalanit</a:t>
            </a:r>
            <a:r>
              <a:rPr lang="en-US" sz="1300">
                <a:solidFill>
                  <a:schemeClr val="dk1"/>
                </a:solidFill>
                <a:latin typeface="Arial"/>
                <a:ea typeface="Arial"/>
                <a:cs typeface="Arial"/>
                <a:sym typeface="Arial"/>
              </a:rPr>
              <a:t>. Her research combines AI/ML, genomics, and quantum-mechanics-inspired mathematical methods to develop predictive approaches for cancer, including glioblastoma outcomes and treatment response.</a:t>
            </a:r>
            <a:endParaRPr/>
          </a:p>
        </p:txBody>
      </p:sp>
      <p:sp>
        <p:nvSpPr>
          <p:cNvPr id="1592" name="Google Shape;1592;p8"/>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1593" name="Google Shape;1593;p8"/>
          <p:cNvPicPr preferRelativeResize="0"/>
          <p:nvPr/>
        </p:nvPicPr>
        <p:blipFill rotWithShape="1">
          <a:blip r:embed="rId10">
            <a:alphaModFix/>
          </a:blip>
          <a:srcRect b="0" l="0" r="0" t="0"/>
          <a:stretch/>
        </p:blipFill>
        <p:spPr>
          <a:xfrm>
            <a:off x="568691" y="2324278"/>
            <a:ext cx="2782967" cy="2724016"/>
          </a:xfrm>
          <a:prstGeom prst="ellipse">
            <a:avLst/>
          </a:prstGeom>
          <a:noFill/>
          <a:ln>
            <a:noFill/>
          </a:ln>
        </p:spPr>
      </p:pic>
      <p:pic>
        <p:nvPicPr>
          <p:cNvPr descr="UU-Logo-CTR_RED.png" id="1594" name="Google Shape;1594;p8"/>
          <p:cNvPicPr preferRelativeResize="0"/>
          <p:nvPr/>
        </p:nvPicPr>
        <p:blipFill rotWithShape="1">
          <a:blip r:embed="rId6">
            <a:alphaModFix/>
          </a:blip>
          <a:srcRect b="0" l="0" r="0" t="0"/>
          <a:stretch/>
        </p:blipFill>
        <p:spPr>
          <a:xfrm>
            <a:off x="10508268" y="275771"/>
            <a:ext cx="1003330" cy="9589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sp>
        <p:nvSpPr>
          <p:cNvPr id="1600" name="Google Shape;1600;p9"/>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1" name="Google Shape;1601;p9"/>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602" name="Google Shape;1602;p9"/>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03" name="Google Shape;1603;p9"/>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04" name="Google Shape;1604;p9"/>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05" name="Google Shape;1605;p9"/>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06" name="Google Shape;1606;p9"/>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07" name="Google Shape;1607;p9"/>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08" name="Google Shape;1608;p9"/>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09" name="Google Shape;1609;p9"/>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0" name="Google Shape;1610;p9"/>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1" name="Google Shape;1611;p9"/>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2" name="Google Shape;1612;p9"/>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3" name="Google Shape;1613;p9"/>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4" name="Google Shape;1614;p9"/>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5" name="Google Shape;1615;p9"/>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6" name="Google Shape;1616;p9"/>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7" name="Google Shape;1617;p9"/>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8" name="Google Shape;1618;p9"/>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19" name="Google Shape;1619;p9"/>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0" name="Google Shape;1620;p9"/>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1" name="Google Shape;1621;p9"/>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2" name="Google Shape;1622;p9"/>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3" name="Google Shape;1623;p9"/>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4" name="Google Shape;1624;p9"/>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5" name="Google Shape;1625;p9"/>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6" name="Google Shape;1626;p9"/>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7" name="Google Shape;1627;p9"/>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8" name="Google Shape;1628;p9"/>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29" name="Google Shape;1629;p9"/>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0" name="Google Shape;1630;p9"/>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1" name="Google Shape;1631;p9"/>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2" name="Google Shape;1632;p9"/>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3" name="Google Shape;1633;p9"/>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4" name="Google Shape;1634;p9"/>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5" name="Google Shape;1635;p9"/>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6" name="Google Shape;1636;p9"/>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7" name="Google Shape;1637;p9"/>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8" name="Google Shape;1638;p9"/>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39" name="Google Shape;1639;p9"/>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0" name="Google Shape;1640;p9"/>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1" name="Google Shape;1641;p9"/>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2" name="Google Shape;1642;p9"/>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3" name="Google Shape;1643;p9"/>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4" name="Google Shape;1644;p9"/>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5" name="Google Shape;1645;p9"/>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6" name="Google Shape;1646;p9"/>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7" name="Google Shape;1647;p9"/>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8" name="Google Shape;1648;p9"/>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649" name="Google Shape;1649;p9"/>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650" name="Google Shape;1650;p9"/>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1" name="Google Shape;1651;p9"/>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2" name="Google Shape;1652;p9"/>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3" name="Google Shape;1653;p9"/>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4" name="Google Shape;1654;p9"/>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5" name="Google Shape;1655;p9"/>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6" name="Google Shape;1656;p9"/>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7" name="Google Shape;1657;p9"/>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8" name="Google Shape;1658;p9"/>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9" name="Google Shape;1659;p9"/>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0" name="Google Shape;1660;p9"/>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1" name="Google Shape;1661;p9"/>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2" name="Google Shape;1662;p9"/>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3" name="Google Shape;1663;p9"/>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4" name="Google Shape;1664;p9"/>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5" name="Google Shape;1665;p9"/>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6" name="Google Shape;1666;p9"/>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7" name="Google Shape;1667;p9"/>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8" name="Google Shape;1668;p9"/>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9" name="Google Shape;1669;p9"/>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0" name="Google Shape;1670;p9"/>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1" name="Google Shape;1671;p9"/>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2" name="Google Shape;1672;p9"/>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3" name="Google Shape;1673;p9"/>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674" name="Google Shape;1674;p9"/>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675" name="Google Shape;1675;p9"/>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6" name="Google Shape;1676;p9"/>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677" name="Google Shape;1677;p9"/>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678" name="Google Shape;1678;p9"/>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679" name="Google Shape;1679;p9"/>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680" name="Google Shape;1680;p9"/>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681" name="Google Shape;1681;p9"/>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9</a:t>
            </a:r>
            <a:endParaRPr/>
          </a:p>
        </p:txBody>
      </p:sp>
      <p:pic>
        <p:nvPicPr>
          <p:cNvPr descr="PU-H-Full-RGB.png" id="1682" name="Google Shape;1682;p9"/>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683" name="Google Shape;1683;p9"/>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684" name="Google Shape;1684;p9"/>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685" name="Google Shape;1685;p9"/>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Timo Bremer</a:t>
            </a:r>
            <a:endParaRPr/>
          </a:p>
        </p:txBody>
      </p:sp>
      <p:sp>
        <p:nvSpPr>
          <p:cNvPr id="1686" name="Google Shape;1686;p9"/>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7" name="Google Shape;1687;p9"/>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Lawrence Livermore National Laboratory and University of Utah</a:t>
            </a:r>
            <a:endParaRPr/>
          </a:p>
        </p:txBody>
      </p:sp>
      <p:sp>
        <p:nvSpPr>
          <p:cNvPr id="1688" name="Google Shape;1688;p9"/>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10 MIN</a:t>
            </a:r>
            <a:endParaRPr/>
          </a:p>
        </p:txBody>
      </p:sp>
      <p:sp>
        <p:nvSpPr>
          <p:cNvPr id="1689" name="Google Shape;1689;p9"/>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Challenges for Distributed Digital Infrastructure at LLNL</a:t>
            </a:r>
            <a:endParaRPr/>
          </a:p>
        </p:txBody>
      </p:sp>
      <p:sp>
        <p:nvSpPr>
          <p:cNvPr id="1690" name="Google Shape;1690;p9"/>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Science Domains and Trustworthy Autonomy</a:t>
            </a:r>
            <a:endParaRPr/>
          </a:p>
        </p:txBody>
      </p:sp>
      <p:sp>
        <p:nvSpPr>
          <p:cNvPr id="1691" name="Google Shape;1691;p9"/>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1692" name="Google Shape;1692;p9"/>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1693" name="Google Shape;1693;p9"/>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Portrait of  Timo Bremer" id="1694" name="Google Shape;1694;p9"/>
          <p:cNvPicPr preferRelativeResize="0"/>
          <p:nvPr/>
        </p:nvPicPr>
        <p:blipFill rotWithShape="1">
          <a:blip r:embed="rId10">
            <a:alphaModFix/>
          </a:blip>
          <a:srcRect b="0" l="0" r="0" t="0"/>
          <a:stretch/>
        </p:blipFill>
        <p:spPr>
          <a:xfrm>
            <a:off x="568692" y="2363058"/>
            <a:ext cx="2707906" cy="2685235"/>
          </a:xfrm>
          <a:prstGeom prst="ellipse">
            <a:avLst/>
          </a:prstGeom>
          <a:noFill/>
          <a:ln>
            <a:noFill/>
          </a:ln>
        </p:spPr>
      </p:pic>
      <p:pic>
        <p:nvPicPr>
          <p:cNvPr descr="LLNL Lawrence Livermore National Laboratory Logo | Livermore ..." id="1695" name="Google Shape;1695;p9"/>
          <p:cNvPicPr preferRelativeResize="0"/>
          <p:nvPr/>
        </p:nvPicPr>
        <p:blipFill rotWithShape="1">
          <a:blip r:embed="rId11">
            <a:alphaModFix/>
          </a:blip>
          <a:srcRect b="0" l="0" r="0" t="0"/>
          <a:stretch/>
        </p:blipFill>
        <p:spPr>
          <a:xfrm>
            <a:off x="9792586" y="233916"/>
            <a:ext cx="2126446" cy="1000807"/>
          </a:xfrm>
          <a:prstGeom prst="rect">
            <a:avLst/>
          </a:prstGeom>
          <a:noFill/>
          <a:ln>
            <a:noFill/>
          </a:ln>
        </p:spPr>
      </p:pic>
      <p:sp>
        <p:nvSpPr>
          <p:cNvPr id="1696" name="Google Shape;1696;p9"/>
          <p:cNvSpPr txBox="1"/>
          <p:nvPr/>
        </p:nvSpPr>
        <p:spPr>
          <a:xfrm>
            <a:off x="4314367" y="3696930"/>
            <a:ext cx="6711382"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Peer-Timo Bremer is a computer scientist at Lawrence Livermore National Laboratory, where he leads the Machine Intelligence Group and serves as Associate Director of LLNL’s AI Innovation Incubator. His research spans scientific machine learning, large-scale data analysis, visualization, and interpretable AI, with applications across the physical and life sciences.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10"/>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03" name="Google Shape;1703;p10"/>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04" name="Google Shape;1704;p10"/>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05" name="Google Shape;1705;p10"/>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06" name="Google Shape;1706;p10"/>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07" name="Google Shape;1707;p10"/>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08" name="Google Shape;1708;p10"/>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09" name="Google Shape;1709;p10"/>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0" name="Google Shape;1710;p10"/>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1" name="Google Shape;1711;p10"/>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2" name="Google Shape;1712;p10"/>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3" name="Google Shape;1713;p10"/>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4" name="Google Shape;1714;p10"/>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5" name="Google Shape;1715;p10"/>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6" name="Google Shape;1716;p10"/>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7" name="Google Shape;1717;p10"/>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8" name="Google Shape;1718;p10"/>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19" name="Google Shape;1719;p10"/>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0" name="Google Shape;1720;p10"/>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1" name="Google Shape;1721;p10"/>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2" name="Google Shape;1722;p10"/>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3" name="Google Shape;1723;p10"/>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4" name="Google Shape;1724;p10"/>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5" name="Google Shape;1725;p10"/>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6" name="Google Shape;1726;p10"/>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7" name="Google Shape;1727;p10"/>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8" name="Google Shape;1728;p10"/>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29" name="Google Shape;1729;p10"/>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0" name="Google Shape;1730;p10"/>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1" name="Google Shape;1731;p10"/>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2" name="Google Shape;1732;p10"/>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3" name="Google Shape;1733;p10"/>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4" name="Google Shape;1734;p10"/>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5" name="Google Shape;1735;p10"/>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6" name="Google Shape;1736;p10"/>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7" name="Google Shape;1737;p10"/>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8" name="Google Shape;1738;p10"/>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39" name="Google Shape;1739;p10"/>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0" name="Google Shape;1740;p10"/>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1" name="Google Shape;1741;p10"/>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2" name="Google Shape;1742;p10"/>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3" name="Google Shape;1743;p10"/>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4" name="Google Shape;1744;p10"/>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5" name="Google Shape;1745;p10"/>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6" name="Google Shape;1746;p10"/>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7" name="Google Shape;1747;p10"/>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8" name="Google Shape;1748;p10"/>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49" name="Google Shape;1749;p10"/>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750" name="Google Shape;1750;p10"/>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751" name="Google Shape;1751;p10"/>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2" name="Google Shape;1752;p10"/>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3" name="Google Shape;1753;p10"/>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4" name="Google Shape;1754;p10"/>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5" name="Google Shape;1755;p10"/>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6" name="Google Shape;1756;p10"/>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7" name="Google Shape;1757;p10"/>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8" name="Google Shape;1758;p10"/>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9" name="Google Shape;1759;p10"/>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0" name="Google Shape;1760;p10"/>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1" name="Google Shape;1761;p10"/>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2" name="Google Shape;1762;p10"/>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3" name="Google Shape;1763;p10"/>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4" name="Google Shape;1764;p10"/>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5" name="Google Shape;1765;p10"/>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6" name="Google Shape;1766;p10"/>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7" name="Google Shape;1767;p10"/>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8" name="Google Shape;1768;p10"/>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9" name="Google Shape;1769;p10"/>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0" name="Google Shape;1770;p10"/>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1" name="Google Shape;1771;p10"/>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2" name="Google Shape;1772;p10"/>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3" name="Google Shape;1773;p10"/>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4" name="Google Shape;1774;p10"/>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775" name="Google Shape;1775;p10"/>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776" name="Google Shape;1776;p10"/>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7" name="Google Shape;1777;p10"/>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778" name="Google Shape;1778;p10"/>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779" name="Google Shape;1779;p10"/>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780" name="Google Shape;1780;p10"/>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781" name="Google Shape;1781;p10"/>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782" name="Google Shape;1782;p10"/>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10</a:t>
            </a:r>
            <a:endParaRPr/>
          </a:p>
        </p:txBody>
      </p:sp>
      <p:pic>
        <p:nvPicPr>
          <p:cNvPr descr="PU-H-Full-RGB.png" id="1783" name="Google Shape;1783;p10"/>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784" name="Google Shape;1784;p10"/>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785" name="Google Shape;1785;p10"/>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786" name="Google Shape;1786;p10"/>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Anita Nikolich</a:t>
            </a:r>
            <a:endParaRPr/>
          </a:p>
        </p:txBody>
      </p:sp>
      <p:sp>
        <p:nvSpPr>
          <p:cNvPr id="1787" name="Google Shape;1787;p10"/>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8" name="Google Shape;1788;p10"/>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University of Illinois Urbana-Champaign</a:t>
            </a:r>
            <a:endParaRPr/>
          </a:p>
        </p:txBody>
      </p:sp>
      <p:sp>
        <p:nvSpPr>
          <p:cNvPr id="1789" name="Google Shape;1789;p10"/>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10 MIN</a:t>
            </a:r>
            <a:endParaRPr/>
          </a:p>
        </p:txBody>
      </p:sp>
      <p:sp>
        <p:nvSpPr>
          <p:cNvPr id="1790" name="Google Shape;1790;p10"/>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Trust but Verify: Secure and Trustworthy AI in Science</a:t>
            </a:r>
            <a:endParaRPr/>
          </a:p>
        </p:txBody>
      </p:sp>
      <p:sp>
        <p:nvSpPr>
          <p:cNvPr id="1791" name="Google Shape;1791;p10"/>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Science Domains and Trustworthy Autonomy</a:t>
            </a:r>
            <a:endParaRPr/>
          </a:p>
        </p:txBody>
      </p:sp>
      <p:sp>
        <p:nvSpPr>
          <p:cNvPr id="1792" name="Google Shape;1792;p10"/>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1793" name="Google Shape;1793;p10"/>
          <p:cNvSpPr txBox="1"/>
          <p:nvPr/>
        </p:nvSpPr>
        <p:spPr>
          <a:xfrm>
            <a:off x="4504428" y="3696930"/>
            <a:ext cx="6318072" cy="14431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Anita Nikolich is Director of Research and Technology Innovation and a Research Scientist at the University of Illinois Urbana-Champaign’s School of Information Sciences. Her work focuses on cybersecurity, privacy and trust, advanced network infrastructure, and resilience to online deception, with leadership roles in major NSF-supported initiatives including FABRIC and research on securing scientific AI and computing infrastructure.</a:t>
            </a:r>
            <a:endParaRPr/>
          </a:p>
        </p:txBody>
      </p:sp>
      <p:sp>
        <p:nvSpPr>
          <p:cNvPr id="1794" name="Google Shape;1794;p10"/>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Anita Nikolich" id="1795" name="Google Shape;1795;p10"/>
          <p:cNvPicPr preferRelativeResize="0"/>
          <p:nvPr/>
        </p:nvPicPr>
        <p:blipFill rotWithShape="1">
          <a:blip r:embed="rId10">
            <a:alphaModFix/>
          </a:blip>
          <a:srcRect b="0" l="0" r="0" t="0"/>
          <a:stretch/>
        </p:blipFill>
        <p:spPr>
          <a:xfrm>
            <a:off x="502920" y="2294749"/>
            <a:ext cx="2807591" cy="2769777"/>
          </a:xfrm>
          <a:prstGeom prst="ellipse">
            <a:avLst/>
          </a:prstGeom>
          <a:noFill/>
          <a:ln>
            <a:noFill/>
          </a:ln>
        </p:spPr>
      </p:pic>
      <p:pic>
        <p:nvPicPr>
          <p:cNvPr descr="Logo | Brand Guidelines | Illinois" id="1796" name="Google Shape;1796;p10"/>
          <p:cNvPicPr preferRelativeResize="0"/>
          <p:nvPr/>
        </p:nvPicPr>
        <p:blipFill rotWithShape="1">
          <a:blip r:embed="rId11">
            <a:alphaModFix/>
          </a:blip>
          <a:srcRect b="0" l="0" r="0" t="0"/>
          <a:stretch/>
        </p:blipFill>
        <p:spPr>
          <a:xfrm>
            <a:off x="10175759" y="164621"/>
            <a:ext cx="1078992" cy="117476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11"/>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3" name="Google Shape;1803;p11"/>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804" name="Google Shape;1804;p11"/>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05" name="Google Shape;1805;p11"/>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06" name="Google Shape;1806;p11"/>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07" name="Google Shape;1807;p11"/>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08" name="Google Shape;1808;p11"/>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09" name="Google Shape;1809;p11"/>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0" name="Google Shape;1810;p11"/>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1" name="Google Shape;1811;p11"/>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2" name="Google Shape;1812;p11"/>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3" name="Google Shape;1813;p11"/>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4" name="Google Shape;1814;p11"/>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5" name="Google Shape;1815;p11"/>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6" name="Google Shape;1816;p11"/>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7" name="Google Shape;1817;p11"/>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8" name="Google Shape;1818;p11"/>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19" name="Google Shape;1819;p11"/>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0" name="Google Shape;1820;p11"/>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1" name="Google Shape;1821;p11"/>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2" name="Google Shape;1822;p11"/>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3" name="Google Shape;1823;p11"/>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4" name="Google Shape;1824;p11"/>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5" name="Google Shape;1825;p11"/>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6" name="Google Shape;1826;p11"/>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7" name="Google Shape;1827;p11"/>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8" name="Google Shape;1828;p11"/>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29" name="Google Shape;1829;p11"/>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0" name="Google Shape;1830;p11"/>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1" name="Google Shape;1831;p11"/>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2" name="Google Shape;1832;p11"/>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3" name="Google Shape;1833;p11"/>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4" name="Google Shape;1834;p11"/>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5" name="Google Shape;1835;p11"/>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6" name="Google Shape;1836;p11"/>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7" name="Google Shape;1837;p11"/>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8" name="Google Shape;1838;p11"/>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39" name="Google Shape;1839;p11"/>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0" name="Google Shape;1840;p11"/>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1" name="Google Shape;1841;p11"/>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2" name="Google Shape;1842;p11"/>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3" name="Google Shape;1843;p11"/>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4" name="Google Shape;1844;p11"/>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5" name="Google Shape;1845;p11"/>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6" name="Google Shape;1846;p11"/>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7" name="Google Shape;1847;p11"/>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8" name="Google Shape;1848;p11"/>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49" name="Google Shape;1849;p11"/>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50" name="Google Shape;1850;p11"/>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851" name="Google Shape;1851;p11"/>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852" name="Google Shape;1852;p11"/>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3" name="Google Shape;1853;p11"/>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4" name="Google Shape;1854;p11"/>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5" name="Google Shape;1855;p11"/>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6" name="Google Shape;1856;p11"/>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7" name="Google Shape;1857;p11"/>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8" name="Google Shape;1858;p11"/>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9" name="Google Shape;1859;p11"/>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0" name="Google Shape;1860;p11"/>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1" name="Google Shape;1861;p11"/>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2" name="Google Shape;1862;p11"/>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3" name="Google Shape;1863;p11"/>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4" name="Google Shape;1864;p11"/>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5" name="Google Shape;1865;p11"/>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6" name="Google Shape;1866;p11"/>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7" name="Google Shape;1867;p11"/>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8" name="Google Shape;1868;p11"/>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9" name="Google Shape;1869;p11"/>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0" name="Google Shape;1870;p11"/>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1" name="Google Shape;1871;p11"/>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2" name="Google Shape;1872;p11"/>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3" name="Google Shape;1873;p11"/>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4" name="Google Shape;1874;p11"/>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5" name="Google Shape;1875;p11"/>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876" name="Google Shape;1876;p11"/>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877" name="Google Shape;1877;p11"/>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8" name="Google Shape;1878;p11"/>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879" name="Google Shape;1879;p11"/>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880" name="Google Shape;1880;p11"/>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881" name="Google Shape;1881;p11"/>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882" name="Google Shape;1882;p11"/>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883" name="Google Shape;1883;p11"/>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11</a:t>
            </a:r>
            <a:endParaRPr/>
          </a:p>
        </p:txBody>
      </p:sp>
      <p:pic>
        <p:nvPicPr>
          <p:cNvPr descr="PU-H-Full-RGB.png" id="1884" name="Google Shape;1884;p11"/>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885" name="Google Shape;1885;p11"/>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886" name="Google Shape;1886;p11"/>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887" name="Google Shape;1887;p11"/>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Ziyue Xu</a:t>
            </a:r>
            <a:endParaRPr/>
          </a:p>
        </p:txBody>
      </p:sp>
      <p:sp>
        <p:nvSpPr>
          <p:cNvPr id="1888" name="Google Shape;1888;p11"/>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9" name="Google Shape;1889;p11"/>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NVIDIA</a:t>
            </a:r>
            <a:endParaRPr/>
          </a:p>
        </p:txBody>
      </p:sp>
      <p:sp>
        <p:nvSpPr>
          <p:cNvPr id="1890" name="Google Shape;1890;p11"/>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10 MIN</a:t>
            </a:r>
            <a:endParaRPr/>
          </a:p>
        </p:txBody>
      </p:sp>
      <p:sp>
        <p:nvSpPr>
          <p:cNvPr id="1891" name="Google Shape;1891;p11"/>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FedReady: Bounded Agents for Federation Formation</a:t>
            </a:r>
            <a:endParaRPr/>
          </a:p>
        </p:txBody>
      </p:sp>
      <p:sp>
        <p:nvSpPr>
          <p:cNvPr id="1892" name="Google Shape;1892;p11"/>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Science Domains and Trustworthy Autonomy</a:t>
            </a:r>
            <a:endParaRPr/>
          </a:p>
        </p:txBody>
      </p:sp>
      <p:sp>
        <p:nvSpPr>
          <p:cNvPr id="1893" name="Google Shape;1893;p11"/>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1894" name="Google Shape;1894;p11"/>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1895" name="Google Shape;1895;p11"/>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1896" name="Google Shape;1896;p11"/>
          <p:cNvPicPr preferRelativeResize="0"/>
          <p:nvPr/>
        </p:nvPicPr>
        <p:blipFill rotWithShape="1">
          <a:blip r:embed="rId10">
            <a:alphaModFix/>
          </a:blip>
          <a:srcRect b="0" l="0" r="0" t="0"/>
          <a:stretch/>
        </p:blipFill>
        <p:spPr>
          <a:xfrm>
            <a:off x="568691" y="2303361"/>
            <a:ext cx="2639327" cy="2786802"/>
          </a:xfrm>
          <a:prstGeom prst="ellipse">
            <a:avLst/>
          </a:prstGeom>
          <a:noFill/>
          <a:ln>
            <a:noFill/>
          </a:ln>
        </p:spPr>
      </p:pic>
      <p:sp>
        <p:nvSpPr>
          <p:cNvPr id="1897" name="Google Shape;1897;p11"/>
          <p:cNvSpPr txBox="1"/>
          <p:nvPr/>
        </p:nvSpPr>
        <p:spPr>
          <a:xfrm>
            <a:off x="4335460" y="3872964"/>
            <a:ext cx="660835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Ziyue Xu is a Senior Scientist at NVIDIA Research specializing in artificial intelligence, computer vision, and medical imaging. His work applies machine learning, shape modeling, and graph-based methods to biomedical and clinical imaging, building on prior research leadership at the National Institutes of Health.</a:t>
            </a:r>
            <a:endParaRPr/>
          </a:p>
        </p:txBody>
      </p:sp>
      <p:pic>
        <p:nvPicPr>
          <p:cNvPr descr="Logos &amp; Brand Guidelines | NVIDIA" id="1898" name="Google Shape;1898;p11"/>
          <p:cNvPicPr preferRelativeResize="0"/>
          <p:nvPr/>
        </p:nvPicPr>
        <p:blipFill rotWithShape="1">
          <a:blip r:embed="rId11">
            <a:alphaModFix/>
          </a:blip>
          <a:srcRect b="0" l="0" r="0" t="0"/>
          <a:stretch/>
        </p:blipFill>
        <p:spPr>
          <a:xfrm>
            <a:off x="10055594" y="261257"/>
            <a:ext cx="1633486" cy="11640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sp>
        <p:nvSpPr>
          <p:cNvPr id="1904" name="Google Shape;1904;p12"/>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5" name="Google Shape;1905;p12"/>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906" name="Google Shape;1906;p12"/>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07" name="Google Shape;1907;p12"/>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08" name="Google Shape;1908;p12"/>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09" name="Google Shape;1909;p12"/>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0" name="Google Shape;1910;p12"/>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1" name="Google Shape;1911;p12"/>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2" name="Google Shape;1912;p12"/>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3" name="Google Shape;1913;p12"/>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4" name="Google Shape;1914;p12"/>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5" name="Google Shape;1915;p12"/>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6" name="Google Shape;1916;p12"/>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7" name="Google Shape;1917;p12"/>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8" name="Google Shape;1918;p12"/>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19" name="Google Shape;1919;p12"/>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0" name="Google Shape;1920;p12"/>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1" name="Google Shape;1921;p12"/>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2" name="Google Shape;1922;p12"/>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3" name="Google Shape;1923;p12"/>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4" name="Google Shape;1924;p12"/>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5" name="Google Shape;1925;p12"/>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6" name="Google Shape;1926;p12"/>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7" name="Google Shape;1927;p12"/>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8" name="Google Shape;1928;p12"/>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29" name="Google Shape;1929;p12"/>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0" name="Google Shape;1930;p12"/>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1" name="Google Shape;1931;p12"/>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2" name="Google Shape;1932;p12"/>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3" name="Google Shape;1933;p12"/>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4" name="Google Shape;1934;p12"/>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5" name="Google Shape;1935;p12"/>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6" name="Google Shape;1936;p12"/>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7" name="Google Shape;1937;p12"/>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8" name="Google Shape;1938;p12"/>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39" name="Google Shape;1939;p12"/>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0" name="Google Shape;1940;p12"/>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1" name="Google Shape;1941;p12"/>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2" name="Google Shape;1942;p12"/>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3" name="Google Shape;1943;p12"/>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4" name="Google Shape;1944;p12"/>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5" name="Google Shape;1945;p12"/>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6" name="Google Shape;1946;p12"/>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7" name="Google Shape;1947;p12"/>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8" name="Google Shape;1948;p12"/>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49" name="Google Shape;1949;p12"/>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50" name="Google Shape;1950;p12"/>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51" name="Google Shape;1951;p12"/>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52" name="Google Shape;1952;p12"/>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1953" name="Google Shape;1953;p12"/>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1954" name="Google Shape;1954;p12"/>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5" name="Google Shape;1955;p12"/>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6" name="Google Shape;1956;p12"/>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7" name="Google Shape;1957;p12"/>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8" name="Google Shape;1958;p12"/>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9" name="Google Shape;1959;p12"/>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0" name="Google Shape;1960;p12"/>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1" name="Google Shape;1961;p12"/>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2" name="Google Shape;1962;p12"/>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3" name="Google Shape;1963;p12"/>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4" name="Google Shape;1964;p12"/>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5" name="Google Shape;1965;p12"/>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6" name="Google Shape;1966;p12"/>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7" name="Google Shape;1967;p12"/>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8" name="Google Shape;1968;p12"/>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9" name="Google Shape;1969;p12"/>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0" name="Google Shape;1970;p12"/>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1" name="Google Shape;1971;p12"/>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2" name="Google Shape;1972;p12"/>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3" name="Google Shape;1973;p12"/>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4" name="Google Shape;1974;p12"/>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5" name="Google Shape;1975;p12"/>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6" name="Google Shape;1976;p12"/>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7" name="Google Shape;1977;p12"/>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1978" name="Google Shape;1978;p12"/>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1979" name="Google Shape;1979;p12"/>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0" name="Google Shape;1980;p12"/>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1981" name="Google Shape;1981;p12"/>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1982" name="Google Shape;1982;p12"/>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1983" name="Google Shape;1983;p12"/>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1984" name="Google Shape;1984;p12"/>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1985" name="Google Shape;1985;p12"/>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12</a:t>
            </a:r>
            <a:endParaRPr/>
          </a:p>
        </p:txBody>
      </p:sp>
      <p:pic>
        <p:nvPicPr>
          <p:cNvPr descr="PU-H-Full-RGB.png" id="1986" name="Google Shape;1986;p12"/>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1987" name="Google Shape;1987;p12"/>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1988" name="Google Shape;1988;p12"/>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1989" name="Google Shape;1989;p12"/>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Rudolph Pienaar</a:t>
            </a:r>
            <a:endParaRPr/>
          </a:p>
        </p:txBody>
      </p:sp>
      <p:sp>
        <p:nvSpPr>
          <p:cNvPr id="1990" name="Google Shape;1990;p12"/>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1" name="Google Shape;1991;p12"/>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Boston Children’s Hospital and Harvard Medical School</a:t>
            </a:r>
            <a:endParaRPr/>
          </a:p>
        </p:txBody>
      </p:sp>
      <p:sp>
        <p:nvSpPr>
          <p:cNvPr id="1992" name="Google Shape;1992;p12"/>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10 MIN</a:t>
            </a:r>
            <a:endParaRPr/>
          </a:p>
        </p:txBody>
      </p:sp>
      <p:sp>
        <p:nvSpPr>
          <p:cNvPr id="1993" name="Google Shape;1993;p12"/>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Computing Infrastructure for Clinical AI — Needs and Challenges</a:t>
            </a:r>
            <a:endParaRPr/>
          </a:p>
        </p:txBody>
      </p:sp>
      <p:sp>
        <p:nvSpPr>
          <p:cNvPr id="1994" name="Google Shape;1994;p12"/>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Science Domains and Trustworthy Autonomy</a:t>
            </a:r>
            <a:endParaRPr/>
          </a:p>
        </p:txBody>
      </p:sp>
      <p:sp>
        <p:nvSpPr>
          <p:cNvPr id="1995" name="Google Shape;1995;p12"/>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1996" name="Google Shape;1996;p12"/>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1997" name="Google Shape;1997;p12"/>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Rudolph Pienaar, PhD" id="1998" name="Google Shape;1998;p12"/>
          <p:cNvPicPr preferRelativeResize="0"/>
          <p:nvPr/>
        </p:nvPicPr>
        <p:blipFill rotWithShape="1">
          <a:blip r:embed="rId10">
            <a:alphaModFix/>
          </a:blip>
          <a:srcRect b="0" l="0" r="0" t="0"/>
          <a:stretch/>
        </p:blipFill>
        <p:spPr>
          <a:xfrm>
            <a:off x="594487" y="2285943"/>
            <a:ext cx="2682111" cy="2762351"/>
          </a:xfrm>
          <a:prstGeom prst="ellipse">
            <a:avLst/>
          </a:prstGeom>
          <a:noFill/>
          <a:ln>
            <a:noFill/>
          </a:ln>
        </p:spPr>
      </p:pic>
      <p:sp>
        <p:nvSpPr>
          <p:cNvPr id="1999" name="Google Shape;1999;p12"/>
          <p:cNvSpPr txBox="1"/>
          <p:nvPr/>
        </p:nvSpPr>
        <p:spPr>
          <a:xfrm>
            <a:off x="4387477" y="3696930"/>
            <a:ext cx="6924245"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Rudolph Pienaar is a Staff Scientist at Boston Children’s Hospital and Assistant Professor of Radiology at Harvard Medical School, specializing in medical imaging, AI, and computational approaches to medicine. He leads development of ChRIS, an open-source platform that brings advanced AI and image-processing workflows into research and clinical environments, with a broader focus on bridging computational innovation and patient care.</a:t>
            </a:r>
            <a:endParaRPr/>
          </a:p>
        </p:txBody>
      </p:sp>
      <p:pic>
        <p:nvPicPr>
          <p:cNvPr descr="Boston Children's Hospital Logo, symbol, meaning, history ..." id="2000" name="Google Shape;2000;p12"/>
          <p:cNvPicPr preferRelativeResize="0"/>
          <p:nvPr/>
        </p:nvPicPr>
        <p:blipFill rotWithShape="1">
          <a:blip r:embed="rId11">
            <a:alphaModFix/>
          </a:blip>
          <a:srcRect b="0" l="0" r="0" t="0"/>
          <a:stretch/>
        </p:blipFill>
        <p:spPr>
          <a:xfrm>
            <a:off x="9554128" y="238688"/>
            <a:ext cx="2134952" cy="939800"/>
          </a:xfrm>
          <a:prstGeom prst="rect">
            <a:avLst/>
          </a:prstGeom>
          <a:noFill/>
          <a:ln>
            <a:noFill/>
          </a:ln>
        </p:spPr>
      </p:pic>
      <p:pic>
        <p:nvPicPr>
          <p:cNvPr descr="Logo | HMS Identity Guide" id="2001" name="Google Shape;2001;p12"/>
          <p:cNvPicPr preferRelativeResize="0"/>
          <p:nvPr/>
        </p:nvPicPr>
        <p:blipFill rotWithShape="1">
          <a:blip r:embed="rId12">
            <a:alphaModFix/>
          </a:blip>
          <a:srcRect b="0" l="0" r="0" t="0"/>
          <a:stretch/>
        </p:blipFill>
        <p:spPr>
          <a:xfrm>
            <a:off x="9806754" y="1118355"/>
            <a:ext cx="1625600" cy="8455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sp>
        <p:nvSpPr>
          <p:cNvPr id="2007" name="Google Shape;2007;p13"/>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8" name="Google Shape;2008;p13"/>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009" name="Google Shape;2009;p13"/>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0" name="Google Shape;2010;p13"/>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1" name="Google Shape;2011;p13"/>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2" name="Google Shape;2012;p13"/>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3" name="Google Shape;2013;p13"/>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4" name="Google Shape;2014;p13"/>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5" name="Google Shape;2015;p13"/>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6" name="Google Shape;2016;p13"/>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7" name="Google Shape;2017;p13"/>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8" name="Google Shape;2018;p13"/>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19" name="Google Shape;2019;p13"/>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0" name="Google Shape;2020;p13"/>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1" name="Google Shape;2021;p13"/>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2" name="Google Shape;2022;p13"/>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3" name="Google Shape;2023;p13"/>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4" name="Google Shape;2024;p13"/>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5" name="Google Shape;2025;p13"/>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6" name="Google Shape;2026;p13"/>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7" name="Google Shape;2027;p13"/>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8" name="Google Shape;2028;p13"/>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29" name="Google Shape;2029;p13"/>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0" name="Google Shape;2030;p13"/>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1" name="Google Shape;2031;p13"/>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2" name="Google Shape;2032;p13"/>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3" name="Google Shape;2033;p13"/>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4" name="Google Shape;2034;p13"/>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5" name="Google Shape;2035;p13"/>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6" name="Google Shape;2036;p13"/>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7" name="Google Shape;2037;p13"/>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8" name="Google Shape;2038;p13"/>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39" name="Google Shape;2039;p13"/>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0" name="Google Shape;2040;p13"/>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1" name="Google Shape;2041;p13"/>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2" name="Google Shape;2042;p13"/>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3" name="Google Shape;2043;p13"/>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4" name="Google Shape;2044;p13"/>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5" name="Google Shape;2045;p13"/>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6" name="Google Shape;2046;p13"/>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7" name="Google Shape;2047;p13"/>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8" name="Google Shape;2048;p13"/>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49" name="Google Shape;2049;p13"/>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0" name="Google Shape;2050;p13"/>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1" name="Google Shape;2051;p13"/>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2" name="Google Shape;2052;p13"/>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3" name="Google Shape;2053;p13"/>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4" name="Google Shape;2054;p13"/>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5" name="Google Shape;2055;p13"/>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056" name="Google Shape;2056;p13"/>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057" name="Google Shape;2057;p13"/>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8" name="Google Shape;2058;p13"/>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9" name="Google Shape;2059;p13"/>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0" name="Google Shape;2060;p13"/>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1" name="Google Shape;2061;p13"/>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2" name="Google Shape;2062;p13"/>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3" name="Google Shape;2063;p13"/>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4" name="Google Shape;2064;p13"/>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5" name="Google Shape;2065;p13"/>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6" name="Google Shape;2066;p13"/>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7" name="Google Shape;2067;p13"/>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8" name="Google Shape;2068;p13"/>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9" name="Google Shape;2069;p13"/>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0" name="Google Shape;2070;p13"/>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1" name="Google Shape;2071;p13"/>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2" name="Google Shape;2072;p13"/>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3" name="Google Shape;2073;p13"/>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4" name="Google Shape;2074;p13"/>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5" name="Google Shape;2075;p13"/>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6" name="Google Shape;2076;p13"/>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7" name="Google Shape;2077;p13"/>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8" name="Google Shape;2078;p13"/>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9" name="Google Shape;2079;p13"/>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0" name="Google Shape;2080;p13"/>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081" name="Google Shape;2081;p13"/>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082" name="Google Shape;2082;p13"/>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3" name="Google Shape;2083;p13"/>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084" name="Google Shape;2084;p13"/>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085" name="Google Shape;2085;p13"/>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086" name="Google Shape;2086;p13"/>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087" name="Google Shape;2087;p13"/>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088" name="Google Shape;2088;p13"/>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13</a:t>
            </a:r>
            <a:endParaRPr/>
          </a:p>
        </p:txBody>
      </p:sp>
      <p:pic>
        <p:nvPicPr>
          <p:cNvPr descr="PU-H-Full-RGB.png" id="2089" name="Google Shape;2089;p13"/>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090" name="Google Shape;2090;p13"/>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091" name="Google Shape;2091;p13"/>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092" name="Google Shape;2092;p13"/>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Mike Kirby</a:t>
            </a:r>
            <a:endParaRPr/>
          </a:p>
        </p:txBody>
      </p:sp>
      <p:sp>
        <p:nvSpPr>
          <p:cNvPr id="2093" name="Google Shape;2093;p13"/>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4" name="Google Shape;2094;p13"/>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Utah</a:t>
            </a:r>
            <a:endParaRPr/>
          </a:p>
        </p:txBody>
      </p:sp>
      <p:sp>
        <p:nvSpPr>
          <p:cNvPr id="2095" name="Google Shape;2095;p13"/>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TALK · 10 MIN</a:t>
            </a:r>
            <a:endParaRPr/>
          </a:p>
        </p:txBody>
      </p:sp>
      <p:sp>
        <p:nvSpPr>
          <p:cNvPr id="2096" name="Google Shape;2096;p13"/>
          <p:cNvSpPr txBox="1"/>
          <p:nvPr/>
        </p:nvSpPr>
        <p:spPr>
          <a:xfrm>
            <a:off x="4343400" y="2121408"/>
            <a:ext cx="7178040" cy="91439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00">
                <a:solidFill>
                  <a:srgbClr val="082B4C"/>
                </a:solidFill>
                <a:latin typeface="Arial"/>
                <a:ea typeface="Arial"/>
                <a:cs typeface="Arial"/>
                <a:sym typeface="Arial"/>
              </a:rPr>
              <a:t>Introducing AURORA: A Utah Programmable Cloud Laboratory (PCL) Node for Quantum Materials and Beyond</a:t>
            </a:r>
            <a:endParaRPr/>
          </a:p>
        </p:txBody>
      </p:sp>
      <p:sp>
        <p:nvSpPr>
          <p:cNvPr id="2097" name="Google Shape;2097;p13"/>
          <p:cNvSpPr txBox="1"/>
          <p:nvPr/>
        </p:nvSpPr>
        <p:spPr>
          <a:xfrm>
            <a:off x="4343400" y="3118103"/>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Science Domains and Trustworthy Autonomy</a:t>
            </a:r>
            <a:endParaRPr/>
          </a:p>
        </p:txBody>
      </p:sp>
      <p:sp>
        <p:nvSpPr>
          <p:cNvPr id="2098" name="Google Shape;2098;p13"/>
          <p:cNvSpPr txBox="1"/>
          <p:nvPr/>
        </p:nvSpPr>
        <p:spPr>
          <a:xfrm>
            <a:off x="4343400" y="339242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10:30 AM–12:00 PM CT</a:t>
            </a:r>
            <a:endParaRPr/>
          </a:p>
        </p:txBody>
      </p:sp>
      <p:sp>
        <p:nvSpPr>
          <p:cNvPr id="2099" name="Google Shape;2099;p13"/>
          <p:cNvSpPr txBox="1"/>
          <p:nvPr/>
        </p:nvSpPr>
        <p:spPr>
          <a:xfrm>
            <a:off x="4433816" y="3872964"/>
            <a:ext cx="5967483" cy="12202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Mike Kirby is a Professor of Computing and Acting Director of the Scientific Computing and Imaging Institute at the University of Utah, as well as founding Executive Director of the Utah Informatics Initiative. His research spans scientific and data computing, visualization, uncertainty quantification, high-performance computing, and computational science and engineering</a:t>
            </a:r>
            <a:r>
              <a:rPr lang="en-US" sz="1800">
                <a:solidFill>
                  <a:schemeClr val="dk1"/>
                </a:solidFill>
                <a:latin typeface="Calibri"/>
                <a:ea typeface="Calibri"/>
                <a:cs typeface="Calibri"/>
                <a:sym typeface="Calibri"/>
              </a:rPr>
              <a:t>.</a:t>
            </a:r>
            <a:endParaRPr/>
          </a:p>
        </p:txBody>
      </p:sp>
      <p:pic>
        <p:nvPicPr>
          <p:cNvPr descr="Profile of Mike Kirby" id="2100" name="Google Shape;2100;p13"/>
          <p:cNvPicPr preferRelativeResize="0"/>
          <p:nvPr/>
        </p:nvPicPr>
        <p:blipFill rotWithShape="1">
          <a:blip r:embed="rId10">
            <a:alphaModFix/>
          </a:blip>
          <a:srcRect b="0" l="0" r="0" t="0"/>
          <a:stretch/>
        </p:blipFill>
        <p:spPr>
          <a:xfrm>
            <a:off x="568691" y="2336184"/>
            <a:ext cx="2741820" cy="2723282"/>
          </a:xfrm>
          <a:prstGeom prst="ellipse">
            <a:avLst/>
          </a:prstGeom>
          <a:noFill/>
          <a:ln>
            <a:noFill/>
          </a:ln>
        </p:spPr>
      </p:pic>
      <p:pic>
        <p:nvPicPr>
          <p:cNvPr descr="UU-Logo-CTR_RED.png" id="2101" name="Google Shape;2101;p13"/>
          <p:cNvPicPr preferRelativeResize="0"/>
          <p:nvPr/>
        </p:nvPicPr>
        <p:blipFill rotWithShape="1">
          <a:blip r:embed="rId6">
            <a:alphaModFix/>
          </a:blip>
          <a:srcRect b="0" l="0" r="0" t="0"/>
          <a:stretch/>
        </p:blipFill>
        <p:spPr>
          <a:xfrm>
            <a:off x="10196211" y="244928"/>
            <a:ext cx="1274239" cy="10944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6" name="Shape 2106"/>
        <p:cNvGrpSpPr/>
        <p:nvPr/>
      </p:nvGrpSpPr>
      <p:grpSpPr>
        <a:xfrm>
          <a:off x="0" y="0"/>
          <a:ext cx="0" cy="0"/>
          <a:chOff x="0" y="0"/>
          <a:chExt cx="0" cy="0"/>
        </a:xfrm>
      </p:grpSpPr>
      <p:sp>
        <p:nvSpPr>
          <p:cNvPr id="2107" name="Google Shape;2107;p14"/>
          <p:cNvSpPr/>
          <p:nvPr/>
        </p:nvSpPr>
        <p:spPr>
          <a:xfrm>
            <a:off x="131256" y="-11844"/>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8" name="Google Shape;2108;p14"/>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09" name="Google Shape;2109;p14"/>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0" name="Google Shape;2110;p14"/>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1" name="Google Shape;2111;p14"/>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2" name="Google Shape;2112;p14"/>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3" name="Google Shape;2113;p14"/>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4" name="Google Shape;2114;p14"/>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5" name="Google Shape;2115;p14"/>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6" name="Google Shape;2116;p14"/>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7" name="Google Shape;2117;p14"/>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8" name="Google Shape;2118;p14"/>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19" name="Google Shape;2119;p14"/>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0" name="Google Shape;2120;p14"/>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1" name="Google Shape;2121;p14"/>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2" name="Google Shape;2122;p14"/>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3" name="Google Shape;2123;p14"/>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4" name="Google Shape;2124;p14"/>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5" name="Google Shape;2125;p14"/>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6" name="Google Shape;2126;p14"/>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7" name="Google Shape;2127;p14"/>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8" name="Google Shape;2128;p14"/>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29" name="Google Shape;2129;p14"/>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0" name="Google Shape;2130;p14"/>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1" name="Google Shape;2131;p14"/>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2" name="Google Shape;2132;p14"/>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3" name="Google Shape;2133;p14"/>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4" name="Google Shape;2134;p14"/>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5" name="Google Shape;2135;p14"/>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6" name="Google Shape;2136;p14"/>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7" name="Google Shape;2137;p14"/>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8" name="Google Shape;2138;p14"/>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39" name="Google Shape;2139;p14"/>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0" name="Google Shape;2140;p14"/>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1" name="Google Shape;2141;p14"/>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2" name="Google Shape;2142;p14"/>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3" name="Google Shape;2143;p14"/>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4" name="Google Shape;2144;p14"/>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5" name="Google Shape;2145;p14"/>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6" name="Google Shape;2146;p14"/>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7" name="Google Shape;2147;p14"/>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8" name="Google Shape;2148;p14"/>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49" name="Google Shape;2149;p14"/>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0" name="Google Shape;2150;p14"/>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1" name="Google Shape;2151;p14"/>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2" name="Google Shape;2152;p14"/>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3" name="Google Shape;2153;p14"/>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4" name="Google Shape;2154;p14"/>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5" name="Google Shape;2155;p14"/>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156" name="Google Shape;2156;p14"/>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157" name="Google Shape;2157;p14"/>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8" name="Google Shape;2158;p14"/>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9" name="Google Shape;2159;p14"/>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0" name="Google Shape;2160;p14"/>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1" name="Google Shape;2161;p14"/>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2" name="Google Shape;2162;p14"/>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3" name="Google Shape;2163;p14"/>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4" name="Google Shape;2164;p14"/>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5" name="Google Shape;2165;p14"/>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6" name="Google Shape;2166;p14"/>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7" name="Google Shape;2167;p14"/>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8" name="Google Shape;2168;p14"/>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9" name="Google Shape;2169;p14"/>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0" name="Google Shape;2170;p14"/>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1" name="Google Shape;2171;p14"/>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2" name="Google Shape;2172;p14"/>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3" name="Google Shape;2173;p14"/>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4" name="Google Shape;2174;p14"/>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5" name="Google Shape;2175;p14"/>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6" name="Google Shape;2176;p14"/>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7" name="Google Shape;2177;p14"/>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8" name="Google Shape;2178;p14"/>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9" name="Google Shape;2179;p14"/>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0" name="Google Shape;2180;p14"/>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181" name="Google Shape;2181;p14"/>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182" name="Google Shape;2182;p14"/>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3" name="Google Shape;2183;p14"/>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184" name="Google Shape;2184;p14"/>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185" name="Google Shape;2185;p14"/>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186" name="Google Shape;2186;p14"/>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187" name="Google Shape;2187;p14"/>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188" name="Google Shape;2188;p14"/>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14</a:t>
            </a:r>
            <a:endParaRPr/>
          </a:p>
        </p:txBody>
      </p:sp>
      <p:pic>
        <p:nvPicPr>
          <p:cNvPr descr="PU-H-Full-RGB.png" id="2189" name="Google Shape;2189;p14"/>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190" name="Google Shape;2190;p14"/>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191" name="Google Shape;2191;p14"/>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192" name="Google Shape;2192;p14"/>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Carol Song</a:t>
            </a:r>
            <a:endParaRPr/>
          </a:p>
        </p:txBody>
      </p:sp>
      <p:sp>
        <p:nvSpPr>
          <p:cNvPr id="2193" name="Google Shape;2193;p14"/>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0">
                <a:solidFill>
                  <a:srgbClr val="5F7385"/>
                </a:solidFill>
                <a:latin typeface="Arial"/>
                <a:ea typeface="Arial"/>
                <a:cs typeface="Arial"/>
                <a:sym typeface="Arial"/>
              </a:rPr>
              <a:t>Session Moderator</a:t>
            </a:r>
            <a:endParaRPr/>
          </a:p>
        </p:txBody>
      </p:sp>
      <p:sp>
        <p:nvSpPr>
          <p:cNvPr id="2194" name="Google Shape;2194;p14"/>
          <p:cNvSpPr txBox="1"/>
          <p:nvPr/>
        </p:nvSpPr>
        <p:spPr>
          <a:xfrm>
            <a:off x="4343400" y="128016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Purdue University</a:t>
            </a:r>
            <a:endParaRPr/>
          </a:p>
        </p:txBody>
      </p:sp>
      <p:sp>
        <p:nvSpPr>
          <p:cNvPr id="2195" name="Google Shape;2195;p14"/>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MODERATOR · 45 MIN</a:t>
            </a:r>
            <a:endParaRPr/>
          </a:p>
        </p:txBody>
      </p:sp>
      <p:sp>
        <p:nvSpPr>
          <p:cNvPr id="2196" name="Google Shape;2196;p14"/>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Cross-Cutting Perspectives: Data, AI, and Federation</a:t>
            </a:r>
            <a:endParaRPr/>
          </a:p>
        </p:txBody>
      </p:sp>
      <p:sp>
        <p:nvSpPr>
          <p:cNvPr id="2197" name="Google Shape;2197;p14"/>
          <p:cNvSpPr txBox="1"/>
          <p:nvPr/>
        </p:nvSpPr>
        <p:spPr>
          <a:xfrm>
            <a:off x="4343400" y="30419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1:30–2:15 PM CT</a:t>
            </a:r>
            <a:endParaRPr/>
          </a:p>
        </p:txBody>
      </p:sp>
      <p:sp>
        <p:nvSpPr>
          <p:cNvPr id="2198" name="Google Shape;2198;p14"/>
          <p:cNvSpPr txBox="1"/>
          <p:nvPr/>
        </p:nvSpPr>
        <p:spPr>
          <a:xfrm>
            <a:off x="4343400" y="3596730"/>
            <a:ext cx="7029450" cy="14964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Xiaohui “Carol” Song is Chief Scientist at Purdue University’s Rosen Center for Advanced Computing, with more than 20 years of experience in high-performance and distributed computing, research software engineering, and scientific cyberinfrastructure. She leads major national computing and data initiatives, including the NSF-funded Anvil supercomputer, and has served as PI or Co-PI on more than 30 projects representing over $90 million in research funding.</a:t>
            </a:r>
            <a:endParaRPr/>
          </a:p>
        </p:txBody>
      </p:sp>
      <p:pic>
        <p:nvPicPr>
          <p:cNvPr descr="Xiaohui Carol Song's Profile Photo" id="2199" name="Google Shape;2199;p14"/>
          <p:cNvPicPr preferRelativeResize="0"/>
          <p:nvPr/>
        </p:nvPicPr>
        <p:blipFill rotWithShape="1">
          <a:blip r:embed="rId10">
            <a:alphaModFix/>
          </a:blip>
          <a:srcRect b="0" l="0" r="0" t="0"/>
          <a:stretch/>
        </p:blipFill>
        <p:spPr>
          <a:xfrm>
            <a:off x="436460" y="2364419"/>
            <a:ext cx="2808985" cy="2839517"/>
          </a:xfrm>
          <a:prstGeom prst="ellipse">
            <a:avLst/>
          </a:prstGeom>
          <a:noFill/>
          <a:ln>
            <a:noFill/>
          </a:ln>
        </p:spPr>
      </p:pic>
      <p:sp>
        <p:nvSpPr>
          <p:cNvPr descr="Purdue University" id="2200" name="Google Shape;2200;p14"/>
          <p:cNvSpPr/>
          <p:nvPr/>
        </p:nvSpPr>
        <p:spPr>
          <a:xfrm>
            <a:off x="8962144" y="520584"/>
            <a:ext cx="2549454" cy="518370"/>
          </a:xfrm>
          <a:prstGeom prst="rect">
            <a:avLst/>
          </a:prstGeom>
          <a:no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15"/>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07" name="Google Shape;2207;p15"/>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08" name="Google Shape;2208;p15"/>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09" name="Google Shape;2209;p15"/>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0" name="Google Shape;2210;p15"/>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1" name="Google Shape;2211;p15"/>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2" name="Google Shape;2212;p15"/>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3" name="Google Shape;2213;p15"/>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4" name="Google Shape;2214;p15"/>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5" name="Google Shape;2215;p15"/>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6" name="Google Shape;2216;p15"/>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7" name="Google Shape;2217;p15"/>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8" name="Google Shape;2218;p15"/>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19" name="Google Shape;2219;p15"/>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0" name="Google Shape;2220;p15"/>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1" name="Google Shape;2221;p15"/>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2" name="Google Shape;2222;p15"/>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3" name="Google Shape;2223;p15"/>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4" name="Google Shape;2224;p15"/>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5" name="Google Shape;2225;p15"/>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6" name="Google Shape;2226;p15"/>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7" name="Google Shape;2227;p15"/>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8" name="Google Shape;2228;p15"/>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29" name="Google Shape;2229;p15"/>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0" name="Google Shape;2230;p15"/>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1" name="Google Shape;2231;p15"/>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2" name="Google Shape;2232;p15"/>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3" name="Google Shape;2233;p15"/>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4" name="Google Shape;2234;p15"/>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5" name="Google Shape;2235;p15"/>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6" name="Google Shape;2236;p15"/>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7" name="Google Shape;2237;p15"/>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8" name="Google Shape;2238;p15"/>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39" name="Google Shape;2239;p15"/>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0" name="Google Shape;2240;p15"/>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1" name="Google Shape;2241;p15"/>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2" name="Google Shape;2242;p15"/>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3" name="Google Shape;2243;p15"/>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4" name="Google Shape;2244;p15"/>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5" name="Google Shape;2245;p15"/>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6" name="Google Shape;2246;p15"/>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7" name="Google Shape;2247;p15"/>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8" name="Google Shape;2248;p15"/>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49" name="Google Shape;2249;p15"/>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50" name="Google Shape;2250;p15"/>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51" name="Google Shape;2251;p15"/>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52" name="Google Shape;2252;p15"/>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53" name="Google Shape;2253;p15"/>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254" name="Google Shape;2254;p15"/>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255" name="Google Shape;2255;p15"/>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6" name="Google Shape;2256;p15"/>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7" name="Google Shape;2257;p15"/>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8" name="Google Shape;2258;p15"/>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9" name="Google Shape;2259;p15"/>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0" name="Google Shape;2260;p15"/>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1" name="Google Shape;2261;p15"/>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2" name="Google Shape;2262;p15"/>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3" name="Google Shape;2263;p15"/>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4" name="Google Shape;2264;p15"/>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5" name="Google Shape;2265;p15"/>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6" name="Google Shape;2266;p15"/>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7" name="Google Shape;2267;p15"/>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8" name="Google Shape;2268;p15"/>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9" name="Google Shape;2269;p15"/>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0" name="Google Shape;2270;p15"/>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1" name="Google Shape;2271;p15"/>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2" name="Google Shape;2272;p15"/>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3" name="Google Shape;2273;p15"/>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4" name="Google Shape;2274;p15"/>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5" name="Google Shape;2275;p15"/>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6" name="Google Shape;2276;p15"/>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7" name="Google Shape;2277;p15"/>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8" name="Google Shape;2278;p15"/>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279" name="Google Shape;2279;p15"/>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280" name="Google Shape;2280;p15"/>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1" name="Google Shape;2281;p15"/>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282" name="Google Shape;2282;p15"/>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283" name="Google Shape;2283;p15"/>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284" name="Google Shape;2284;p15"/>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285" name="Google Shape;2285;p15"/>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286" name="Google Shape;2286;p15"/>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15</a:t>
            </a:r>
            <a:endParaRPr/>
          </a:p>
        </p:txBody>
      </p:sp>
      <p:pic>
        <p:nvPicPr>
          <p:cNvPr descr="PU-H-Full-RGB.png" id="2287" name="Google Shape;2287;p15"/>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288" name="Google Shape;2288;p15"/>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289" name="Google Shape;2289;p15"/>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290" name="Google Shape;2290;p15"/>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Cogan Shimizu</a:t>
            </a:r>
            <a:endParaRPr/>
          </a:p>
        </p:txBody>
      </p:sp>
      <p:sp>
        <p:nvSpPr>
          <p:cNvPr id="2291" name="Google Shape;2291;p15"/>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2" name="Google Shape;2292;p15"/>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Wright State University</a:t>
            </a:r>
            <a:endParaRPr/>
          </a:p>
        </p:txBody>
      </p:sp>
      <p:sp>
        <p:nvSpPr>
          <p:cNvPr id="2293" name="Google Shape;2293;p15"/>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2294" name="Google Shape;2294;p15"/>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Knowledge Representation &amp; Semantics in AI Science</a:t>
            </a:r>
            <a:endParaRPr/>
          </a:p>
        </p:txBody>
      </p:sp>
      <p:sp>
        <p:nvSpPr>
          <p:cNvPr id="2295" name="Google Shape;2295;p15"/>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Cross-Cutting Perspectives: Data, AI, and Federation</a:t>
            </a:r>
            <a:endParaRPr/>
          </a:p>
        </p:txBody>
      </p:sp>
      <p:sp>
        <p:nvSpPr>
          <p:cNvPr id="2296" name="Google Shape;2296;p15"/>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1:30–2:15 PM CT</a:t>
            </a:r>
            <a:endParaRPr/>
          </a:p>
        </p:txBody>
      </p:sp>
      <p:sp>
        <p:nvSpPr>
          <p:cNvPr id="2297" name="Google Shape;2297;p15"/>
          <p:cNvSpPr txBox="1"/>
          <p:nvPr/>
        </p:nvSpPr>
        <p:spPr>
          <a:xfrm>
            <a:off x="4343400" y="3738078"/>
            <a:ext cx="6809014" cy="13551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Cogan Shimizu is an Associate Professor of Computer Science and Engineering at Wright State University specializing in knowledge engineering, knowledge graphs, and neurosymbolic AI. His research develops methods for constructing and applying knowledge graphs and explores the intersection of neural and symbolic representations, including human-in-the-loop approaches to AI.</a:t>
            </a:r>
            <a:endParaRPr/>
          </a:p>
        </p:txBody>
      </p:sp>
      <p:sp>
        <p:nvSpPr>
          <p:cNvPr id="2298" name="Google Shape;2298;p15"/>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2299" name="Google Shape;2299;p15"/>
          <p:cNvPicPr preferRelativeResize="0"/>
          <p:nvPr/>
        </p:nvPicPr>
        <p:blipFill rotWithShape="1">
          <a:blip r:embed="rId10">
            <a:alphaModFix/>
          </a:blip>
          <a:srcRect b="0" l="0" r="0" t="0"/>
          <a:stretch/>
        </p:blipFill>
        <p:spPr>
          <a:xfrm flipH="1">
            <a:off x="502918" y="2157831"/>
            <a:ext cx="2785153" cy="3003742"/>
          </a:xfrm>
          <a:prstGeom prst="ellipse">
            <a:avLst/>
          </a:prstGeom>
          <a:noFill/>
          <a:ln>
            <a:noFill/>
          </a:ln>
        </p:spPr>
      </p:pic>
      <p:pic>
        <p:nvPicPr>
          <p:cNvPr descr="wright state university primary logo" id="2300" name="Google Shape;2300;p15"/>
          <p:cNvPicPr preferRelativeResize="0"/>
          <p:nvPr/>
        </p:nvPicPr>
        <p:blipFill rotWithShape="1">
          <a:blip r:embed="rId11">
            <a:alphaModFix/>
          </a:blip>
          <a:srcRect b="0" l="0" r="0" t="0"/>
          <a:stretch/>
        </p:blipFill>
        <p:spPr>
          <a:xfrm>
            <a:off x="9078685" y="161976"/>
            <a:ext cx="2669323" cy="137916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5" name="Shape 2305"/>
        <p:cNvGrpSpPr/>
        <p:nvPr/>
      </p:nvGrpSpPr>
      <p:grpSpPr>
        <a:xfrm>
          <a:off x="0" y="0"/>
          <a:ext cx="0" cy="0"/>
          <a:chOff x="0" y="0"/>
          <a:chExt cx="0" cy="0"/>
        </a:xfrm>
      </p:grpSpPr>
      <p:sp>
        <p:nvSpPr>
          <p:cNvPr id="2306" name="Google Shape;2306;p16"/>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7" name="Google Shape;2307;p16"/>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08" name="Google Shape;2308;p16"/>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09" name="Google Shape;2309;p16"/>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0" name="Google Shape;2310;p16"/>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1" name="Google Shape;2311;p16"/>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2" name="Google Shape;2312;p16"/>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3" name="Google Shape;2313;p16"/>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4" name="Google Shape;2314;p16"/>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5" name="Google Shape;2315;p16"/>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6" name="Google Shape;2316;p16"/>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7" name="Google Shape;2317;p16"/>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8" name="Google Shape;2318;p16"/>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19" name="Google Shape;2319;p16"/>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0" name="Google Shape;2320;p16"/>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1" name="Google Shape;2321;p16"/>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2" name="Google Shape;2322;p16"/>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3" name="Google Shape;2323;p16"/>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4" name="Google Shape;2324;p16"/>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5" name="Google Shape;2325;p16"/>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6" name="Google Shape;2326;p16"/>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7" name="Google Shape;2327;p16"/>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8" name="Google Shape;2328;p16"/>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29" name="Google Shape;2329;p16"/>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0" name="Google Shape;2330;p16"/>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1" name="Google Shape;2331;p16"/>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2" name="Google Shape;2332;p16"/>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3" name="Google Shape;2333;p16"/>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4" name="Google Shape;2334;p16"/>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5" name="Google Shape;2335;p16"/>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6" name="Google Shape;2336;p16"/>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7" name="Google Shape;2337;p16"/>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8" name="Google Shape;2338;p16"/>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39" name="Google Shape;2339;p16"/>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0" name="Google Shape;2340;p16"/>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1" name="Google Shape;2341;p16"/>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2" name="Google Shape;2342;p16"/>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3" name="Google Shape;2343;p16"/>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4" name="Google Shape;2344;p16"/>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5" name="Google Shape;2345;p16"/>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6" name="Google Shape;2346;p16"/>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7" name="Google Shape;2347;p16"/>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8" name="Google Shape;2348;p16"/>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49" name="Google Shape;2349;p16"/>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50" name="Google Shape;2350;p16"/>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51" name="Google Shape;2351;p16"/>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52" name="Google Shape;2352;p16"/>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53" name="Google Shape;2353;p16"/>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54" name="Google Shape;2354;p16"/>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355" name="Google Shape;2355;p16"/>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356" name="Google Shape;2356;p16"/>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7" name="Google Shape;2357;p16"/>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8" name="Google Shape;2358;p16"/>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9" name="Google Shape;2359;p16"/>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0" name="Google Shape;2360;p16"/>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1" name="Google Shape;2361;p16"/>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2" name="Google Shape;2362;p16"/>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3" name="Google Shape;2363;p16"/>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4" name="Google Shape;2364;p16"/>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5" name="Google Shape;2365;p16"/>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6" name="Google Shape;2366;p16"/>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7" name="Google Shape;2367;p16"/>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8" name="Google Shape;2368;p16"/>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9" name="Google Shape;2369;p16"/>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0" name="Google Shape;2370;p16"/>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1" name="Google Shape;2371;p16"/>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2" name="Google Shape;2372;p16"/>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3" name="Google Shape;2373;p16"/>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4" name="Google Shape;2374;p16"/>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5" name="Google Shape;2375;p16"/>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6" name="Google Shape;2376;p16"/>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7" name="Google Shape;2377;p16"/>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8" name="Google Shape;2378;p16"/>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9" name="Google Shape;2379;p16"/>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380" name="Google Shape;2380;p16"/>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381" name="Google Shape;2381;p16"/>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2" name="Google Shape;2382;p16"/>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383" name="Google Shape;2383;p16"/>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384" name="Google Shape;2384;p16"/>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385" name="Google Shape;2385;p16"/>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386" name="Google Shape;2386;p16"/>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387" name="Google Shape;2387;p16"/>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16</a:t>
            </a:r>
            <a:endParaRPr/>
          </a:p>
        </p:txBody>
      </p:sp>
      <p:pic>
        <p:nvPicPr>
          <p:cNvPr descr="PU-H-Full-RGB.png" id="2388" name="Google Shape;2388;p16"/>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389" name="Google Shape;2389;p16"/>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390" name="Google Shape;2390;p16"/>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391" name="Google Shape;2391;p16"/>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Russell Schwartz</a:t>
            </a:r>
            <a:endParaRPr/>
          </a:p>
        </p:txBody>
      </p:sp>
      <p:sp>
        <p:nvSpPr>
          <p:cNvPr id="2392" name="Google Shape;2392;p16"/>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3" name="Google Shape;2393;p16"/>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DARPA Biological Technologies Office and Carnegie Mellon University</a:t>
            </a:r>
            <a:endParaRPr/>
          </a:p>
        </p:txBody>
      </p:sp>
      <p:sp>
        <p:nvSpPr>
          <p:cNvPr id="2394" name="Google Shape;2394;p16"/>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2395" name="Google Shape;2395;p16"/>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AI-Driven Autonomous Data Factories for Scientific Applications</a:t>
            </a:r>
            <a:endParaRPr/>
          </a:p>
        </p:txBody>
      </p:sp>
      <p:sp>
        <p:nvSpPr>
          <p:cNvPr id="2396" name="Google Shape;2396;p16"/>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Cross-Cutting Perspectives: Data, AI, and Federation</a:t>
            </a:r>
            <a:endParaRPr/>
          </a:p>
        </p:txBody>
      </p:sp>
      <p:sp>
        <p:nvSpPr>
          <p:cNvPr id="2397" name="Google Shape;2397;p16"/>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1:30–2:15 PM CT</a:t>
            </a:r>
            <a:endParaRPr/>
          </a:p>
        </p:txBody>
      </p:sp>
      <p:sp>
        <p:nvSpPr>
          <p:cNvPr id="2398" name="Google Shape;2398;p16"/>
          <p:cNvSpPr txBox="1"/>
          <p:nvPr/>
        </p:nvSpPr>
        <p:spPr>
          <a:xfrm>
            <a:off x="4343399" y="3779226"/>
            <a:ext cx="6433457" cy="13139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Russell Schwartz is Professor and Head of the Computational Biology Department at Carnegie Mellon University, specializing in algorithms, machine learning, computational genetics, genomics, and biophysics. His research has a major focus on cancer evolution, including tumor phylogenetics, single-cell and spatial genomics, liquid biopsy, and machine-learning methods for predicting cancer progression.</a:t>
            </a:r>
            <a:endParaRPr/>
          </a:p>
        </p:txBody>
      </p:sp>
      <p:sp>
        <p:nvSpPr>
          <p:cNvPr id="2399" name="Google Shape;2399;p16"/>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Russell Schwartz" id="2400" name="Google Shape;2400;p16"/>
          <p:cNvPicPr preferRelativeResize="0"/>
          <p:nvPr/>
        </p:nvPicPr>
        <p:blipFill rotWithShape="1">
          <a:blip r:embed="rId10">
            <a:alphaModFix/>
          </a:blip>
          <a:srcRect b="0" l="0" r="0" t="0"/>
          <a:stretch/>
        </p:blipFill>
        <p:spPr>
          <a:xfrm>
            <a:off x="568692" y="2250483"/>
            <a:ext cx="2707906" cy="2803974"/>
          </a:xfrm>
          <a:prstGeom prst="ellipse">
            <a:avLst/>
          </a:prstGeom>
          <a:noFill/>
          <a:ln>
            <a:noFill/>
          </a:ln>
        </p:spPr>
      </p:pic>
      <p:pic>
        <p:nvPicPr>
          <p:cNvPr descr="University Logo | Brand Standards" id="2401" name="Google Shape;2401;p16"/>
          <p:cNvPicPr preferRelativeResize="0"/>
          <p:nvPr/>
        </p:nvPicPr>
        <p:blipFill rotWithShape="1">
          <a:blip r:embed="rId11">
            <a:alphaModFix/>
          </a:blip>
          <a:srcRect b="0" l="0" r="0" t="0"/>
          <a:stretch/>
        </p:blipFill>
        <p:spPr>
          <a:xfrm>
            <a:off x="9953742" y="136526"/>
            <a:ext cx="1672513" cy="907642"/>
          </a:xfrm>
          <a:prstGeom prst="rect">
            <a:avLst/>
          </a:prstGeom>
          <a:noFill/>
          <a:ln>
            <a:noFill/>
          </a:ln>
        </p:spPr>
      </p:pic>
      <p:pic>
        <p:nvPicPr>
          <p:cNvPr descr="DARPA Launches New Biological Technologies Office » CCC Blog" id="2402" name="Google Shape;2402;p16"/>
          <p:cNvPicPr preferRelativeResize="0"/>
          <p:nvPr/>
        </p:nvPicPr>
        <p:blipFill rotWithShape="1">
          <a:blip r:embed="rId12">
            <a:alphaModFix/>
          </a:blip>
          <a:srcRect b="0" l="0" r="0" t="0"/>
          <a:stretch/>
        </p:blipFill>
        <p:spPr>
          <a:xfrm>
            <a:off x="9826994" y="1088590"/>
            <a:ext cx="1828800" cy="927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7" name="Shape 2407"/>
        <p:cNvGrpSpPr/>
        <p:nvPr/>
      </p:nvGrpSpPr>
      <p:grpSpPr>
        <a:xfrm>
          <a:off x="0" y="0"/>
          <a:ext cx="0" cy="0"/>
          <a:chOff x="0" y="0"/>
          <a:chExt cx="0" cy="0"/>
        </a:xfrm>
      </p:grpSpPr>
      <p:sp>
        <p:nvSpPr>
          <p:cNvPr id="2408" name="Google Shape;2408;p17"/>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09" name="Google Shape;2409;p17"/>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0" name="Google Shape;2410;p17"/>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1" name="Google Shape;2411;p17"/>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2" name="Google Shape;2412;p17"/>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3" name="Google Shape;2413;p17"/>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4" name="Google Shape;2414;p17"/>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5" name="Google Shape;2415;p17"/>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6" name="Google Shape;2416;p17"/>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7" name="Google Shape;2417;p17"/>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8" name="Google Shape;2418;p17"/>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19" name="Google Shape;2419;p17"/>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0" name="Google Shape;2420;p17"/>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1" name="Google Shape;2421;p17"/>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2" name="Google Shape;2422;p17"/>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3" name="Google Shape;2423;p17"/>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4" name="Google Shape;2424;p17"/>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5" name="Google Shape;2425;p17"/>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6" name="Google Shape;2426;p17"/>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7" name="Google Shape;2427;p17"/>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8" name="Google Shape;2428;p17"/>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29" name="Google Shape;2429;p17"/>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0" name="Google Shape;2430;p17"/>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1" name="Google Shape;2431;p17"/>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2" name="Google Shape;2432;p17"/>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3" name="Google Shape;2433;p17"/>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4" name="Google Shape;2434;p17"/>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5" name="Google Shape;2435;p17"/>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6" name="Google Shape;2436;p17"/>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7" name="Google Shape;2437;p17"/>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8" name="Google Shape;2438;p17"/>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39" name="Google Shape;2439;p17"/>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0" name="Google Shape;2440;p17"/>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1" name="Google Shape;2441;p17"/>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2" name="Google Shape;2442;p17"/>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3" name="Google Shape;2443;p17"/>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4" name="Google Shape;2444;p17"/>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5" name="Google Shape;2445;p17"/>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6" name="Google Shape;2446;p17"/>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7" name="Google Shape;2447;p17"/>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8" name="Google Shape;2448;p17"/>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49" name="Google Shape;2449;p17"/>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0" name="Google Shape;2450;p17"/>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1" name="Google Shape;2451;p17"/>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2" name="Google Shape;2452;p17"/>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3" name="Google Shape;2453;p17"/>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4" name="Google Shape;2454;p17"/>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5" name="Google Shape;2455;p17"/>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456" name="Google Shape;2456;p17"/>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457" name="Google Shape;2457;p17"/>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8" name="Google Shape;2458;p17"/>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9" name="Google Shape;2459;p17"/>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0" name="Google Shape;2460;p17"/>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1" name="Google Shape;2461;p17"/>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2" name="Google Shape;2462;p17"/>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3" name="Google Shape;2463;p17"/>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4" name="Google Shape;2464;p17"/>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5" name="Google Shape;2465;p17"/>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6" name="Google Shape;2466;p17"/>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7" name="Google Shape;2467;p17"/>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8" name="Google Shape;2468;p17"/>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9" name="Google Shape;2469;p17"/>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0" name="Google Shape;2470;p17"/>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1" name="Google Shape;2471;p17"/>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2" name="Google Shape;2472;p17"/>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3" name="Google Shape;2473;p17"/>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4" name="Google Shape;2474;p17"/>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5" name="Google Shape;2475;p17"/>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6" name="Google Shape;2476;p17"/>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7" name="Google Shape;2477;p17"/>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8" name="Google Shape;2478;p17"/>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9" name="Google Shape;2479;p17"/>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0" name="Google Shape;2480;p17"/>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481" name="Google Shape;2481;p17"/>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482" name="Google Shape;2482;p17"/>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3" name="Google Shape;2483;p17"/>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484" name="Google Shape;2484;p17"/>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485" name="Google Shape;2485;p17"/>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486" name="Google Shape;2486;p17"/>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487" name="Google Shape;2487;p17"/>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488" name="Google Shape;2488;p17"/>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17</a:t>
            </a:r>
            <a:endParaRPr/>
          </a:p>
        </p:txBody>
      </p:sp>
      <p:pic>
        <p:nvPicPr>
          <p:cNvPr descr="PU-H-Full-RGB.png" id="2489" name="Google Shape;2489;p17"/>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490" name="Google Shape;2490;p17"/>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491" name="Google Shape;2491;p17"/>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492" name="Google Shape;2492;p17"/>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Jelena Mirkovic</a:t>
            </a:r>
            <a:endParaRPr/>
          </a:p>
        </p:txBody>
      </p:sp>
      <p:sp>
        <p:nvSpPr>
          <p:cNvPr id="2493" name="Google Shape;2493;p17"/>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4" name="Google Shape;2494;p17"/>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USC Information Sciences Institute</a:t>
            </a:r>
            <a:endParaRPr/>
          </a:p>
        </p:txBody>
      </p:sp>
      <p:sp>
        <p:nvSpPr>
          <p:cNvPr id="2495" name="Google Shape;2495;p17"/>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2496" name="Google Shape;2496;p17"/>
          <p:cNvSpPr txBox="1"/>
          <p:nvPr/>
        </p:nvSpPr>
        <p:spPr>
          <a:xfrm>
            <a:off x="4343400" y="2121408"/>
            <a:ext cx="7178040" cy="71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200">
                <a:solidFill>
                  <a:srgbClr val="082B4C"/>
                </a:solidFill>
                <a:latin typeface="Arial"/>
                <a:ea typeface="Arial"/>
                <a:cs typeface="Arial"/>
                <a:sym typeface="Arial"/>
              </a:rPr>
              <a:t>Federating Research Infrastructure for Portable, Flexible Scientific Workflows</a:t>
            </a:r>
            <a:endParaRPr/>
          </a:p>
        </p:txBody>
      </p:sp>
      <p:sp>
        <p:nvSpPr>
          <p:cNvPr id="2497" name="Google Shape;2497;p17"/>
          <p:cNvSpPr txBox="1"/>
          <p:nvPr/>
        </p:nvSpPr>
        <p:spPr>
          <a:xfrm>
            <a:off x="4343400" y="291998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Cross-Cutting Perspectives: Data, AI, and Federation</a:t>
            </a:r>
            <a:endParaRPr/>
          </a:p>
        </p:txBody>
      </p:sp>
      <p:sp>
        <p:nvSpPr>
          <p:cNvPr id="2498" name="Google Shape;2498;p17"/>
          <p:cNvSpPr txBox="1"/>
          <p:nvPr/>
        </p:nvSpPr>
        <p:spPr>
          <a:xfrm>
            <a:off x="4343400" y="31943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1:30–2:15 PM CT</a:t>
            </a:r>
            <a:endParaRPr/>
          </a:p>
        </p:txBody>
      </p:sp>
      <p:sp>
        <p:nvSpPr>
          <p:cNvPr id="2499" name="Google Shape;2499;p17"/>
          <p:cNvSpPr txBox="1"/>
          <p:nvPr/>
        </p:nvSpPr>
        <p:spPr>
          <a:xfrm>
            <a:off x="434340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
        <p:nvSpPr>
          <p:cNvPr id="2500" name="Google Shape;2500;p17"/>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Profile picture" id="2501" name="Google Shape;2501;p17"/>
          <p:cNvPicPr preferRelativeResize="0"/>
          <p:nvPr/>
        </p:nvPicPr>
        <p:blipFill rotWithShape="1">
          <a:blip r:embed="rId10">
            <a:alphaModFix/>
          </a:blip>
          <a:srcRect b="0" l="0" r="0" t="0"/>
          <a:stretch/>
        </p:blipFill>
        <p:spPr>
          <a:xfrm>
            <a:off x="568691" y="2267604"/>
            <a:ext cx="2707907" cy="2863273"/>
          </a:xfrm>
          <a:prstGeom prst="ellipse">
            <a:avLst/>
          </a:prstGeom>
          <a:noFill/>
          <a:ln>
            <a:noFill/>
          </a:ln>
        </p:spPr>
      </p:pic>
      <p:sp>
        <p:nvSpPr>
          <p:cNvPr id="2502" name="Google Shape;2502;p17"/>
          <p:cNvSpPr txBox="1"/>
          <p:nvPr/>
        </p:nvSpPr>
        <p:spPr>
          <a:xfrm>
            <a:off x="4289601" y="3738078"/>
            <a:ext cx="6654217"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Jelena Mirkovic is a Research Associate Professor of Computer Science at USC and a Project Leader at the USC Information Sciences Institute, specializing in computer networks and cybersecurity. Her research focuses on critical network-security challenges including botnets, denial-of-service attacks, IP spoofing, and experimental methods and infrastructure for cybersecurity research.</a:t>
            </a:r>
            <a:endParaRPr/>
          </a:p>
        </p:txBody>
      </p:sp>
      <p:pic>
        <p:nvPicPr>
          <p:cNvPr descr="About ISI | Information Sciences Institute" id="2503" name="Google Shape;2503;p17"/>
          <p:cNvPicPr preferRelativeResize="0"/>
          <p:nvPr/>
        </p:nvPicPr>
        <p:blipFill rotWithShape="1">
          <a:blip r:embed="rId11">
            <a:alphaModFix/>
          </a:blip>
          <a:srcRect b="0" l="0" r="0" t="0"/>
          <a:stretch/>
        </p:blipFill>
        <p:spPr>
          <a:xfrm>
            <a:off x="10042071" y="158384"/>
            <a:ext cx="1377568" cy="11586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8" name="Shape 2508"/>
        <p:cNvGrpSpPr/>
        <p:nvPr/>
      </p:nvGrpSpPr>
      <p:grpSpPr>
        <a:xfrm>
          <a:off x="0" y="0"/>
          <a:ext cx="0" cy="0"/>
          <a:chOff x="0" y="0"/>
          <a:chExt cx="0" cy="0"/>
        </a:xfrm>
      </p:grpSpPr>
      <p:sp>
        <p:nvSpPr>
          <p:cNvPr id="2509" name="Google Shape;2509;p18"/>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0" name="Google Shape;2510;p18"/>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511" name="Google Shape;2511;p18"/>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2" name="Google Shape;2512;p18"/>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3" name="Google Shape;2513;p18"/>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4" name="Google Shape;2514;p18"/>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5" name="Google Shape;2515;p18"/>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6" name="Google Shape;2516;p18"/>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7" name="Google Shape;2517;p18"/>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8" name="Google Shape;2518;p18"/>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19" name="Google Shape;2519;p18"/>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0" name="Google Shape;2520;p18"/>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1" name="Google Shape;2521;p18"/>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2" name="Google Shape;2522;p18"/>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3" name="Google Shape;2523;p18"/>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4" name="Google Shape;2524;p18"/>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5" name="Google Shape;2525;p18"/>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6" name="Google Shape;2526;p18"/>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7" name="Google Shape;2527;p18"/>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8" name="Google Shape;2528;p18"/>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29" name="Google Shape;2529;p18"/>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0" name="Google Shape;2530;p18"/>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1" name="Google Shape;2531;p18"/>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2" name="Google Shape;2532;p18"/>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3" name="Google Shape;2533;p18"/>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4" name="Google Shape;2534;p18"/>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5" name="Google Shape;2535;p18"/>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6" name="Google Shape;2536;p18"/>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7" name="Google Shape;2537;p18"/>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8" name="Google Shape;2538;p18"/>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39" name="Google Shape;2539;p18"/>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0" name="Google Shape;2540;p18"/>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1" name="Google Shape;2541;p18"/>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2" name="Google Shape;2542;p18"/>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3" name="Google Shape;2543;p18"/>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4" name="Google Shape;2544;p18"/>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5" name="Google Shape;2545;p18"/>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6" name="Google Shape;2546;p18"/>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7" name="Google Shape;2547;p18"/>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8" name="Google Shape;2548;p18"/>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49" name="Google Shape;2549;p18"/>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0" name="Google Shape;2550;p18"/>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1" name="Google Shape;2551;p18"/>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2" name="Google Shape;2552;p18"/>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3" name="Google Shape;2553;p18"/>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4" name="Google Shape;2554;p18"/>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5" name="Google Shape;2555;p18"/>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6" name="Google Shape;2556;p18"/>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7" name="Google Shape;2557;p18"/>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558" name="Google Shape;2558;p18"/>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559" name="Google Shape;2559;p18"/>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0" name="Google Shape;2560;p18"/>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1" name="Google Shape;2561;p18"/>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2" name="Google Shape;2562;p18"/>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3" name="Google Shape;2563;p18"/>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4" name="Google Shape;2564;p18"/>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5" name="Google Shape;2565;p18"/>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6" name="Google Shape;2566;p18"/>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7" name="Google Shape;2567;p18"/>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8" name="Google Shape;2568;p18"/>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9" name="Google Shape;2569;p18"/>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0" name="Google Shape;2570;p18"/>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1" name="Google Shape;2571;p18"/>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2" name="Google Shape;2572;p18"/>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3" name="Google Shape;2573;p18"/>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4" name="Google Shape;2574;p18"/>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5" name="Google Shape;2575;p18"/>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6" name="Google Shape;2576;p18"/>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7" name="Google Shape;2577;p18"/>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8" name="Google Shape;2578;p18"/>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9" name="Google Shape;2579;p18"/>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0" name="Google Shape;2580;p18"/>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1" name="Google Shape;2581;p18"/>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2" name="Google Shape;2582;p18"/>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583" name="Google Shape;2583;p18"/>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584" name="Google Shape;2584;p18"/>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5" name="Google Shape;2585;p18"/>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586" name="Google Shape;2586;p18"/>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587" name="Google Shape;2587;p18"/>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588" name="Google Shape;2588;p18"/>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589" name="Google Shape;2589;p18"/>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590" name="Google Shape;2590;p18"/>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18</a:t>
            </a:r>
            <a:endParaRPr/>
          </a:p>
        </p:txBody>
      </p:sp>
      <p:pic>
        <p:nvPicPr>
          <p:cNvPr descr="PU-H-Full-RGB.png" id="2591" name="Google Shape;2591;p18"/>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592" name="Google Shape;2592;p18"/>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593" name="Google Shape;2593;p18"/>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594" name="Google Shape;2594;p18"/>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Vipin Chaudhary</a:t>
            </a:r>
            <a:endParaRPr/>
          </a:p>
        </p:txBody>
      </p:sp>
      <p:sp>
        <p:nvSpPr>
          <p:cNvPr id="2595" name="Google Shape;2595;p18"/>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6" name="Google Shape;2596;p18"/>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Case Western Reserve University</a:t>
            </a:r>
            <a:endParaRPr/>
          </a:p>
        </p:txBody>
      </p:sp>
      <p:sp>
        <p:nvSpPr>
          <p:cNvPr id="2597" name="Google Shape;2597;p18"/>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2598" name="Google Shape;2598;p18"/>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Learning from Private Data Repositories</a:t>
            </a:r>
            <a:endParaRPr/>
          </a:p>
        </p:txBody>
      </p:sp>
      <p:sp>
        <p:nvSpPr>
          <p:cNvPr id="2599" name="Google Shape;2599;p18"/>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Cross-Cutting Perspectives: Data, AI, and Federation</a:t>
            </a:r>
            <a:endParaRPr/>
          </a:p>
        </p:txBody>
      </p:sp>
      <p:sp>
        <p:nvSpPr>
          <p:cNvPr id="2600" name="Google Shape;2600;p18"/>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1:30–2:15 PM CT</a:t>
            </a:r>
            <a:endParaRPr/>
          </a:p>
        </p:txBody>
      </p:sp>
      <p:sp>
        <p:nvSpPr>
          <p:cNvPr id="2601" name="Google Shape;2601;p18"/>
          <p:cNvSpPr txBox="1"/>
          <p:nvPr/>
        </p:nvSpPr>
        <p:spPr>
          <a:xfrm>
            <a:off x="4387476" y="3738078"/>
            <a:ext cx="6556341" cy="13551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Vipin Chaudhary is the Kevin J. Kranzusch Professor and Chair of Computer and Data Sciences at Case Western Reserve University, with expertise spanning high-performance computing, AI and machine learning, quantum computing, and computational medicine. His research has attracted more than $80 million in external funding, and his career spans academic leadership, technology entrepreneurship, and prior service as a Program Director at the National Science Foundation.</a:t>
            </a:r>
            <a:endParaRPr/>
          </a:p>
        </p:txBody>
      </p:sp>
      <p:sp>
        <p:nvSpPr>
          <p:cNvPr id="2602" name="Google Shape;2602;p18"/>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Headshot of Vipin Chaudhary" id="2603" name="Google Shape;2603;p18"/>
          <p:cNvPicPr preferRelativeResize="0"/>
          <p:nvPr/>
        </p:nvPicPr>
        <p:blipFill rotWithShape="1">
          <a:blip r:embed="rId10">
            <a:alphaModFix/>
          </a:blip>
          <a:srcRect b="0" l="0" r="0" t="0"/>
          <a:stretch/>
        </p:blipFill>
        <p:spPr>
          <a:xfrm>
            <a:off x="502920" y="2258061"/>
            <a:ext cx="2773677" cy="2903511"/>
          </a:xfrm>
          <a:prstGeom prst="ellipse">
            <a:avLst/>
          </a:prstGeom>
          <a:noFill/>
          <a:ln>
            <a:noFill/>
          </a:ln>
        </p:spPr>
      </p:pic>
      <p:pic>
        <p:nvPicPr>
          <p:cNvPr descr="Logos | Brand Guidelines | Case Western Reserve University" id="2604" name="Google Shape;2604;p18"/>
          <p:cNvPicPr preferRelativeResize="0"/>
          <p:nvPr/>
        </p:nvPicPr>
        <p:blipFill rotWithShape="1">
          <a:blip r:embed="rId11">
            <a:alphaModFix/>
          </a:blip>
          <a:srcRect b="0" l="0" r="0" t="0"/>
          <a:stretch/>
        </p:blipFill>
        <p:spPr>
          <a:xfrm>
            <a:off x="9441317" y="312051"/>
            <a:ext cx="1742159" cy="115378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9" name="Shape 2609"/>
        <p:cNvGrpSpPr/>
        <p:nvPr/>
      </p:nvGrpSpPr>
      <p:grpSpPr>
        <a:xfrm>
          <a:off x="0" y="0"/>
          <a:ext cx="0" cy="0"/>
          <a:chOff x="0" y="0"/>
          <a:chExt cx="0" cy="0"/>
        </a:xfrm>
      </p:grpSpPr>
      <p:sp>
        <p:nvSpPr>
          <p:cNvPr id="2610" name="Google Shape;2610;p19"/>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611" name="Google Shape;2611;p19"/>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2" name="Google Shape;2612;p19"/>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3" name="Google Shape;2613;p19"/>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4" name="Google Shape;2614;p19"/>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5" name="Google Shape;2615;p19"/>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6" name="Google Shape;2616;p19"/>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7" name="Google Shape;2617;p19"/>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8" name="Google Shape;2618;p19"/>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19" name="Google Shape;2619;p19"/>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0" name="Google Shape;2620;p19"/>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1" name="Google Shape;2621;p19"/>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2" name="Google Shape;2622;p19"/>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3" name="Google Shape;2623;p19"/>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4" name="Google Shape;2624;p19"/>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5" name="Google Shape;2625;p19"/>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6" name="Google Shape;2626;p19"/>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7" name="Google Shape;2627;p19"/>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8" name="Google Shape;2628;p19"/>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29" name="Google Shape;2629;p19"/>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0" name="Google Shape;2630;p19"/>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1" name="Google Shape;2631;p19"/>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2" name="Google Shape;2632;p19"/>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3" name="Google Shape;2633;p19"/>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4" name="Google Shape;2634;p19"/>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5" name="Google Shape;2635;p19"/>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6" name="Google Shape;2636;p19"/>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7" name="Google Shape;2637;p19"/>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8" name="Google Shape;2638;p19"/>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39" name="Google Shape;2639;p19"/>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0" name="Google Shape;2640;p19"/>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1" name="Google Shape;2641;p19"/>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2" name="Google Shape;2642;p19"/>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3" name="Google Shape;2643;p19"/>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4" name="Google Shape;2644;p19"/>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5" name="Google Shape;2645;p19"/>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6" name="Google Shape;2646;p19"/>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7" name="Google Shape;2647;p19"/>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8" name="Google Shape;2648;p19"/>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49" name="Google Shape;2649;p19"/>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0" name="Google Shape;2650;p19"/>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1" name="Google Shape;2651;p19"/>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2" name="Google Shape;2652;p19"/>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3" name="Google Shape;2653;p19"/>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4" name="Google Shape;2654;p19"/>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5" name="Google Shape;2655;p19"/>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6" name="Google Shape;2656;p19"/>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7" name="Google Shape;2657;p19"/>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658" name="Google Shape;2658;p19"/>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659" name="Google Shape;2659;p19"/>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0" name="Google Shape;2660;p19"/>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1" name="Google Shape;2661;p19"/>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2" name="Google Shape;2662;p19"/>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3" name="Google Shape;2663;p19"/>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4" name="Google Shape;2664;p19"/>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5" name="Google Shape;2665;p19"/>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6" name="Google Shape;2666;p19"/>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7" name="Google Shape;2667;p19"/>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8" name="Google Shape;2668;p19"/>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9" name="Google Shape;2669;p19"/>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0" name="Google Shape;2670;p19"/>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1" name="Google Shape;2671;p19"/>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2" name="Google Shape;2672;p19"/>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3" name="Google Shape;2673;p19"/>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4" name="Google Shape;2674;p19"/>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5" name="Google Shape;2675;p19"/>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6" name="Google Shape;2676;p19"/>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7" name="Google Shape;2677;p19"/>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8" name="Google Shape;2678;p19"/>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9" name="Google Shape;2679;p19"/>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0" name="Google Shape;2680;p19"/>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1" name="Google Shape;2681;p19"/>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2" name="Google Shape;2682;p19"/>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683" name="Google Shape;2683;p19"/>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684" name="Google Shape;2684;p19"/>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5" name="Google Shape;2685;p19"/>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686" name="Google Shape;2686;p19"/>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687" name="Google Shape;2687;p19"/>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688" name="Google Shape;2688;p19"/>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689" name="Google Shape;2689;p19"/>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690" name="Google Shape;2690;p19"/>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19</a:t>
            </a:r>
            <a:endParaRPr/>
          </a:p>
        </p:txBody>
      </p:sp>
      <p:pic>
        <p:nvPicPr>
          <p:cNvPr descr="PU-H-Full-RGB.png" id="2691" name="Google Shape;2691;p19"/>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692" name="Google Shape;2692;p19"/>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693" name="Google Shape;2693;p19"/>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694" name="Google Shape;2694;p19"/>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Neeraj Mainkar</a:t>
            </a:r>
            <a:endParaRPr/>
          </a:p>
        </p:txBody>
      </p:sp>
      <p:sp>
        <p:nvSpPr>
          <p:cNvPr id="2695" name="Google Shape;2695;p19"/>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6" name="Google Shape;2696;p19"/>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Surgical Data Science Collective</a:t>
            </a:r>
            <a:endParaRPr/>
          </a:p>
        </p:txBody>
      </p:sp>
      <p:sp>
        <p:nvSpPr>
          <p:cNvPr id="2697" name="Google Shape;2697;p19"/>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2698" name="Google Shape;2698;p19"/>
          <p:cNvSpPr txBox="1"/>
          <p:nvPr/>
        </p:nvSpPr>
        <p:spPr>
          <a:xfrm>
            <a:off x="4343400" y="2121408"/>
            <a:ext cx="7178040" cy="91439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00">
                <a:solidFill>
                  <a:srgbClr val="082B4C"/>
                </a:solidFill>
                <a:latin typeface="Arial"/>
                <a:ea typeface="Arial"/>
                <a:cs typeface="Arial"/>
                <a:sym typeface="Arial"/>
              </a:rPr>
              <a:t>Federated Surgical Intelligence: Toward a Distributed Measurement Infrastructure for Surgery</a:t>
            </a:r>
            <a:endParaRPr/>
          </a:p>
        </p:txBody>
      </p:sp>
      <p:sp>
        <p:nvSpPr>
          <p:cNvPr id="2699" name="Google Shape;2699;p19"/>
          <p:cNvSpPr txBox="1"/>
          <p:nvPr/>
        </p:nvSpPr>
        <p:spPr>
          <a:xfrm>
            <a:off x="4343400" y="3118103"/>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Cross-Cutting Perspectives: Data, AI, and Federation</a:t>
            </a:r>
            <a:endParaRPr/>
          </a:p>
        </p:txBody>
      </p:sp>
      <p:sp>
        <p:nvSpPr>
          <p:cNvPr id="2700" name="Google Shape;2700;p19"/>
          <p:cNvSpPr txBox="1"/>
          <p:nvPr/>
        </p:nvSpPr>
        <p:spPr>
          <a:xfrm>
            <a:off x="4343400" y="339242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1:30–2:15 PM CT</a:t>
            </a:r>
            <a:endParaRPr/>
          </a:p>
        </p:txBody>
      </p:sp>
      <p:sp>
        <p:nvSpPr>
          <p:cNvPr id="2701" name="Google Shape;2701;p19"/>
          <p:cNvSpPr txBox="1"/>
          <p:nvPr/>
        </p:nvSpPr>
        <p:spPr>
          <a:xfrm>
            <a:off x="4343400" y="3872964"/>
            <a:ext cx="6600418" cy="12202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Neeraj Mainkar is Chief Technology Officer of the Surgical Data Science Collective, where he leads the development of AI infrastructure and platforms for large-scale surgical video and multimodal data analysis. A physicist by training, he brings nearly three decades of technology leadership across defense and healthcare, including medical devices, surgical robotics, and AI-powered surgical navigation.</a:t>
            </a:r>
            <a:endParaRPr/>
          </a:p>
        </p:txBody>
      </p:sp>
      <p:sp>
        <p:nvSpPr>
          <p:cNvPr id="2702" name="Google Shape;2702;p19"/>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2703" name="Google Shape;2703;p19"/>
          <p:cNvPicPr preferRelativeResize="0"/>
          <p:nvPr/>
        </p:nvPicPr>
        <p:blipFill rotWithShape="1">
          <a:blip r:embed="rId10">
            <a:alphaModFix/>
          </a:blip>
          <a:srcRect b="-1178" l="0" r="58411" t="0"/>
          <a:stretch/>
        </p:blipFill>
        <p:spPr>
          <a:xfrm>
            <a:off x="568691" y="2249732"/>
            <a:ext cx="2776487" cy="2931191"/>
          </a:xfrm>
          <a:prstGeom prst="ellipse">
            <a:avLst/>
          </a:prstGeom>
          <a:noFill/>
          <a:ln>
            <a:noFill/>
          </a:ln>
        </p:spPr>
      </p:pic>
      <p:sp>
        <p:nvSpPr>
          <p:cNvPr descr="SDSC logo black" id="2704" name="Google Shape;2704;p19"/>
          <p:cNvSpPr/>
          <p:nvPr/>
        </p:nvSpPr>
        <p:spPr>
          <a:xfrm>
            <a:off x="9397092" y="359229"/>
            <a:ext cx="1575708" cy="562370"/>
          </a:xfrm>
          <a:prstGeom prst="rect">
            <a:avLst/>
          </a:prstGeom>
          <a:no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9" name="Shape 2709"/>
        <p:cNvGrpSpPr/>
        <p:nvPr/>
      </p:nvGrpSpPr>
      <p:grpSpPr>
        <a:xfrm>
          <a:off x="0" y="0"/>
          <a:ext cx="0" cy="0"/>
          <a:chOff x="0" y="0"/>
          <a:chExt cx="0" cy="0"/>
        </a:xfrm>
      </p:grpSpPr>
      <p:sp>
        <p:nvSpPr>
          <p:cNvPr id="2710" name="Google Shape;2710;p20"/>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711" name="Google Shape;2711;p20"/>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2" name="Google Shape;2712;p20"/>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3" name="Google Shape;2713;p20"/>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4" name="Google Shape;2714;p20"/>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5" name="Google Shape;2715;p20"/>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6" name="Google Shape;2716;p20"/>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7" name="Google Shape;2717;p20"/>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8" name="Google Shape;2718;p20"/>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19" name="Google Shape;2719;p20"/>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0" name="Google Shape;2720;p20"/>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1" name="Google Shape;2721;p20"/>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2" name="Google Shape;2722;p20"/>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3" name="Google Shape;2723;p20"/>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4" name="Google Shape;2724;p20"/>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5" name="Google Shape;2725;p20"/>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6" name="Google Shape;2726;p20"/>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7" name="Google Shape;2727;p20"/>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8" name="Google Shape;2728;p20"/>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29" name="Google Shape;2729;p20"/>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0" name="Google Shape;2730;p20"/>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1" name="Google Shape;2731;p20"/>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2" name="Google Shape;2732;p20"/>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3" name="Google Shape;2733;p20"/>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4" name="Google Shape;2734;p20"/>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5" name="Google Shape;2735;p20"/>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6" name="Google Shape;2736;p20"/>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7" name="Google Shape;2737;p20"/>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8" name="Google Shape;2738;p20"/>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39" name="Google Shape;2739;p20"/>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0" name="Google Shape;2740;p20"/>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1" name="Google Shape;2741;p20"/>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2" name="Google Shape;2742;p20"/>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3" name="Google Shape;2743;p20"/>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4" name="Google Shape;2744;p20"/>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5" name="Google Shape;2745;p20"/>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6" name="Google Shape;2746;p20"/>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7" name="Google Shape;2747;p20"/>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8" name="Google Shape;2748;p20"/>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49" name="Google Shape;2749;p20"/>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0" name="Google Shape;2750;p20"/>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1" name="Google Shape;2751;p20"/>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2" name="Google Shape;2752;p20"/>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3" name="Google Shape;2753;p20"/>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4" name="Google Shape;2754;p20"/>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5" name="Google Shape;2755;p20"/>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6" name="Google Shape;2756;p20"/>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7" name="Google Shape;2757;p20"/>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758" name="Google Shape;2758;p20"/>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759" name="Google Shape;2759;p20"/>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0" name="Google Shape;2760;p20"/>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1" name="Google Shape;2761;p20"/>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2" name="Google Shape;2762;p20"/>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3" name="Google Shape;2763;p20"/>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4" name="Google Shape;2764;p20"/>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5" name="Google Shape;2765;p20"/>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6" name="Google Shape;2766;p20"/>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7" name="Google Shape;2767;p20"/>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8" name="Google Shape;2768;p20"/>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9" name="Google Shape;2769;p20"/>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0" name="Google Shape;2770;p20"/>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1" name="Google Shape;2771;p20"/>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2" name="Google Shape;2772;p20"/>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3" name="Google Shape;2773;p20"/>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4" name="Google Shape;2774;p20"/>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5" name="Google Shape;2775;p20"/>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6" name="Google Shape;2776;p20"/>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7" name="Google Shape;2777;p20"/>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8" name="Google Shape;2778;p20"/>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9" name="Google Shape;2779;p20"/>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0" name="Google Shape;2780;p20"/>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1" name="Google Shape;2781;p20"/>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2" name="Google Shape;2782;p20"/>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783" name="Google Shape;2783;p20"/>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784" name="Google Shape;2784;p20"/>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5" name="Google Shape;2785;p20"/>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786" name="Google Shape;2786;p20"/>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787" name="Google Shape;2787;p20"/>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788" name="Google Shape;2788;p20"/>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789" name="Google Shape;2789;p20"/>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790" name="Google Shape;2790;p20"/>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20</a:t>
            </a:r>
            <a:endParaRPr/>
          </a:p>
        </p:txBody>
      </p:sp>
      <p:pic>
        <p:nvPicPr>
          <p:cNvPr descr="PU-H-Full-RGB.png" id="2791" name="Google Shape;2791;p20"/>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792" name="Google Shape;2792;p20"/>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793" name="Google Shape;2793;p20"/>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794" name="Google Shape;2794;p20"/>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400">
                <a:solidFill>
                  <a:srgbClr val="082B4C"/>
                </a:solidFill>
                <a:latin typeface="Arial"/>
                <a:ea typeface="Arial"/>
                <a:cs typeface="Arial"/>
                <a:sym typeface="Arial"/>
              </a:rPr>
              <a:t>Virginia Trueheart</a:t>
            </a:r>
            <a:endParaRPr/>
          </a:p>
        </p:txBody>
      </p:sp>
      <p:sp>
        <p:nvSpPr>
          <p:cNvPr id="2795" name="Google Shape;2795;p20"/>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0">
                <a:solidFill>
                  <a:srgbClr val="5F7385"/>
                </a:solidFill>
                <a:latin typeface="Arial"/>
                <a:ea typeface="Arial"/>
                <a:cs typeface="Arial"/>
                <a:sym typeface="Arial"/>
              </a:rPr>
              <a:t>Session Moderator</a:t>
            </a:r>
            <a:endParaRPr/>
          </a:p>
        </p:txBody>
      </p:sp>
      <p:sp>
        <p:nvSpPr>
          <p:cNvPr id="2796" name="Google Shape;2796;p20"/>
          <p:cNvSpPr txBox="1"/>
          <p:nvPr/>
        </p:nvSpPr>
        <p:spPr>
          <a:xfrm>
            <a:off x="4343400" y="128016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TACC</a:t>
            </a:r>
            <a:endParaRPr/>
          </a:p>
        </p:txBody>
      </p:sp>
      <p:sp>
        <p:nvSpPr>
          <p:cNvPr id="2797" name="Google Shape;2797;p20"/>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MODERATOR · 45 MIN</a:t>
            </a:r>
            <a:endParaRPr/>
          </a:p>
        </p:txBody>
      </p:sp>
      <p:sp>
        <p:nvSpPr>
          <p:cNvPr id="2798" name="Google Shape;2798;p20"/>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Shared Requirements for Federated Autonomous Science</a:t>
            </a:r>
            <a:endParaRPr/>
          </a:p>
        </p:txBody>
      </p:sp>
      <p:sp>
        <p:nvSpPr>
          <p:cNvPr id="2799" name="Google Shape;2799;p20"/>
          <p:cNvSpPr txBox="1"/>
          <p:nvPr/>
        </p:nvSpPr>
        <p:spPr>
          <a:xfrm>
            <a:off x="4343400" y="30419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2:15–3:00 PM CT</a:t>
            </a:r>
            <a:endParaRPr/>
          </a:p>
        </p:txBody>
      </p:sp>
      <p:sp>
        <p:nvSpPr>
          <p:cNvPr id="2800" name="Google Shape;2800;p20"/>
          <p:cNvSpPr txBox="1"/>
          <p:nvPr/>
        </p:nvSpPr>
        <p:spPr>
          <a:xfrm>
            <a:off x="4343400" y="3672000"/>
            <a:ext cx="6991350" cy="14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Virginia Trueheart is Director of User Services at the Texas Advanced Computing Center (TACC), where she leads support and training services for researchers using some of the nation’s most advanced computing systems. Her work focuses on improving the HPC user experience, research support operations, job monitoring and profiling, resource-usage analysis, and the development of scalable training and support programs.</a:t>
            </a:r>
            <a:endParaRPr/>
          </a:p>
        </p:txBody>
      </p:sp>
      <p:pic>
        <p:nvPicPr>
          <p:cNvPr id="2801" name="Google Shape;2801;p20"/>
          <p:cNvPicPr preferRelativeResize="0"/>
          <p:nvPr/>
        </p:nvPicPr>
        <p:blipFill rotWithShape="1">
          <a:blip r:embed="rId10">
            <a:alphaModFix/>
          </a:blip>
          <a:srcRect b="0" l="0" r="0" t="0"/>
          <a:stretch/>
        </p:blipFill>
        <p:spPr>
          <a:xfrm>
            <a:off x="635636" y="2197761"/>
            <a:ext cx="2572382" cy="3000868"/>
          </a:xfrm>
          <a:prstGeom prst="ellipse">
            <a:avLst/>
          </a:prstGeom>
          <a:noFill/>
          <a:ln>
            <a:noFill/>
          </a:ln>
        </p:spPr>
      </p:pic>
      <p:pic>
        <p:nvPicPr>
          <p:cNvPr descr="University Wordmarks - University Marketing and Communications" id="2802" name="Google Shape;2802;p20"/>
          <p:cNvPicPr preferRelativeResize="0"/>
          <p:nvPr/>
        </p:nvPicPr>
        <p:blipFill rotWithShape="1">
          <a:blip r:embed="rId11">
            <a:alphaModFix/>
          </a:blip>
          <a:srcRect b="0" l="0" r="0" t="0"/>
          <a:stretch/>
        </p:blipFill>
        <p:spPr>
          <a:xfrm>
            <a:off x="9108000" y="157728"/>
            <a:ext cx="2403598" cy="118165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7" name="Shape 2807"/>
        <p:cNvGrpSpPr/>
        <p:nvPr/>
      </p:nvGrpSpPr>
      <p:grpSpPr>
        <a:xfrm>
          <a:off x="0" y="0"/>
          <a:ext cx="0" cy="0"/>
          <a:chOff x="0" y="0"/>
          <a:chExt cx="0" cy="0"/>
        </a:xfrm>
      </p:grpSpPr>
      <p:sp>
        <p:nvSpPr>
          <p:cNvPr id="2808" name="Google Shape;2808;p21"/>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9" name="Google Shape;2809;p21"/>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810" name="Google Shape;2810;p21"/>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1" name="Google Shape;2811;p21"/>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2" name="Google Shape;2812;p21"/>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3" name="Google Shape;2813;p21"/>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4" name="Google Shape;2814;p21"/>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5" name="Google Shape;2815;p21"/>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6" name="Google Shape;2816;p21"/>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7" name="Google Shape;2817;p21"/>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8" name="Google Shape;2818;p21"/>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19" name="Google Shape;2819;p21"/>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0" name="Google Shape;2820;p21"/>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1" name="Google Shape;2821;p21"/>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2" name="Google Shape;2822;p21"/>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3" name="Google Shape;2823;p21"/>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4" name="Google Shape;2824;p21"/>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5" name="Google Shape;2825;p21"/>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6" name="Google Shape;2826;p21"/>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7" name="Google Shape;2827;p21"/>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8" name="Google Shape;2828;p21"/>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29" name="Google Shape;2829;p21"/>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0" name="Google Shape;2830;p21"/>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1" name="Google Shape;2831;p21"/>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2" name="Google Shape;2832;p21"/>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3" name="Google Shape;2833;p21"/>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4" name="Google Shape;2834;p21"/>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5" name="Google Shape;2835;p21"/>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6" name="Google Shape;2836;p21"/>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7" name="Google Shape;2837;p21"/>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8" name="Google Shape;2838;p21"/>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39" name="Google Shape;2839;p21"/>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0" name="Google Shape;2840;p21"/>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1" name="Google Shape;2841;p21"/>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2" name="Google Shape;2842;p21"/>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3" name="Google Shape;2843;p21"/>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4" name="Google Shape;2844;p21"/>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5" name="Google Shape;2845;p21"/>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6" name="Google Shape;2846;p21"/>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7" name="Google Shape;2847;p21"/>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8" name="Google Shape;2848;p21"/>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49" name="Google Shape;2849;p21"/>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0" name="Google Shape;2850;p21"/>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1" name="Google Shape;2851;p21"/>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2" name="Google Shape;2852;p21"/>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3" name="Google Shape;2853;p21"/>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4" name="Google Shape;2854;p21"/>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5" name="Google Shape;2855;p21"/>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6" name="Google Shape;2856;p21"/>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857" name="Google Shape;2857;p21"/>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858" name="Google Shape;2858;p21"/>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9" name="Google Shape;2859;p21"/>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0" name="Google Shape;2860;p21"/>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1" name="Google Shape;2861;p21"/>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2" name="Google Shape;2862;p21"/>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3" name="Google Shape;2863;p21"/>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4" name="Google Shape;2864;p21"/>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5" name="Google Shape;2865;p21"/>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6" name="Google Shape;2866;p21"/>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7" name="Google Shape;2867;p21"/>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8" name="Google Shape;2868;p21"/>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9" name="Google Shape;2869;p21"/>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0" name="Google Shape;2870;p21"/>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1" name="Google Shape;2871;p21"/>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2" name="Google Shape;2872;p21"/>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3" name="Google Shape;2873;p21"/>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4" name="Google Shape;2874;p21"/>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5" name="Google Shape;2875;p21"/>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6" name="Google Shape;2876;p21"/>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7" name="Google Shape;2877;p21"/>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8" name="Google Shape;2878;p21"/>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9" name="Google Shape;2879;p21"/>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0" name="Google Shape;2880;p21"/>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1" name="Google Shape;2881;p21"/>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882" name="Google Shape;2882;p21"/>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883" name="Google Shape;2883;p21"/>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4" name="Google Shape;2884;p21"/>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885" name="Google Shape;2885;p21"/>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886" name="Google Shape;2886;p21"/>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887" name="Google Shape;2887;p21"/>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888" name="Google Shape;2888;p21"/>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889" name="Google Shape;2889;p21"/>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21</a:t>
            </a:r>
            <a:endParaRPr/>
          </a:p>
        </p:txBody>
      </p:sp>
      <p:pic>
        <p:nvPicPr>
          <p:cNvPr descr="PU-H-Full-RGB.png" id="2890" name="Google Shape;2890;p21"/>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891" name="Google Shape;2891;p21"/>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892" name="Google Shape;2892;p21"/>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893" name="Google Shape;2893;p21"/>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Tanu Malik</a:t>
            </a:r>
            <a:endParaRPr/>
          </a:p>
        </p:txBody>
      </p:sp>
      <p:sp>
        <p:nvSpPr>
          <p:cNvPr id="2894" name="Google Shape;2894;p21"/>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5" name="Google Shape;2895;p21"/>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Missouri</a:t>
            </a:r>
            <a:endParaRPr/>
          </a:p>
        </p:txBody>
      </p:sp>
      <p:sp>
        <p:nvSpPr>
          <p:cNvPr id="2896" name="Google Shape;2896;p21"/>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2897" name="Google Shape;2897;p21"/>
          <p:cNvSpPr txBox="1"/>
          <p:nvPr/>
        </p:nvSpPr>
        <p:spPr>
          <a:xfrm>
            <a:off x="4343400" y="2121408"/>
            <a:ext cx="7178040" cy="71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200">
                <a:solidFill>
                  <a:srgbClr val="082B4C"/>
                </a:solidFill>
                <a:latin typeface="Arial"/>
                <a:ea typeface="Arial"/>
                <a:cs typeface="Arial"/>
                <a:sym typeface="Arial"/>
              </a:rPr>
              <a:t>Reproducibility, repeatability, and trustworthiness in scientific discovery</a:t>
            </a:r>
            <a:endParaRPr/>
          </a:p>
        </p:txBody>
      </p:sp>
      <p:sp>
        <p:nvSpPr>
          <p:cNvPr id="2898" name="Google Shape;2898;p21"/>
          <p:cNvSpPr txBox="1"/>
          <p:nvPr/>
        </p:nvSpPr>
        <p:spPr>
          <a:xfrm>
            <a:off x="4343400" y="291998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Requirements for Federated Autonomous Science</a:t>
            </a:r>
            <a:endParaRPr/>
          </a:p>
        </p:txBody>
      </p:sp>
      <p:sp>
        <p:nvSpPr>
          <p:cNvPr id="2899" name="Google Shape;2899;p21"/>
          <p:cNvSpPr txBox="1"/>
          <p:nvPr/>
        </p:nvSpPr>
        <p:spPr>
          <a:xfrm>
            <a:off x="4343400" y="31943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2:15–3:00 PM CT</a:t>
            </a:r>
            <a:endParaRPr/>
          </a:p>
        </p:txBody>
      </p:sp>
      <p:sp>
        <p:nvSpPr>
          <p:cNvPr id="2900" name="Google Shape;2900;p21"/>
          <p:cNvSpPr txBox="1"/>
          <p:nvPr/>
        </p:nvSpPr>
        <p:spPr>
          <a:xfrm>
            <a:off x="4343399" y="3779226"/>
            <a:ext cx="7070271" cy="13139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Tanu Malik is an Associate Professor of Electrical Engineering and Computer Science at the University of Missouri, where she leads the RADIANT Lab and conducts research in big data management, distributed and parallel systems, and trustworthy AI. An NSF CAREER Award recipient, her work develops reproducible and accountable computing systems for AI and scientific research, supported by organizations including NSF, NASA, and the U.S. Department of Energy.</a:t>
            </a:r>
            <a:endParaRPr/>
          </a:p>
        </p:txBody>
      </p:sp>
      <p:pic>
        <p:nvPicPr>
          <p:cNvPr descr="Image of Tanu Malik October, 2021 - DePaul Center for Data Science" id="2901" name="Google Shape;2901;p21"/>
          <p:cNvPicPr preferRelativeResize="0"/>
          <p:nvPr/>
        </p:nvPicPr>
        <p:blipFill rotWithShape="1">
          <a:blip r:embed="rId10">
            <a:alphaModFix/>
          </a:blip>
          <a:srcRect b="0" l="0" r="0" t="0"/>
          <a:stretch/>
        </p:blipFill>
        <p:spPr>
          <a:xfrm>
            <a:off x="609839" y="2267559"/>
            <a:ext cx="2700672" cy="2845858"/>
          </a:xfrm>
          <a:prstGeom prst="ellipse">
            <a:avLst/>
          </a:prstGeom>
          <a:noFill/>
          <a:ln>
            <a:noFill/>
          </a:ln>
        </p:spPr>
      </p:pic>
      <p:pic>
        <p:nvPicPr>
          <p:cNvPr descr="University of Missouri Logo and symbol, meaning, history ..." id="2902" name="Google Shape;2902;p21"/>
          <p:cNvPicPr preferRelativeResize="0"/>
          <p:nvPr/>
        </p:nvPicPr>
        <p:blipFill rotWithShape="1">
          <a:blip r:embed="rId11">
            <a:alphaModFix/>
          </a:blip>
          <a:srcRect b="0" l="0" r="0" t="0"/>
          <a:stretch/>
        </p:blipFill>
        <p:spPr>
          <a:xfrm>
            <a:off x="9372737" y="316108"/>
            <a:ext cx="2368162" cy="12175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7" name="Shape 2907"/>
        <p:cNvGrpSpPr/>
        <p:nvPr/>
      </p:nvGrpSpPr>
      <p:grpSpPr>
        <a:xfrm>
          <a:off x="0" y="0"/>
          <a:ext cx="0" cy="0"/>
          <a:chOff x="0" y="0"/>
          <a:chExt cx="0" cy="0"/>
        </a:xfrm>
      </p:grpSpPr>
      <p:sp>
        <p:nvSpPr>
          <p:cNvPr id="2908" name="Google Shape;2908;p22"/>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909" name="Google Shape;2909;p22"/>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0" name="Google Shape;2910;p22"/>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1" name="Google Shape;2911;p22"/>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2" name="Google Shape;2912;p22"/>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3" name="Google Shape;2913;p22"/>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4" name="Google Shape;2914;p22"/>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5" name="Google Shape;2915;p22"/>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6" name="Google Shape;2916;p22"/>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7" name="Google Shape;2917;p22"/>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8" name="Google Shape;2918;p22"/>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19" name="Google Shape;2919;p22"/>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0" name="Google Shape;2920;p22"/>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1" name="Google Shape;2921;p22"/>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2" name="Google Shape;2922;p22"/>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3" name="Google Shape;2923;p22"/>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4" name="Google Shape;2924;p22"/>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5" name="Google Shape;2925;p22"/>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6" name="Google Shape;2926;p22"/>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7" name="Google Shape;2927;p22"/>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8" name="Google Shape;2928;p22"/>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29" name="Google Shape;2929;p22"/>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0" name="Google Shape;2930;p22"/>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1" name="Google Shape;2931;p22"/>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2" name="Google Shape;2932;p22"/>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3" name="Google Shape;2933;p22"/>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4" name="Google Shape;2934;p22"/>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5" name="Google Shape;2935;p22"/>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6" name="Google Shape;2936;p22"/>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7" name="Google Shape;2937;p22"/>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8" name="Google Shape;2938;p22"/>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39" name="Google Shape;2939;p22"/>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0" name="Google Shape;2940;p22"/>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1" name="Google Shape;2941;p22"/>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2" name="Google Shape;2942;p22"/>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3" name="Google Shape;2943;p22"/>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4" name="Google Shape;2944;p22"/>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5" name="Google Shape;2945;p22"/>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6" name="Google Shape;2946;p22"/>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7" name="Google Shape;2947;p22"/>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8" name="Google Shape;2948;p22"/>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49" name="Google Shape;2949;p22"/>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50" name="Google Shape;2950;p22"/>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51" name="Google Shape;2951;p22"/>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52" name="Google Shape;2952;p22"/>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53" name="Google Shape;2953;p22"/>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54" name="Google Shape;2954;p22"/>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55" name="Google Shape;2955;p22"/>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2956" name="Google Shape;2956;p22"/>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2957" name="Google Shape;2957;p22"/>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8" name="Google Shape;2958;p22"/>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9" name="Google Shape;2959;p22"/>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0" name="Google Shape;2960;p22"/>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1" name="Google Shape;2961;p22"/>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2" name="Google Shape;2962;p22"/>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3" name="Google Shape;2963;p22"/>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4" name="Google Shape;2964;p22"/>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5" name="Google Shape;2965;p22"/>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6" name="Google Shape;2966;p22"/>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7" name="Google Shape;2967;p22"/>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8" name="Google Shape;2968;p22"/>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9" name="Google Shape;2969;p22"/>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0" name="Google Shape;2970;p22"/>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1" name="Google Shape;2971;p22"/>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2" name="Google Shape;2972;p22"/>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3" name="Google Shape;2973;p22"/>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4" name="Google Shape;2974;p22"/>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5" name="Google Shape;2975;p22"/>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6" name="Google Shape;2976;p22"/>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7" name="Google Shape;2977;p22"/>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8" name="Google Shape;2978;p22"/>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9" name="Google Shape;2979;p22"/>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0" name="Google Shape;2980;p22"/>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2981" name="Google Shape;2981;p22"/>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2982" name="Google Shape;2982;p22"/>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3" name="Google Shape;2983;p22"/>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2984" name="Google Shape;2984;p22"/>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2985" name="Google Shape;2985;p22"/>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2986" name="Google Shape;2986;p22"/>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2987" name="Google Shape;2987;p22"/>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2988" name="Google Shape;2988;p22"/>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22</a:t>
            </a:r>
            <a:endParaRPr/>
          </a:p>
        </p:txBody>
      </p:sp>
      <p:pic>
        <p:nvPicPr>
          <p:cNvPr descr="PU-H-Full-RGB.png" id="2989" name="Google Shape;2989;p22"/>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2990" name="Google Shape;2990;p22"/>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2991" name="Google Shape;2991;p22"/>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2992" name="Google Shape;2992;p22"/>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Steven Frank</a:t>
            </a:r>
            <a:endParaRPr/>
          </a:p>
        </p:txBody>
      </p:sp>
      <p:sp>
        <p:nvSpPr>
          <p:cNvPr id="2993" name="Google Shape;2993;p22"/>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4" name="Google Shape;2994;p22"/>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sophic-compute.com</a:t>
            </a:r>
            <a:endParaRPr/>
          </a:p>
        </p:txBody>
      </p:sp>
      <p:sp>
        <p:nvSpPr>
          <p:cNvPr id="2995" name="Google Shape;2995;p22"/>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2996" name="Google Shape;2996;p22"/>
          <p:cNvSpPr txBox="1"/>
          <p:nvPr/>
        </p:nvSpPr>
        <p:spPr>
          <a:xfrm>
            <a:off x="4343400" y="2121408"/>
            <a:ext cx="717804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a:solidFill>
                  <a:srgbClr val="082B4C"/>
                </a:solidFill>
                <a:latin typeface="Arial"/>
                <a:ea typeface="Arial"/>
                <a:cs typeface="Arial"/>
                <a:sym typeface="Arial"/>
              </a:rPr>
              <a:t>Dissolving the Data/Compute Boundary — in Both Directions, at Runtime</a:t>
            </a:r>
            <a:endParaRPr/>
          </a:p>
        </p:txBody>
      </p:sp>
      <p:sp>
        <p:nvSpPr>
          <p:cNvPr id="2997" name="Google Shape;2997;p22"/>
          <p:cNvSpPr txBox="1"/>
          <p:nvPr/>
        </p:nvSpPr>
        <p:spPr>
          <a:xfrm>
            <a:off x="4343400" y="298094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Requirements for Federated Autonomous Science</a:t>
            </a:r>
            <a:endParaRPr/>
          </a:p>
        </p:txBody>
      </p:sp>
      <p:sp>
        <p:nvSpPr>
          <p:cNvPr id="2998" name="Google Shape;2998;p22"/>
          <p:cNvSpPr txBox="1"/>
          <p:nvPr/>
        </p:nvSpPr>
        <p:spPr>
          <a:xfrm>
            <a:off x="4343400" y="325526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2:15–3:00 PM CT</a:t>
            </a:r>
            <a:endParaRPr/>
          </a:p>
        </p:txBody>
      </p:sp>
      <p:sp>
        <p:nvSpPr>
          <p:cNvPr id="2999" name="Google Shape;2999;p22"/>
          <p:cNvSpPr txBox="1"/>
          <p:nvPr/>
        </p:nvSpPr>
        <p:spPr>
          <a:xfrm>
            <a:off x="4343400" y="3672000"/>
            <a:ext cx="6600418" cy="14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Steven Frank is a technology innovator and entrepreneur specializing in deep parallel computing, with more than 40 years of experience in parallel and distributed systems. He has founded four technology companies—including Kendall Square Research, MangoSoft, and Ultrata—and holds more than 100 patents spanning parallel computing, networks, caching, runtime systems, synchronization, algorithms, and hardware and software.</a:t>
            </a:r>
            <a:endParaRPr/>
          </a:p>
        </p:txBody>
      </p:sp>
      <p:pic>
        <p:nvPicPr>
          <p:cNvPr id="3000" name="Google Shape;3000;p22"/>
          <p:cNvPicPr preferRelativeResize="0"/>
          <p:nvPr/>
        </p:nvPicPr>
        <p:blipFill rotWithShape="1">
          <a:blip r:embed="rId10">
            <a:alphaModFix/>
          </a:blip>
          <a:srcRect b="0" l="0" r="0" t="0"/>
          <a:stretch/>
        </p:blipFill>
        <p:spPr>
          <a:xfrm>
            <a:off x="568692" y="2354523"/>
            <a:ext cx="2707906" cy="2658403"/>
          </a:xfrm>
          <a:prstGeom prst="ellipse">
            <a:avLst/>
          </a:prstGeom>
          <a:noFill/>
          <a:ln>
            <a:noFill/>
          </a:ln>
        </p:spPr>
      </p:pic>
      <p:pic>
        <p:nvPicPr>
          <p:cNvPr id="3001" name="Google Shape;3001;p22"/>
          <p:cNvPicPr preferRelativeResize="0"/>
          <p:nvPr/>
        </p:nvPicPr>
        <p:blipFill rotWithShape="1">
          <a:blip r:embed="rId11">
            <a:alphaModFix/>
          </a:blip>
          <a:srcRect b="0" l="0" r="0" t="0"/>
          <a:stretch/>
        </p:blipFill>
        <p:spPr>
          <a:xfrm>
            <a:off x="9743508" y="375557"/>
            <a:ext cx="1726942" cy="9003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6" name="Shape 3006"/>
        <p:cNvGrpSpPr/>
        <p:nvPr/>
      </p:nvGrpSpPr>
      <p:grpSpPr>
        <a:xfrm>
          <a:off x="0" y="0"/>
          <a:ext cx="0" cy="0"/>
          <a:chOff x="0" y="0"/>
          <a:chExt cx="0" cy="0"/>
        </a:xfrm>
      </p:grpSpPr>
      <p:sp>
        <p:nvSpPr>
          <p:cNvPr id="3007" name="Google Shape;3007;p23"/>
          <p:cNvSpPr/>
          <p:nvPr/>
        </p:nvSpPr>
        <p:spPr>
          <a:xfrm>
            <a:off x="305" y="-114300"/>
            <a:ext cx="12191695" cy="7042541"/>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8" name="Google Shape;3008;p23"/>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009" name="Google Shape;3009;p23"/>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0" name="Google Shape;3010;p23"/>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1" name="Google Shape;3011;p23"/>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2" name="Google Shape;3012;p23"/>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3" name="Google Shape;3013;p23"/>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4" name="Google Shape;3014;p23"/>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5" name="Google Shape;3015;p23"/>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6" name="Google Shape;3016;p23"/>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7" name="Google Shape;3017;p23"/>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8" name="Google Shape;3018;p23"/>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19" name="Google Shape;3019;p23"/>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0" name="Google Shape;3020;p23"/>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1" name="Google Shape;3021;p23"/>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2" name="Google Shape;3022;p23"/>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3" name="Google Shape;3023;p23"/>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4" name="Google Shape;3024;p23"/>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5" name="Google Shape;3025;p23"/>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6" name="Google Shape;3026;p23"/>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7" name="Google Shape;3027;p23"/>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8" name="Google Shape;3028;p23"/>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29" name="Google Shape;3029;p23"/>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0" name="Google Shape;3030;p23"/>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1" name="Google Shape;3031;p23"/>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2" name="Google Shape;3032;p23"/>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3" name="Google Shape;3033;p23"/>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4" name="Google Shape;3034;p23"/>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5" name="Google Shape;3035;p23"/>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6" name="Google Shape;3036;p23"/>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7" name="Google Shape;3037;p23"/>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8" name="Google Shape;3038;p23"/>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39" name="Google Shape;3039;p23"/>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0" name="Google Shape;3040;p23"/>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1" name="Google Shape;3041;p23"/>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2" name="Google Shape;3042;p23"/>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3" name="Google Shape;3043;p23"/>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4" name="Google Shape;3044;p23"/>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5" name="Google Shape;3045;p23"/>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6" name="Google Shape;3046;p23"/>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7" name="Google Shape;3047;p23"/>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8" name="Google Shape;3048;p23"/>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49" name="Google Shape;3049;p23"/>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50" name="Google Shape;3050;p23"/>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51" name="Google Shape;3051;p23"/>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52" name="Google Shape;3052;p23"/>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53" name="Google Shape;3053;p23"/>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54" name="Google Shape;3054;p23"/>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55" name="Google Shape;3055;p23"/>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056" name="Google Shape;3056;p23"/>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057" name="Google Shape;3057;p23"/>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8" name="Google Shape;3058;p23"/>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9" name="Google Shape;3059;p23"/>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0" name="Google Shape;3060;p23"/>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1" name="Google Shape;3061;p23"/>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2" name="Google Shape;3062;p23"/>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3" name="Google Shape;3063;p23"/>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4" name="Google Shape;3064;p23"/>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5" name="Google Shape;3065;p23"/>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6" name="Google Shape;3066;p23"/>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7" name="Google Shape;3067;p23"/>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8" name="Google Shape;3068;p23"/>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9" name="Google Shape;3069;p23"/>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0" name="Google Shape;3070;p23"/>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1" name="Google Shape;3071;p23"/>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2" name="Google Shape;3072;p23"/>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3" name="Google Shape;3073;p23"/>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4" name="Google Shape;3074;p23"/>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5" name="Google Shape;3075;p23"/>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6" name="Google Shape;3076;p23"/>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7" name="Google Shape;3077;p23"/>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8" name="Google Shape;3078;p23"/>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9" name="Google Shape;3079;p23"/>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0" name="Google Shape;3080;p23"/>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081" name="Google Shape;3081;p23"/>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082" name="Google Shape;3082;p23"/>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3" name="Google Shape;3083;p23"/>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084" name="Google Shape;3084;p23"/>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085" name="Google Shape;3085;p23"/>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086" name="Google Shape;3086;p23"/>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087" name="Google Shape;3087;p23"/>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088" name="Google Shape;3088;p23"/>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23</a:t>
            </a:r>
            <a:endParaRPr/>
          </a:p>
        </p:txBody>
      </p:sp>
      <p:pic>
        <p:nvPicPr>
          <p:cNvPr descr="PU-H-Full-RGB.png" id="3089" name="Google Shape;3089;p23"/>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090" name="Google Shape;3090;p23"/>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091" name="Google Shape;3091;p23"/>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092" name="Google Shape;3092;p23"/>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Eric Sokol</a:t>
            </a:r>
            <a:endParaRPr/>
          </a:p>
        </p:txBody>
      </p:sp>
      <p:sp>
        <p:nvSpPr>
          <p:cNvPr id="3093" name="Google Shape;3093;p23"/>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4" name="Google Shape;3094;p23"/>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National Ecological Observatory Network (NEON), Battelle</a:t>
            </a:r>
            <a:endParaRPr/>
          </a:p>
        </p:txBody>
      </p:sp>
      <p:sp>
        <p:nvSpPr>
          <p:cNvPr id="3095" name="Google Shape;3095;p23"/>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3096" name="Google Shape;3096;p23"/>
          <p:cNvSpPr txBox="1"/>
          <p:nvPr/>
        </p:nvSpPr>
        <p:spPr>
          <a:xfrm>
            <a:off x="4343400" y="2121408"/>
            <a:ext cx="7178040" cy="71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200">
                <a:solidFill>
                  <a:srgbClr val="082B4C"/>
                </a:solidFill>
                <a:latin typeface="Arial"/>
                <a:ea typeface="Arial"/>
                <a:cs typeface="Arial"/>
                <a:sym typeface="Arial"/>
              </a:rPr>
              <a:t>FAIR4AI-Bio: AI-Ready Data Infrastructure for Ecology and Biodiversity / NEON</a:t>
            </a:r>
            <a:endParaRPr/>
          </a:p>
        </p:txBody>
      </p:sp>
      <p:sp>
        <p:nvSpPr>
          <p:cNvPr id="3097" name="Google Shape;3097;p23"/>
          <p:cNvSpPr txBox="1"/>
          <p:nvPr/>
        </p:nvSpPr>
        <p:spPr>
          <a:xfrm>
            <a:off x="4343400" y="291998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Requirements for Federated Autonomous Science</a:t>
            </a:r>
            <a:endParaRPr/>
          </a:p>
        </p:txBody>
      </p:sp>
      <p:sp>
        <p:nvSpPr>
          <p:cNvPr id="3098" name="Google Shape;3098;p23"/>
          <p:cNvSpPr txBox="1"/>
          <p:nvPr/>
        </p:nvSpPr>
        <p:spPr>
          <a:xfrm>
            <a:off x="4343400" y="31943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2:15–3:00 PM CT</a:t>
            </a:r>
            <a:endParaRPr/>
          </a:p>
        </p:txBody>
      </p:sp>
      <p:sp>
        <p:nvSpPr>
          <p:cNvPr id="3099" name="Google Shape;3099;p23"/>
          <p:cNvSpPr txBox="1"/>
          <p:nvPr/>
        </p:nvSpPr>
        <p:spPr>
          <a:xfrm>
            <a:off x="4343400" y="3738078"/>
            <a:ext cx="6600418" cy="1216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Eric Sokol is a Senior Quantitative Ecologist with the National Ecological Observatory Network (NEON), specializing in biodiversity, ecological forecasting, and large-scale environmental data science. His work advances open and FAIR ecological data, reproducible research, and AI-ready biodiversity infrastructure, while developing tools and methods for synthesizing long-term ecological datasets at continental scales.</a:t>
            </a:r>
            <a:endParaRPr/>
          </a:p>
        </p:txBody>
      </p:sp>
      <p:pic>
        <p:nvPicPr>
          <p:cNvPr id="3100" name="Google Shape;3100;p23"/>
          <p:cNvPicPr preferRelativeResize="0"/>
          <p:nvPr/>
        </p:nvPicPr>
        <p:blipFill rotWithShape="1">
          <a:blip r:embed="rId10">
            <a:alphaModFix/>
          </a:blip>
          <a:srcRect b="0" l="0" r="0" t="0"/>
          <a:stretch/>
        </p:blipFill>
        <p:spPr>
          <a:xfrm>
            <a:off x="568692" y="2378342"/>
            <a:ext cx="2707906" cy="2674943"/>
          </a:xfrm>
          <a:prstGeom prst="ellipse">
            <a:avLst/>
          </a:prstGeom>
          <a:noFill/>
          <a:ln>
            <a:noFill/>
          </a:ln>
        </p:spPr>
      </p:pic>
      <p:sp>
        <p:nvSpPr>
          <p:cNvPr descr="NSF NEON, Operated by Battelle" id="3101" name="Google Shape;3101;p23"/>
          <p:cNvSpPr/>
          <p:nvPr/>
        </p:nvSpPr>
        <p:spPr>
          <a:xfrm>
            <a:off x="8994611" y="463526"/>
            <a:ext cx="2405743" cy="937149"/>
          </a:xfrm>
          <a:prstGeom prst="rect">
            <a:avLst/>
          </a:prstGeom>
          <a:no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6" name="Shape 3106"/>
        <p:cNvGrpSpPr/>
        <p:nvPr/>
      </p:nvGrpSpPr>
      <p:grpSpPr>
        <a:xfrm>
          <a:off x="0" y="0"/>
          <a:ext cx="0" cy="0"/>
          <a:chOff x="0" y="0"/>
          <a:chExt cx="0" cy="0"/>
        </a:xfrm>
      </p:grpSpPr>
      <p:sp>
        <p:nvSpPr>
          <p:cNvPr id="3107" name="Google Shape;3107;p24"/>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8" name="Google Shape;3108;p24"/>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109" name="Google Shape;3109;p24"/>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0" name="Google Shape;3110;p24"/>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1" name="Google Shape;3111;p24"/>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2" name="Google Shape;3112;p24"/>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3" name="Google Shape;3113;p24"/>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4" name="Google Shape;3114;p24"/>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5" name="Google Shape;3115;p24"/>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6" name="Google Shape;3116;p24"/>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7" name="Google Shape;3117;p24"/>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8" name="Google Shape;3118;p24"/>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19" name="Google Shape;3119;p24"/>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0" name="Google Shape;3120;p24"/>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1" name="Google Shape;3121;p24"/>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2" name="Google Shape;3122;p24"/>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3" name="Google Shape;3123;p24"/>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4" name="Google Shape;3124;p24"/>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5" name="Google Shape;3125;p24"/>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6" name="Google Shape;3126;p24"/>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7" name="Google Shape;3127;p24"/>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8" name="Google Shape;3128;p24"/>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29" name="Google Shape;3129;p24"/>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0" name="Google Shape;3130;p24"/>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1" name="Google Shape;3131;p24"/>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2" name="Google Shape;3132;p24"/>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3" name="Google Shape;3133;p24"/>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4" name="Google Shape;3134;p24"/>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5" name="Google Shape;3135;p24"/>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6" name="Google Shape;3136;p24"/>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7" name="Google Shape;3137;p24"/>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8" name="Google Shape;3138;p24"/>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39" name="Google Shape;3139;p24"/>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0" name="Google Shape;3140;p24"/>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1" name="Google Shape;3141;p24"/>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2" name="Google Shape;3142;p24"/>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3" name="Google Shape;3143;p24"/>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4" name="Google Shape;3144;p24"/>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5" name="Google Shape;3145;p24"/>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6" name="Google Shape;3146;p24"/>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7" name="Google Shape;3147;p24"/>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8" name="Google Shape;3148;p24"/>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49" name="Google Shape;3149;p24"/>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50" name="Google Shape;3150;p24"/>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51" name="Google Shape;3151;p24"/>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52" name="Google Shape;3152;p24"/>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53" name="Google Shape;3153;p24"/>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54" name="Google Shape;3154;p24"/>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55" name="Google Shape;3155;p24"/>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156" name="Google Shape;3156;p24"/>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157" name="Google Shape;3157;p24"/>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8" name="Google Shape;3158;p24"/>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9" name="Google Shape;3159;p24"/>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0" name="Google Shape;3160;p24"/>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1" name="Google Shape;3161;p24"/>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2" name="Google Shape;3162;p24"/>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3" name="Google Shape;3163;p24"/>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4" name="Google Shape;3164;p24"/>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5" name="Google Shape;3165;p24"/>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6" name="Google Shape;3166;p24"/>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7" name="Google Shape;3167;p24"/>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8" name="Google Shape;3168;p24"/>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9" name="Google Shape;3169;p24"/>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0" name="Google Shape;3170;p24"/>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1" name="Google Shape;3171;p24"/>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2" name="Google Shape;3172;p24"/>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3" name="Google Shape;3173;p24"/>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4" name="Google Shape;3174;p24"/>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5" name="Google Shape;3175;p24"/>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6" name="Google Shape;3176;p24"/>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7" name="Google Shape;3177;p24"/>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8" name="Google Shape;3178;p24"/>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9" name="Google Shape;3179;p24"/>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0" name="Google Shape;3180;p24"/>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181" name="Google Shape;3181;p24"/>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182" name="Google Shape;3182;p24"/>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3" name="Google Shape;3183;p24"/>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184" name="Google Shape;3184;p24"/>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185" name="Google Shape;3185;p24"/>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186" name="Google Shape;3186;p24"/>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187" name="Google Shape;3187;p24"/>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188" name="Google Shape;3188;p24"/>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24</a:t>
            </a:r>
            <a:endParaRPr/>
          </a:p>
        </p:txBody>
      </p:sp>
      <p:pic>
        <p:nvPicPr>
          <p:cNvPr descr="PU-H-Full-RGB.png" id="3189" name="Google Shape;3189;p24"/>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190" name="Google Shape;3190;p24"/>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191" name="Google Shape;3191;p24"/>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192" name="Google Shape;3192;p24"/>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400">
                <a:solidFill>
                  <a:srgbClr val="082B4C"/>
                </a:solidFill>
                <a:latin typeface="Arial"/>
                <a:ea typeface="Arial"/>
                <a:cs typeface="Arial"/>
                <a:sym typeface="Arial"/>
              </a:rPr>
              <a:t>Yaroslava Yingling</a:t>
            </a:r>
            <a:endParaRPr/>
          </a:p>
        </p:txBody>
      </p:sp>
      <p:sp>
        <p:nvSpPr>
          <p:cNvPr id="3193" name="Google Shape;3193;p24"/>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4" name="Google Shape;3194;p24"/>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North Carolina State University</a:t>
            </a:r>
            <a:endParaRPr/>
          </a:p>
        </p:txBody>
      </p:sp>
      <p:sp>
        <p:nvSpPr>
          <p:cNvPr id="3195" name="Google Shape;3195;p24"/>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3196" name="Google Shape;3196;p24"/>
          <p:cNvSpPr txBox="1"/>
          <p:nvPr/>
        </p:nvSpPr>
        <p:spPr>
          <a:xfrm>
            <a:off x="4343400" y="2121408"/>
            <a:ext cx="717804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a:solidFill>
                  <a:srgbClr val="082B4C"/>
                </a:solidFill>
                <a:latin typeface="Arial"/>
                <a:ea typeface="Arial"/>
                <a:cs typeface="Arial"/>
                <a:sym typeface="Arial"/>
              </a:rPr>
              <a:t>The Need for Effective Data Fusion Methods in Materials Manufacturing</a:t>
            </a:r>
            <a:endParaRPr/>
          </a:p>
        </p:txBody>
      </p:sp>
      <p:sp>
        <p:nvSpPr>
          <p:cNvPr id="3197" name="Google Shape;3197;p24"/>
          <p:cNvSpPr txBox="1"/>
          <p:nvPr/>
        </p:nvSpPr>
        <p:spPr>
          <a:xfrm>
            <a:off x="4343400" y="298094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Requirements for Federated Autonomous Science</a:t>
            </a:r>
            <a:endParaRPr/>
          </a:p>
        </p:txBody>
      </p:sp>
      <p:sp>
        <p:nvSpPr>
          <p:cNvPr id="3198" name="Google Shape;3198;p24"/>
          <p:cNvSpPr txBox="1"/>
          <p:nvPr/>
        </p:nvSpPr>
        <p:spPr>
          <a:xfrm>
            <a:off x="4343400" y="325526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2:15–3:00 PM CT</a:t>
            </a:r>
            <a:endParaRPr/>
          </a:p>
        </p:txBody>
      </p:sp>
      <p:sp>
        <p:nvSpPr>
          <p:cNvPr id="3199" name="Google Shape;3199;p24"/>
          <p:cNvSpPr txBox="1"/>
          <p:nvPr/>
        </p:nvSpPr>
        <p:spPr>
          <a:xfrm>
            <a:off x="4343399" y="3696930"/>
            <a:ext cx="6041571" cy="1396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Yaroslava Yingling is the Kobe Steel Distinguished Professor of Materials Science and Engineering at NC State University and leads the AI and Materials Simulations (AIMS) Laboratory. Her research integrates artificial intelligence, data science, high-performance computing, and multiscale molecular modeling to accelerate materials discovery and design, with applications spanning biomimetic materials, nanomaterials, polymers, and sustainability.</a:t>
            </a:r>
            <a:endParaRPr/>
          </a:p>
        </p:txBody>
      </p:sp>
      <p:pic>
        <p:nvPicPr>
          <p:cNvPr descr="Yaroslava Yingling " id="3200" name="Google Shape;3200;p24"/>
          <p:cNvPicPr preferRelativeResize="0"/>
          <p:nvPr/>
        </p:nvPicPr>
        <p:blipFill rotWithShape="1">
          <a:blip r:embed="rId10">
            <a:alphaModFix/>
          </a:blip>
          <a:srcRect b="0" l="0" r="0" t="0"/>
          <a:stretch/>
        </p:blipFill>
        <p:spPr>
          <a:xfrm>
            <a:off x="594487" y="2404206"/>
            <a:ext cx="2693586" cy="2686021"/>
          </a:xfrm>
          <a:prstGeom prst="ellipse">
            <a:avLst/>
          </a:prstGeom>
          <a:noFill/>
          <a:ln>
            <a:noFill/>
          </a:ln>
        </p:spPr>
      </p:pic>
      <p:pic>
        <p:nvPicPr>
          <p:cNvPr descr="File:North Carolina State University Athletic logo.svg ..." id="3201" name="Google Shape;3201;p24"/>
          <p:cNvPicPr preferRelativeResize="0"/>
          <p:nvPr/>
        </p:nvPicPr>
        <p:blipFill rotWithShape="1">
          <a:blip r:embed="rId11">
            <a:alphaModFix/>
          </a:blip>
          <a:srcRect b="0" l="0" r="0" t="0"/>
          <a:stretch/>
        </p:blipFill>
        <p:spPr>
          <a:xfrm>
            <a:off x="10332167" y="232174"/>
            <a:ext cx="1159147" cy="138373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6" name="Shape 3206"/>
        <p:cNvGrpSpPr/>
        <p:nvPr/>
      </p:nvGrpSpPr>
      <p:grpSpPr>
        <a:xfrm>
          <a:off x="0" y="0"/>
          <a:ext cx="0" cy="0"/>
          <a:chOff x="0" y="0"/>
          <a:chExt cx="0" cy="0"/>
        </a:xfrm>
      </p:grpSpPr>
      <p:sp>
        <p:nvSpPr>
          <p:cNvPr id="3207" name="Google Shape;3207;p25"/>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8" name="Google Shape;3208;p25"/>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209" name="Google Shape;3209;p25"/>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0" name="Google Shape;3210;p25"/>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1" name="Google Shape;3211;p25"/>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2" name="Google Shape;3212;p25"/>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3" name="Google Shape;3213;p25"/>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4" name="Google Shape;3214;p25"/>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5" name="Google Shape;3215;p25"/>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6" name="Google Shape;3216;p25"/>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7" name="Google Shape;3217;p25"/>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8" name="Google Shape;3218;p25"/>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9" name="Google Shape;3219;p25"/>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0" name="Google Shape;3220;p25"/>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1" name="Google Shape;3221;p25"/>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2" name="Google Shape;3222;p25"/>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3" name="Google Shape;3223;p25"/>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4" name="Google Shape;3224;p25"/>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5" name="Google Shape;3225;p25"/>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6" name="Google Shape;3226;p25"/>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7" name="Google Shape;3227;p25"/>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8" name="Google Shape;3228;p25"/>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9" name="Google Shape;3229;p25"/>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0" name="Google Shape;3230;p25"/>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1" name="Google Shape;3231;p25"/>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2" name="Google Shape;3232;p25"/>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3" name="Google Shape;3233;p25"/>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4" name="Google Shape;3234;p25"/>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5" name="Google Shape;3235;p25"/>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6" name="Google Shape;3236;p25"/>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7" name="Google Shape;3237;p25"/>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8" name="Google Shape;3238;p25"/>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9" name="Google Shape;3239;p25"/>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0" name="Google Shape;3240;p25"/>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1" name="Google Shape;3241;p25"/>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2" name="Google Shape;3242;p25"/>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3" name="Google Shape;3243;p25"/>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4" name="Google Shape;3244;p25"/>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5" name="Google Shape;3245;p25"/>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6" name="Google Shape;3246;p25"/>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7" name="Google Shape;3247;p25"/>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8" name="Google Shape;3248;p25"/>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9" name="Google Shape;3249;p25"/>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0" name="Google Shape;3250;p25"/>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1" name="Google Shape;3251;p25"/>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2" name="Google Shape;3252;p25"/>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3" name="Google Shape;3253;p25"/>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4" name="Google Shape;3254;p25"/>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5" name="Google Shape;3255;p25"/>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6" name="Google Shape;3256;p25"/>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257" name="Google Shape;3257;p25"/>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8" name="Google Shape;3258;p25"/>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9" name="Google Shape;3259;p25"/>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0" name="Google Shape;3260;p25"/>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1" name="Google Shape;3261;p25"/>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2" name="Google Shape;3262;p25"/>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3" name="Google Shape;3263;p25"/>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4" name="Google Shape;3264;p25"/>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5" name="Google Shape;3265;p25"/>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6" name="Google Shape;3266;p25"/>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7" name="Google Shape;3267;p25"/>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8" name="Google Shape;3268;p25"/>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9" name="Google Shape;3269;p25"/>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0" name="Google Shape;3270;p25"/>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1" name="Google Shape;3271;p25"/>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2" name="Google Shape;3272;p25"/>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3" name="Google Shape;3273;p25"/>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4" name="Google Shape;3274;p25"/>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5" name="Google Shape;3275;p25"/>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6" name="Google Shape;3276;p25"/>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7" name="Google Shape;3277;p25"/>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8" name="Google Shape;3278;p25"/>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9" name="Google Shape;3279;p25"/>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0" name="Google Shape;3280;p25"/>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281" name="Google Shape;3281;p25"/>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282" name="Google Shape;3282;p25"/>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3" name="Google Shape;3283;p25"/>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284" name="Google Shape;3284;p25"/>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285" name="Google Shape;3285;p25"/>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286" name="Google Shape;3286;p25"/>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287" name="Google Shape;3287;p25"/>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288" name="Google Shape;3288;p25"/>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25</a:t>
            </a:r>
            <a:endParaRPr/>
          </a:p>
        </p:txBody>
      </p:sp>
      <p:pic>
        <p:nvPicPr>
          <p:cNvPr descr="PU-H-Full-RGB.png" id="3289" name="Google Shape;3289;p25"/>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290" name="Google Shape;3290;p25"/>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291" name="Google Shape;3291;p25"/>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292" name="Google Shape;3292;p25"/>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Ronald Koder</a:t>
            </a:r>
            <a:endParaRPr/>
          </a:p>
        </p:txBody>
      </p:sp>
      <p:sp>
        <p:nvSpPr>
          <p:cNvPr id="3293" name="Google Shape;3293;p25"/>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4" name="Google Shape;3294;p25"/>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D6F98"/>
                </a:solidFill>
                <a:latin typeface="Arial"/>
                <a:ea typeface="Arial"/>
                <a:cs typeface="Arial"/>
                <a:sym typeface="Arial"/>
              </a:rPr>
              <a:t>City College of New York</a:t>
            </a:r>
            <a:endParaRPr/>
          </a:p>
        </p:txBody>
      </p:sp>
      <p:sp>
        <p:nvSpPr>
          <p:cNvPr id="3295" name="Google Shape;3295;p25"/>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3296" name="Google Shape;3296;p25"/>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AI-BIOME: The AI-Enabled Bio-Inspired Materials Ecosystem</a:t>
            </a:r>
            <a:endParaRPr/>
          </a:p>
        </p:txBody>
      </p:sp>
      <p:sp>
        <p:nvSpPr>
          <p:cNvPr id="3297" name="Google Shape;3297;p25"/>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Requirements for Federated Autonomous Science</a:t>
            </a:r>
            <a:endParaRPr/>
          </a:p>
        </p:txBody>
      </p:sp>
      <p:sp>
        <p:nvSpPr>
          <p:cNvPr id="3298" name="Google Shape;3298;p25"/>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2:15–3:00 PM CT</a:t>
            </a:r>
            <a:endParaRPr/>
          </a:p>
        </p:txBody>
      </p:sp>
      <p:sp>
        <p:nvSpPr>
          <p:cNvPr id="3299" name="Google Shape;3299;p25"/>
          <p:cNvSpPr txBox="1"/>
          <p:nvPr/>
        </p:nvSpPr>
        <p:spPr>
          <a:xfrm>
            <a:off x="4343399" y="3696930"/>
            <a:ext cx="6600419" cy="1396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Ronald Koder is a Professor of Physics at The City College of New York and co-Director of the CCNY High Throughput Experimentation Core Facility, working at the intersection of machine learning, biodesign, synthetic biology, and experimental biological physics. His research focuses on designing novel proteins and biomaterials for applications including biosensing, energy materials, and therapeutics, including work on engineered proteins capable of highly selective molecular detection.</a:t>
            </a:r>
            <a:endParaRPr/>
          </a:p>
        </p:txBody>
      </p:sp>
      <p:pic>
        <p:nvPicPr>
          <p:cNvPr id="3300" name="Google Shape;3300;p25"/>
          <p:cNvPicPr preferRelativeResize="0"/>
          <p:nvPr/>
        </p:nvPicPr>
        <p:blipFill rotWithShape="1">
          <a:blip r:embed="rId10">
            <a:alphaModFix/>
          </a:blip>
          <a:srcRect b="0" l="0" r="0" t="0"/>
          <a:stretch/>
        </p:blipFill>
        <p:spPr>
          <a:xfrm>
            <a:off x="568690" y="2258711"/>
            <a:ext cx="2719383" cy="2813172"/>
          </a:xfrm>
          <a:prstGeom prst="ellipse">
            <a:avLst/>
          </a:prstGeom>
          <a:noFill/>
          <a:ln>
            <a:noFill/>
          </a:ln>
        </p:spPr>
      </p:pic>
      <p:pic>
        <p:nvPicPr>
          <p:cNvPr descr="Logos and Branding | The City College of New York" id="3301" name="Google Shape;3301;p25"/>
          <p:cNvPicPr preferRelativeResize="0"/>
          <p:nvPr/>
        </p:nvPicPr>
        <p:blipFill rotWithShape="1">
          <a:blip r:embed="rId11">
            <a:alphaModFix/>
          </a:blip>
          <a:srcRect b="0" l="0" r="0" t="0"/>
          <a:stretch/>
        </p:blipFill>
        <p:spPr>
          <a:xfrm>
            <a:off x="8847189" y="232632"/>
            <a:ext cx="3058440" cy="1286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6" name="Shape 3306"/>
        <p:cNvGrpSpPr/>
        <p:nvPr/>
      </p:nvGrpSpPr>
      <p:grpSpPr>
        <a:xfrm>
          <a:off x="0" y="0"/>
          <a:ext cx="0" cy="0"/>
          <a:chOff x="0" y="0"/>
          <a:chExt cx="0" cy="0"/>
        </a:xfrm>
      </p:grpSpPr>
      <p:sp>
        <p:nvSpPr>
          <p:cNvPr id="3307" name="Google Shape;3307;p26"/>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8" name="Google Shape;3308;p26"/>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309" name="Google Shape;3309;p26"/>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0" name="Google Shape;3310;p26"/>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1" name="Google Shape;3311;p26"/>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2" name="Google Shape;3312;p26"/>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3" name="Google Shape;3313;p26"/>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4" name="Google Shape;3314;p26"/>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5" name="Google Shape;3315;p26"/>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6" name="Google Shape;3316;p26"/>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7" name="Google Shape;3317;p26"/>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8" name="Google Shape;3318;p26"/>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19" name="Google Shape;3319;p26"/>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0" name="Google Shape;3320;p26"/>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1" name="Google Shape;3321;p26"/>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2" name="Google Shape;3322;p26"/>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3" name="Google Shape;3323;p26"/>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4" name="Google Shape;3324;p26"/>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5" name="Google Shape;3325;p26"/>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6" name="Google Shape;3326;p26"/>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7" name="Google Shape;3327;p26"/>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8" name="Google Shape;3328;p26"/>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29" name="Google Shape;3329;p26"/>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0" name="Google Shape;3330;p26"/>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1" name="Google Shape;3331;p26"/>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2" name="Google Shape;3332;p26"/>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3" name="Google Shape;3333;p26"/>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4" name="Google Shape;3334;p26"/>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5" name="Google Shape;3335;p26"/>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6" name="Google Shape;3336;p26"/>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7" name="Google Shape;3337;p26"/>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8" name="Google Shape;3338;p26"/>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39" name="Google Shape;3339;p26"/>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0" name="Google Shape;3340;p26"/>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1" name="Google Shape;3341;p26"/>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2" name="Google Shape;3342;p26"/>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3" name="Google Shape;3343;p26"/>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4" name="Google Shape;3344;p26"/>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5" name="Google Shape;3345;p26"/>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6" name="Google Shape;3346;p26"/>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7" name="Google Shape;3347;p26"/>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8" name="Google Shape;3348;p26"/>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49" name="Google Shape;3349;p26"/>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50" name="Google Shape;3350;p26"/>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51" name="Google Shape;3351;p26"/>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52" name="Google Shape;3352;p26"/>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53" name="Google Shape;3353;p26"/>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54" name="Google Shape;3354;p26"/>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55" name="Google Shape;3355;p26"/>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356" name="Google Shape;3356;p26"/>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357" name="Google Shape;3357;p26"/>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8" name="Google Shape;3358;p26"/>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9" name="Google Shape;3359;p26"/>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0" name="Google Shape;3360;p26"/>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1" name="Google Shape;3361;p26"/>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2" name="Google Shape;3362;p26"/>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3" name="Google Shape;3363;p26"/>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4" name="Google Shape;3364;p26"/>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5" name="Google Shape;3365;p26"/>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6" name="Google Shape;3366;p26"/>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7" name="Google Shape;3367;p26"/>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8" name="Google Shape;3368;p26"/>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9" name="Google Shape;3369;p26"/>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0" name="Google Shape;3370;p26"/>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1" name="Google Shape;3371;p26"/>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2" name="Google Shape;3372;p26"/>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3" name="Google Shape;3373;p26"/>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4" name="Google Shape;3374;p26"/>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5" name="Google Shape;3375;p26"/>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6" name="Google Shape;3376;p26"/>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7" name="Google Shape;3377;p26"/>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8" name="Google Shape;3378;p26"/>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9" name="Google Shape;3379;p26"/>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0" name="Google Shape;3380;p26"/>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381" name="Google Shape;3381;p26"/>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382" name="Google Shape;3382;p26"/>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83" name="Google Shape;3383;p26"/>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384" name="Google Shape;3384;p26"/>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385" name="Google Shape;3385;p26"/>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386" name="Google Shape;3386;p26"/>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387" name="Google Shape;3387;p26"/>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388" name="Google Shape;3388;p26"/>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26</a:t>
            </a:r>
            <a:endParaRPr/>
          </a:p>
        </p:txBody>
      </p:sp>
      <p:pic>
        <p:nvPicPr>
          <p:cNvPr descr="PU-H-Full-RGB.png" id="3389" name="Google Shape;3389;p26"/>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390" name="Google Shape;3390;p26"/>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391" name="Google Shape;3391;p26"/>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392" name="Google Shape;3392;p26"/>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Claire Robertson</a:t>
            </a:r>
            <a:endParaRPr/>
          </a:p>
        </p:txBody>
      </p:sp>
      <p:sp>
        <p:nvSpPr>
          <p:cNvPr id="3393" name="Google Shape;3393;p26"/>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4" name="Google Shape;3394;p26"/>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a:solidFill>
                  <a:srgbClr val="1D6F98"/>
                </a:solidFill>
                <a:latin typeface="Arial"/>
                <a:ea typeface="Arial"/>
                <a:cs typeface="Arial"/>
                <a:sym typeface="Arial"/>
              </a:rPr>
              <a:t>Lawrence Livermore National Laboratory</a:t>
            </a:r>
            <a:endParaRPr/>
          </a:p>
        </p:txBody>
      </p:sp>
      <p:sp>
        <p:nvSpPr>
          <p:cNvPr id="3395" name="Google Shape;3395;p26"/>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PILOT PITCH · 5 MIN</a:t>
            </a:r>
            <a:endParaRPr/>
          </a:p>
        </p:txBody>
      </p:sp>
      <p:sp>
        <p:nvSpPr>
          <p:cNvPr id="3396" name="Google Shape;3396;p26"/>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Real-Time Experiment Steering in 3D Biological Microscopy</a:t>
            </a:r>
            <a:endParaRPr/>
          </a:p>
        </p:txBody>
      </p:sp>
      <p:sp>
        <p:nvSpPr>
          <p:cNvPr id="3397" name="Google Shape;3397;p26"/>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From Position Papers to Collaborative Pilots</a:t>
            </a:r>
            <a:endParaRPr/>
          </a:p>
        </p:txBody>
      </p:sp>
      <p:sp>
        <p:nvSpPr>
          <p:cNvPr id="3398" name="Google Shape;3398;p26"/>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3:30–4:10 PM CT</a:t>
            </a:r>
            <a:endParaRPr/>
          </a:p>
        </p:txBody>
      </p:sp>
      <p:sp>
        <p:nvSpPr>
          <p:cNvPr id="3399" name="Google Shape;3399;p26"/>
          <p:cNvSpPr txBox="1"/>
          <p:nvPr/>
        </p:nvSpPr>
        <p:spPr>
          <a:xfrm>
            <a:off x="4343399" y="3779226"/>
            <a:ext cx="6368143" cy="13139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Claire Robertson is a Materials Engineer at Lawrence Livermore National Laboratory and a biomedical engineer specializing in how cells interact with their microenvironment through advanced microscopy, materials science, biomechanics, and cell biology. Her research spans 3D cell culture, extracellular matrix biology, tissue biomechanics, and organ-on-chip systems, with applications across cancer, cardiovascular, pulmonary, and musculoskeletal biology.</a:t>
            </a:r>
            <a:endParaRPr/>
          </a:p>
        </p:txBody>
      </p:sp>
      <p:sp>
        <p:nvSpPr>
          <p:cNvPr id="3400" name="Google Shape;3400;p26"/>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3401" name="Google Shape;3401;p26"/>
          <p:cNvPicPr preferRelativeResize="0"/>
          <p:nvPr/>
        </p:nvPicPr>
        <p:blipFill rotWithShape="1">
          <a:blip r:embed="rId10">
            <a:alphaModFix/>
          </a:blip>
          <a:srcRect b="0" l="0" r="0" t="0"/>
          <a:stretch/>
        </p:blipFill>
        <p:spPr>
          <a:xfrm>
            <a:off x="568691" y="2267604"/>
            <a:ext cx="2769252" cy="2913319"/>
          </a:xfrm>
          <a:prstGeom prst="ellipse">
            <a:avLst/>
          </a:prstGeom>
          <a:noFill/>
          <a:ln>
            <a:noFill/>
          </a:ln>
        </p:spPr>
      </p:pic>
      <p:pic>
        <p:nvPicPr>
          <p:cNvPr descr="LLNL Lawrence Livermore National Laboratory Logo | Livermore ..." id="3402" name="Google Shape;3402;p26"/>
          <p:cNvPicPr preferRelativeResize="0"/>
          <p:nvPr/>
        </p:nvPicPr>
        <p:blipFill rotWithShape="1">
          <a:blip r:embed="rId11">
            <a:alphaModFix/>
          </a:blip>
          <a:srcRect b="0" l="0" r="0" t="0"/>
          <a:stretch/>
        </p:blipFill>
        <p:spPr>
          <a:xfrm>
            <a:off x="9850760" y="336071"/>
            <a:ext cx="1511300" cy="939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7" name="Shape 3407"/>
        <p:cNvGrpSpPr/>
        <p:nvPr/>
      </p:nvGrpSpPr>
      <p:grpSpPr>
        <a:xfrm>
          <a:off x="0" y="0"/>
          <a:ext cx="0" cy="0"/>
          <a:chOff x="0" y="0"/>
          <a:chExt cx="0" cy="0"/>
        </a:xfrm>
      </p:grpSpPr>
      <p:sp>
        <p:nvSpPr>
          <p:cNvPr id="3408" name="Google Shape;3408;p27"/>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09" name="Google Shape;3409;p27"/>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410" name="Google Shape;3410;p27"/>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1" name="Google Shape;3411;p27"/>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2" name="Google Shape;3412;p27"/>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3" name="Google Shape;3413;p27"/>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4" name="Google Shape;3414;p27"/>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5" name="Google Shape;3415;p27"/>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6" name="Google Shape;3416;p27"/>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7" name="Google Shape;3417;p27"/>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8" name="Google Shape;3418;p27"/>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19" name="Google Shape;3419;p27"/>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0" name="Google Shape;3420;p27"/>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1" name="Google Shape;3421;p27"/>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2" name="Google Shape;3422;p27"/>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3" name="Google Shape;3423;p27"/>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4" name="Google Shape;3424;p27"/>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5" name="Google Shape;3425;p27"/>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6" name="Google Shape;3426;p27"/>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7" name="Google Shape;3427;p27"/>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8" name="Google Shape;3428;p27"/>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29" name="Google Shape;3429;p27"/>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0" name="Google Shape;3430;p27"/>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1" name="Google Shape;3431;p27"/>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2" name="Google Shape;3432;p27"/>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3" name="Google Shape;3433;p27"/>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4" name="Google Shape;3434;p27"/>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5" name="Google Shape;3435;p27"/>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6" name="Google Shape;3436;p27"/>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7" name="Google Shape;3437;p27"/>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8" name="Google Shape;3438;p27"/>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39" name="Google Shape;3439;p27"/>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0" name="Google Shape;3440;p27"/>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1" name="Google Shape;3441;p27"/>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2" name="Google Shape;3442;p27"/>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3" name="Google Shape;3443;p27"/>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4" name="Google Shape;3444;p27"/>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5" name="Google Shape;3445;p27"/>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6" name="Google Shape;3446;p27"/>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7" name="Google Shape;3447;p27"/>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8" name="Google Shape;3448;p27"/>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49" name="Google Shape;3449;p27"/>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0" name="Google Shape;3450;p27"/>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1" name="Google Shape;3451;p27"/>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2" name="Google Shape;3452;p27"/>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3" name="Google Shape;3453;p27"/>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4" name="Google Shape;3454;p27"/>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5" name="Google Shape;3455;p27"/>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6" name="Google Shape;3456;p27"/>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457" name="Google Shape;3457;p27"/>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458" name="Google Shape;3458;p27"/>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9" name="Google Shape;3459;p27"/>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0" name="Google Shape;3460;p27"/>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1" name="Google Shape;3461;p27"/>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2" name="Google Shape;3462;p27"/>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3" name="Google Shape;3463;p27"/>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4" name="Google Shape;3464;p27"/>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5" name="Google Shape;3465;p27"/>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6" name="Google Shape;3466;p27"/>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7" name="Google Shape;3467;p27"/>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8" name="Google Shape;3468;p27"/>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9" name="Google Shape;3469;p27"/>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0" name="Google Shape;3470;p27"/>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1" name="Google Shape;3471;p27"/>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2" name="Google Shape;3472;p27"/>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3" name="Google Shape;3473;p27"/>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4" name="Google Shape;3474;p27"/>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5" name="Google Shape;3475;p27"/>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6" name="Google Shape;3476;p27"/>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7" name="Google Shape;3477;p27"/>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8" name="Google Shape;3478;p27"/>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9" name="Google Shape;3479;p27"/>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0" name="Google Shape;3480;p27"/>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1" name="Google Shape;3481;p27"/>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482" name="Google Shape;3482;p27"/>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483" name="Google Shape;3483;p27"/>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4" name="Google Shape;3484;p27"/>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485" name="Google Shape;3485;p27"/>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486" name="Google Shape;3486;p27"/>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487" name="Google Shape;3487;p27"/>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488" name="Google Shape;3488;p27"/>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489" name="Google Shape;3489;p27"/>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27</a:t>
            </a:r>
            <a:endParaRPr/>
          </a:p>
        </p:txBody>
      </p:sp>
      <p:pic>
        <p:nvPicPr>
          <p:cNvPr descr="PU-H-Full-RGB.png" id="3490" name="Google Shape;3490;p27"/>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491" name="Google Shape;3491;p27"/>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492" name="Google Shape;3492;p27"/>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493" name="Google Shape;3493;p27"/>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Widodo Samyono</a:t>
            </a:r>
            <a:endParaRPr/>
          </a:p>
        </p:txBody>
      </p:sp>
      <p:sp>
        <p:nvSpPr>
          <p:cNvPr id="3494" name="Google Shape;3494;p27"/>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5" name="Google Shape;3495;p27"/>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Jarvis Christian University</a:t>
            </a:r>
            <a:endParaRPr/>
          </a:p>
        </p:txBody>
      </p:sp>
      <p:sp>
        <p:nvSpPr>
          <p:cNvPr id="3496" name="Google Shape;3496;p27"/>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PILOT PITCH · 5 MIN</a:t>
            </a:r>
            <a:endParaRPr/>
          </a:p>
        </p:txBody>
      </p:sp>
      <p:sp>
        <p:nvSpPr>
          <p:cNvPr id="3497" name="Google Shape;3497;p27"/>
          <p:cNvSpPr txBox="1"/>
          <p:nvPr/>
        </p:nvSpPr>
        <p:spPr>
          <a:xfrm>
            <a:off x="4343400" y="2121408"/>
            <a:ext cx="7178040" cy="441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Applications of ML in Life STEM</a:t>
            </a:r>
            <a:endParaRPr/>
          </a:p>
        </p:txBody>
      </p:sp>
      <p:sp>
        <p:nvSpPr>
          <p:cNvPr id="3498" name="Google Shape;3498;p27"/>
          <p:cNvSpPr txBox="1"/>
          <p:nvPr/>
        </p:nvSpPr>
        <p:spPr>
          <a:xfrm>
            <a:off x="4343400" y="264566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From Position Papers to Collaborative Pilots</a:t>
            </a:r>
            <a:endParaRPr/>
          </a:p>
        </p:txBody>
      </p:sp>
      <p:sp>
        <p:nvSpPr>
          <p:cNvPr id="3499" name="Google Shape;3499;p27"/>
          <p:cNvSpPr txBox="1"/>
          <p:nvPr/>
        </p:nvSpPr>
        <p:spPr>
          <a:xfrm>
            <a:off x="4343400" y="291998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3:30–4:10 PM CT</a:t>
            </a:r>
            <a:endParaRPr/>
          </a:p>
        </p:txBody>
      </p:sp>
      <p:sp>
        <p:nvSpPr>
          <p:cNvPr id="3500" name="Google Shape;3500;p27"/>
          <p:cNvSpPr txBox="1"/>
          <p:nvPr/>
        </p:nvSpPr>
        <p:spPr>
          <a:xfrm>
            <a:off x="4343399" y="3696930"/>
            <a:ext cx="6890657" cy="1396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Widodo Samyono is an Associate Professor of Mathematics at Jarvis Christian University whose work spans mathematics, statistics, data mining, and interdisciplinary STEM education. He is a co-principal investigator on Jarvis’s $2.25 million NSF-funded I-RISE initiative and has contributed to interdisciplinary research and student training connecting quantitative methods with biomedical and cancer research.</a:t>
            </a:r>
            <a:endParaRPr/>
          </a:p>
        </p:txBody>
      </p:sp>
      <p:pic>
        <p:nvPicPr>
          <p:cNvPr descr="Humanities, Arts, and Sciences - Jarvis Christian University" id="3501" name="Google Shape;3501;p27"/>
          <p:cNvPicPr preferRelativeResize="0"/>
          <p:nvPr/>
        </p:nvPicPr>
        <p:blipFill rotWithShape="1">
          <a:blip r:embed="rId10">
            <a:alphaModFix/>
          </a:blip>
          <a:srcRect b="0" l="0" r="0" t="0"/>
          <a:stretch/>
        </p:blipFill>
        <p:spPr>
          <a:xfrm>
            <a:off x="568691" y="2142040"/>
            <a:ext cx="2776487" cy="2948122"/>
          </a:xfrm>
          <a:prstGeom prst="ellipse">
            <a:avLst/>
          </a:prstGeom>
          <a:noFill/>
          <a:ln>
            <a:noFill/>
          </a:ln>
        </p:spPr>
      </p:pic>
      <p:pic>
        <p:nvPicPr>
          <p:cNvPr descr="Brand Standards - Jarvis Christian University" id="3502" name="Google Shape;3502;p27"/>
          <p:cNvPicPr preferRelativeResize="0"/>
          <p:nvPr/>
        </p:nvPicPr>
        <p:blipFill rotWithShape="1">
          <a:blip r:embed="rId11">
            <a:alphaModFix/>
          </a:blip>
          <a:srcRect b="0" l="0" r="0" t="0"/>
          <a:stretch/>
        </p:blipFill>
        <p:spPr>
          <a:xfrm>
            <a:off x="10376408" y="281999"/>
            <a:ext cx="1377167" cy="131158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7" name="Shape 3507"/>
        <p:cNvGrpSpPr/>
        <p:nvPr/>
      </p:nvGrpSpPr>
      <p:grpSpPr>
        <a:xfrm>
          <a:off x="0" y="0"/>
          <a:ext cx="0" cy="0"/>
          <a:chOff x="0" y="0"/>
          <a:chExt cx="0" cy="0"/>
        </a:xfrm>
      </p:grpSpPr>
      <p:sp>
        <p:nvSpPr>
          <p:cNvPr id="3508" name="Google Shape;3508;p28"/>
          <p:cNvSpPr/>
          <p:nvPr/>
        </p:nvSpPr>
        <p:spPr>
          <a:xfrm>
            <a:off x="131256"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09" name="Google Shape;3509;p28"/>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510" name="Google Shape;3510;p28"/>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1" name="Google Shape;3511;p28"/>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2" name="Google Shape;3512;p28"/>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3" name="Google Shape;3513;p28"/>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4" name="Google Shape;3514;p28"/>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5" name="Google Shape;3515;p28"/>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6" name="Google Shape;3516;p28"/>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7" name="Google Shape;3517;p28"/>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8" name="Google Shape;3518;p28"/>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19" name="Google Shape;3519;p28"/>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0" name="Google Shape;3520;p28"/>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1" name="Google Shape;3521;p28"/>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2" name="Google Shape;3522;p28"/>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3" name="Google Shape;3523;p28"/>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4" name="Google Shape;3524;p28"/>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5" name="Google Shape;3525;p28"/>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6" name="Google Shape;3526;p28"/>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7" name="Google Shape;3527;p28"/>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8" name="Google Shape;3528;p28"/>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29" name="Google Shape;3529;p28"/>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0" name="Google Shape;3530;p28"/>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1" name="Google Shape;3531;p28"/>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2" name="Google Shape;3532;p28"/>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3" name="Google Shape;3533;p28"/>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4" name="Google Shape;3534;p28"/>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5" name="Google Shape;3535;p28"/>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6" name="Google Shape;3536;p28"/>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7" name="Google Shape;3537;p28"/>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8" name="Google Shape;3538;p28"/>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39" name="Google Shape;3539;p28"/>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0" name="Google Shape;3540;p28"/>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1" name="Google Shape;3541;p28"/>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2" name="Google Shape;3542;p28"/>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3" name="Google Shape;3543;p28"/>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4" name="Google Shape;3544;p28"/>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5" name="Google Shape;3545;p28"/>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6" name="Google Shape;3546;p28"/>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7" name="Google Shape;3547;p28"/>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8" name="Google Shape;3548;p28"/>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49" name="Google Shape;3549;p28"/>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0" name="Google Shape;3550;p28"/>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1" name="Google Shape;3551;p28"/>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2" name="Google Shape;3552;p28"/>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3" name="Google Shape;3553;p28"/>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4" name="Google Shape;3554;p28"/>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5" name="Google Shape;3555;p28"/>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6" name="Google Shape;3556;p28"/>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557" name="Google Shape;3557;p28"/>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558" name="Google Shape;3558;p28"/>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9" name="Google Shape;3559;p28"/>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0" name="Google Shape;3560;p28"/>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1" name="Google Shape;3561;p28"/>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2" name="Google Shape;3562;p28"/>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3" name="Google Shape;3563;p28"/>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4" name="Google Shape;3564;p28"/>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5" name="Google Shape;3565;p28"/>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6" name="Google Shape;3566;p28"/>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7" name="Google Shape;3567;p28"/>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8" name="Google Shape;3568;p28"/>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9" name="Google Shape;3569;p28"/>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0" name="Google Shape;3570;p28"/>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1" name="Google Shape;3571;p28"/>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2" name="Google Shape;3572;p28"/>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3" name="Google Shape;3573;p28"/>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4" name="Google Shape;3574;p28"/>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5" name="Google Shape;3575;p28"/>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6" name="Google Shape;3576;p28"/>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7" name="Google Shape;3577;p28"/>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8" name="Google Shape;3578;p28"/>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9" name="Google Shape;3579;p28"/>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0" name="Google Shape;3580;p28"/>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1" name="Google Shape;3581;p28"/>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582" name="Google Shape;3582;p28"/>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583" name="Google Shape;3583;p28"/>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4" name="Google Shape;3584;p28"/>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585" name="Google Shape;3585;p28"/>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586" name="Google Shape;3586;p28"/>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587" name="Google Shape;3587;p28"/>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588" name="Google Shape;3588;p28"/>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589" name="Google Shape;3589;p28"/>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28</a:t>
            </a:r>
            <a:endParaRPr/>
          </a:p>
        </p:txBody>
      </p:sp>
      <p:pic>
        <p:nvPicPr>
          <p:cNvPr descr="PU-H-Full-RGB.png" id="3590" name="Google Shape;3590;p28"/>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591" name="Google Shape;3591;p28"/>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592" name="Google Shape;3592;p28"/>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593" name="Google Shape;3593;p28"/>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Sidharth Kumar</a:t>
            </a:r>
            <a:endParaRPr/>
          </a:p>
        </p:txBody>
      </p:sp>
      <p:sp>
        <p:nvSpPr>
          <p:cNvPr id="3594" name="Google Shape;3594;p28"/>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5" name="Google Shape;3595;p28"/>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Illinois Chicago</a:t>
            </a:r>
            <a:endParaRPr/>
          </a:p>
        </p:txBody>
      </p:sp>
      <p:sp>
        <p:nvSpPr>
          <p:cNvPr id="3596" name="Google Shape;3596;p28"/>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PILOT PITCH · 5 MIN</a:t>
            </a:r>
            <a:endParaRPr/>
          </a:p>
        </p:txBody>
      </p:sp>
      <p:sp>
        <p:nvSpPr>
          <p:cNvPr id="3597" name="Google Shape;3597;p28"/>
          <p:cNvSpPr txBox="1"/>
          <p:nvPr/>
        </p:nvSpPr>
        <p:spPr>
          <a:xfrm>
            <a:off x="4343400" y="2121408"/>
            <a:ext cx="7178040" cy="441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In-Space Manufacturing</a:t>
            </a:r>
            <a:endParaRPr/>
          </a:p>
        </p:txBody>
      </p:sp>
      <p:sp>
        <p:nvSpPr>
          <p:cNvPr id="3598" name="Google Shape;3598;p28"/>
          <p:cNvSpPr txBox="1"/>
          <p:nvPr/>
        </p:nvSpPr>
        <p:spPr>
          <a:xfrm>
            <a:off x="4343400" y="264566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From Position Papers to Collaborative Pilots</a:t>
            </a:r>
            <a:endParaRPr/>
          </a:p>
        </p:txBody>
      </p:sp>
      <p:sp>
        <p:nvSpPr>
          <p:cNvPr id="3599" name="Google Shape;3599;p28"/>
          <p:cNvSpPr txBox="1"/>
          <p:nvPr/>
        </p:nvSpPr>
        <p:spPr>
          <a:xfrm>
            <a:off x="4343400" y="291998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3:30–4:10 PM CT</a:t>
            </a:r>
            <a:endParaRPr/>
          </a:p>
        </p:txBody>
      </p:sp>
      <p:sp>
        <p:nvSpPr>
          <p:cNvPr id="3600" name="Google Shape;3600;p28"/>
          <p:cNvSpPr txBox="1"/>
          <p:nvPr/>
        </p:nvSpPr>
        <p:spPr>
          <a:xfrm>
            <a:off x="4504428" y="3827826"/>
            <a:ext cx="7399100" cy="12854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Calibri"/>
                <a:ea typeface="Calibri"/>
                <a:cs typeface="Calibri"/>
                <a:sym typeface="Calibri"/>
              </a:rPr>
              <a:t>Sidharth Kumar is an Associate Professor of Computer Science at the University of Illinois Chicago specializing in high-performance computing and large-scale data management. His research develops scalable algorithms and data structures at the intersection of HPC, analytics, visualization, databases, topology, and machine learning, enabling scientists to extract insights from massive and complex computational datasets.</a:t>
            </a:r>
            <a:endParaRPr/>
          </a:p>
        </p:txBody>
      </p:sp>
      <p:pic>
        <p:nvPicPr>
          <p:cNvPr descr="Photo of Kumar, Sidharth" id="3601" name="Google Shape;3601;p28"/>
          <p:cNvPicPr preferRelativeResize="0"/>
          <p:nvPr/>
        </p:nvPicPr>
        <p:blipFill rotWithShape="1">
          <a:blip r:embed="rId10">
            <a:alphaModFix/>
          </a:blip>
          <a:srcRect b="0" l="0" r="0" t="0"/>
          <a:stretch/>
        </p:blipFill>
        <p:spPr>
          <a:xfrm>
            <a:off x="594488" y="2320249"/>
            <a:ext cx="2682110" cy="2692677"/>
          </a:xfrm>
          <a:prstGeom prst="ellipse">
            <a:avLst/>
          </a:prstGeom>
          <a:noFill/>
          <a:ln>
            <a:noFill/>
          </a:ln>
        </p:spPr>
      </p:pic>
      <p:pic>
        <p:nvPicPr>
          <p:cNvPr descr="Logos | Brand guidelines | University of Illinois Chicago" id="3602" name="Google Shape;3602;p28"/>
          <p:cNvPicPr preferRelativeResize="0"/>
          <p:nvPr/>
        </p:nvPicPr>
        <p:blipFill rotWithShape="1">
          <a:blip r:embed="rId11">
            <a:alphaModFix/>
          </a:blip>
          <a:srcRect b="0" l="0" r="0" t="0"/>
          <a:stretch/>
        </p:blipFill>
        <p:spPr>
          <a:xfrm>
            <a:off x="9948732" y="293914"/>
            <a:ext cx="1521718" cy="109714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7" name="Shape 3607"/>
        <p:cNvGrpSpPr/>
        <p:nvPr/>
      </p:nvGrpSpPr>
      <p:grpSpPr>
        <a:xfrm>
          <a:off x="0" y="0"/>
          <a:ext cx="0" cy="0"/>
          <a:chOff x="0" y="0"/>
          <a:chExt cx="0" cy="0"/>
        </a:xfrm>
      </p:grpSpPr>
      <p:sp>
        <p:nvSpPr>
          <p:cNvPr id="3608" name="Google Shape;3608;p29"/>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9" name="Google Shape;3609;p29"/>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610" name="Google Shape;3610;p29"/>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1" name="Google Shape;3611;p29"/>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2" name="Google Shape;3612;p29"/>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3" name="Google Shape;3613;p29"/>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4" name="Google Shape;3614;p29"/>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5" name="Google Shape;3615;p29"/>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6" name="Google Shape;3616;p29"/>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7" name="Google Shape;3617;p29"/>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8" name="Google Shape;3618;p29"/>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19" name="Google Shape;3619;p29"/>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0" name="Google Shape;3620;p29"/>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1" name="Google Shape;3621;p29"/>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2" name="Google Shape;3622;p29"/>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3" name="Google Shape;3623;p29"/>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4" name="Google Shape;3624;p29"/>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5" name="Google Shape;3625;p29"/>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6" name="Google Shape;3626;p29"/>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7" name="Google Shape;3627;p29"/>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8" name="Google Shape;3628;p29"/>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29" name="Google Shape;3629;p29"/>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0" name="Google Shape;3630;p29"/>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1" name="Google Shape;3631;p29"/>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2" name="Google Shape;3632;p29"/>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3" name="Google Shape;3633;p29"/>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4" name="Google Shape;3634;p29"/>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5" name="Google Shape;3635;p29"/>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6" name="Google Shape;3636;p29"/>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7" name="Google Shape;3637;p29"/>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8" name="Google Shape;3638;p29"/>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39" name="Google Shape;3639;p29"/>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0" name="Google Shape;3640;p29"/>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1" name="Google Shape;3641;p29"/>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2" name="Google Shape;3642;p29"/>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3" name="Google Shape;3643;p29"/>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4" name="Google Shape;3644;p29"/>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5" name="Google Shape;3645;p29"/>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6" name="Google Shape;3646;p29"/>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7" name="Google Shape;3647;p29"/>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8" name="Google Shape;3648;p29"/>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49" name="Google Shape;3649;p29"/>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0" name="Google Shape;3650;p29"/>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1" name="Google Shape;3651;p29"/>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2" name="Google Shape;3652;p29"/>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3" name="Google Shape;3653;p29"/>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4" name="Google Shape;3654;p29"/>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5" name="Google Shape;3655;p29"/>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6" name="Google Shape;3656;p29"/>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657" name="Google Shape;3657;p29"/>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658" name="Google Shape;3658;p29"/>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9" name="Google Shape;3659;p29"/>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0" name="Google Shape;3660;p29"/>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1" name="Google Shape;3661;p29"/>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2" name="Google Shape;3662;p29"/>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3" name="Google Shape;3663;p29"/>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4" name="Google Shape;3664;p29"/>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5" name="Google Shape;3665;p29"/>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6" name="Google Shape;3666;p29"/>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7" name="Google Shape;3667;p29"/>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8" name="Google Shape;3668;p29"/>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9" name="Google Shape;3669;p29"/>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0" name="Google Shape;3670;p29"/>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1" name="Google Shape;3671;p29"/>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2" name="Google Shape;3672;p29"/>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3" name="Google Shape;3673;p29"/>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4" name="Google Shape;3674;p29"/>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5" name="Google Shape;3675;p29"/>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6" name="Google Shape;3676;p29"/>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7" name="Google Shape;3677;p29"/>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8" name="Google Shape;3678;p29"/>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9" name="Google Shape;3679;p29"/>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0" name="Google Shape;3680;p29"/>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1" name="Google Shape;3681;p29"/>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682" name="Google Shape;3682;p29"/>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683" name="Google Shape;3683;p29"/>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4" name="Google Shape;3684;p29"/>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685" name="Google Shape;3685;p29"/>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686" name="Google Shape;3686;p29"/>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687" name="Google Shape;3687;p29"/>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688" name="Google Shape;3688;p29"/>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689" name="Google Shape;3689;p29"/>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29</a:t>
            </a:r>
            <a:endParaRPr/>
          </a:p>
        </p:txBody>
      </p:sp>
      <p:pic>
        <p:nvPicPr>
          <p:cNvPr descr="PU-H-Full-RGB.png" id="3690" name="Google Shape;3690;p29"/>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691" name="Google Shape;3691;p29"/>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692" name="Google Shape;3692;p29"/>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693" name="Google Shape;3693;p29"/>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Daniel Haehn</a:t>
            </a:r>
            <a:endParaRPr/>
          </a:p>
        </p:txBody>
      </p:sp>
      <p:sp>
        <p:nvSpPr>
          <p:cNvPr id="3694" name="Google Shape;3694;p29"/>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5" name="Google Shape;3695;p29"/>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Massachusetts Boston</a:t>
            </a:r>
            <a:endParaRPr/>
          </a:p>
        </p:txBody>
      </p:sp>
      <p:sp>
        <p:nvSpPr>
          <p:cNvPr id="3696" name="Google Shape;3696;p29"/>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PILOT PITCH · 5 MIN</a:t>
            </a:r>
            <a:endParaRPr/>
          </a:p>
        </p:txBody>
      </p:sp>
      <p:sp>
        <p:nvSpPr>
          <p:cNvPr id="3697" name="Google Shape;3697;p29"/>
          <p:cNvSpPr txBox="1"/>
          <p:nvPr/>
        </p:nvSpPr>
        <p:spPr>
          <a:xfrm>
            <a:off x="4343400" y="2121408"/>
            <a:ext cx="717804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a:solidFill>
                  <a:srgbClr val="082B4C"/>
                </a:solidFill>
                <a:latin typeface="Arial"/>
                <a:ea typeface="Arial"/>
                <a:cs typeface="Arial"/>
                <a:sym typeface="Arial"/>
              </a:rPr>
              <a:t>From Browser to DGX: Federated AI and Computing for Interactive Science</a:t>
            </a:r>
            <a:endParaRPr/>
          </a:p>
        </p:txBody>
      </p:sp>
      <p:sp>
        <p:nvSpPr>
          <p:cNvPr id="3698" name="Google Shape;3698;p29"/>
          <p:cNvSpPr txBox="1"/>
          <p:nvPr/>
        </p:nvSpPr>
        <p:spPr>
          <a:xfrm>
            <a:off x="4343400" y="298094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From Position Papers to Collaborative Pilots</a:t>
            </a:r>
            <a:endParaRPr/>
          </a:p>
        </p:txBody>
      </p:sp>
      <p:sp>
        <p:nvSpPr>
          <p:cNvPr id="3699" name="Google Shape;3699;p29"/>
          <p:cNvSpPr txBox="1"/>
          <p:nvPr/>
        </p:nvSpPr>
        <p:spPr>
          <a:xfrm>
            <a:off x="4343400" y="325526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3:30–4:10 PM CT</a:t>
            </a:r>
            <a:endParaRPr/>
          </a:p>
        </p:txBody>
      </p:sp>
      <p:sp>
        <p:nvSpPr>
          <p:cNvPr id="3700" name="Google Shape;3700;p29"/>
          <p:cNvSpPr txBox="1"/>
          <p:nvPr/>
        </p:nvSpPr>
        <p:spPr>
          <a:xfrm>
            <a:off x="4343400" y="3779226"/>
            <a:ext cx="6641566" cy="13139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Daniel Haehn is an Associate Professor of Computer Science at UMass Boston specializing in biomedical imaging, visualization, and computer graphics. His research explores brain connectivity and machine perception to advance biologically inspired artificial intelligence, with a strong emphasis on open science and open education.</a:t>
            </a:r>
            <a:endParaRPr/>
          </a:p>
        </p:txBody>
      </p:sp>
      <p:pic>
        <p:nvPicPr>
          <p:cNvPr descr="Daniel Haehn,  Assistant Professor, Computer Science" id="3701" name="Google Shape;3701;p29"/>
          <p:cNvPicPr preferRelativeResize="0"/>
          <p:nvPr/>
        </p:nvPicPr>
        <p:blipFill rotWithShape="1">
          <a:blip r:embed="rId10">
            <a:alphaModFix/>
          </a:blip>
          <a:srcRect b="0" l="0" r="0" t="0"/>
          <a:stretch/>
        </p:blipFill>
        <p:spPr>
          <a:xfrm>
            <a:off x="568692" y="2303360"/>
            <a:ext cx="2707906" cy="2761166"/>
          </a:xfrm>
          <a:prstGeom prst="ellipse">
            <a:avLst/>
          </a:prstGeom>
          <a:noFill/>
          <a:ln>
            <a:noFill/>
          </a:ln>
        </p:spPr>
      </p:pic>
      <p:sp>
        <p:nvSpPr>
          <p:cNvPr descr="new-umb-logo-blue.svg" id="3702" name="Google Shape;3702;p29"/>
          <p:cNvSpPr/>
          <p:nvPr/>
        </p:nvSpPr>
        <p:spPr>
          <a:xfrm>
            <a:off x="9307577" y="502920"/>
            <a:ext cx="1648894" cy="836468"/>
          </a:xfrm>
          <a:prstGeom prst="rect">
            <a:avLst/>
          </a:prstGeom>
          <a:no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7" name="Shape 3707"/>
        <p:cNvGrpSpPr/>
        <p:nvPr/>
      </p:nvGrpSpPr>
      <p:grpSpPr>
        <a:xfrm>
          <a:off x="0" y="0"/>
          <a:ext cx="0" cy="0"/>
          <a:chOff x="0" y="0"/>
          <a:chExt cx="0" cy="0"/>
        </a:xfrm>
      </p:grpSpPr>
      <p:sp>
        <p:nvSpPr>
          <p:cNvPr id="3708" name="Google Shape;3708;p30"/>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9" name="Google Shape;3709;p30"/>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710" name="Google Shape;3710;p30"/>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1" name="Google Shape;3711;p30"/>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2" name="Google Shape;3712;p30"/>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3" name="Google Shape;3713;p30"/>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4" name="Google Shape;3714;p30"/>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5" name="Google Shape;3715;p30"/>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6" name="Google Shape;3716;p30"/>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7" name="Google Shape;3717;p30"/>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8" name="Google Shape;3718;p30"/>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19" name="Google Shape;3719;p30"/>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0" name="Google Shape;3720;p30"/>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1" name="Google Shape;3721;p30"/>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2" name="Google Shape;3722;p30"/>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3" name="Google Shape;3723;p30"/>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4" name="Google Shape;3724;p30"/>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5" name="Google Shape;3725;p30"/>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6" name="Google Shape;3726;p30"/>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7" name="Google Shape;3727;p30"/>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8" name="Google Shape;3728;p30"/>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29" name="Google Shape;3729;p30"/>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0" name="Google Shape;3730;p30"/>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1" name="Google Shape;3731;p30"/>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2" name="Google Shape;3732;p30"/>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3" name="Google Shape;3733;p30"/>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4" name="Google Shape;3734;p30"/>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5" name="Google Shape;3735;p30"/>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6" name="Google Shape;3736;p30"/>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7" name="Google Shape;3737;p30"/>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8" name="Google Shape;3738;p30"/>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39" name="Google Shape;3739;p30"/>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0" name="Google Shape;3740;p30"/>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1" name="Google Shape;3741;p30"/>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2" name="Google Shape;3742;p30"/>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3" name="Google Shape;3743;p30"/>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4" name="Google Shape;3744;p30"/>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5" name="Google Shape;3745;p30"/>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6" name="Google Shape;3746;p30"/>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7" name="Google Shape;3747;p30"/>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8" name="Google Shape;3748;p30"/>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49" name="Google Shape;3749;p30"/>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0" name="Google Shape;3750;p30"/>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1" name="Google Shape;3751;p30"/>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2" name="Google Shape;3752;p30"/>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3" name="Google Shape;3753;p30"/>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4" name="Google Shape;3754;p30"/>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5" name="Google Shape;3755;p30"/>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6" name="Google Shape;3756;p30"/>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757" name="Google Shape;3757;p30"/>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758" name="Google Shape;3758;p30"/>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9" name="Google Shape;3759;p30"/>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0" name="Google Shape;3760;p30"/>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1" name="Google Shape;3761;p30"/>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2" name="Google Shape;3762;p30"/>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3" name="Google Shape;3763;p30"/>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4" name="Google Shape;3764;p30"/>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5" name="Google Shape;3765;p30"/>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6" name="Google Shape;3766;p30"/>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7" name="Google Shape;3767;p30"/>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8" name="Google Shape;3768;p30"/>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9" name="Google Shape;3769;p30"/>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0" name="Google Shape;3770;p30"/>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1" name="Google Shape;3771;p30"/>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2" name="Google Shape;3772;p30"/>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3" name="Google Shape;3773;p30"/>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4" name="Google Shape;3774;p30"/>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5" name="Google Shape;3775;p30"/>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6" name="Google Shape;3776;p30"/>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7" name="Google Shape;3777;p30"/>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8" name="Google Shape;3778;p30"/>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9" name="Google Shape;3779;p30"/>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0" name="Google Shape;3780;p30"/>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1" name="Google Shape;3781;p30"/>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782" name="Google Shape;3782;p30"/>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783" name="Google Shape;3783;p30"/>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4" name="Google Shape;3784;p30"/>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785" name="Google Shape;3785;p30"/>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786" name="Google Shape;3786;p30"/>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787" name="Google Shape;3787;p30"/>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788" name="Google Shape;3788;p30"/>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789" name="Google Shape;3789;p30"/>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30</a:t>
            </a:r>
            <a:endParaRPr/>
          </a:p>
        </p:txBody>
      </p:sp>
      <p:pic>
        <p:nvPicPr>
          <p:cNvPr descr="PU-H-Full-RGB.png" id="3790" name="Google Shape;3790;p30"/>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791" name="Google Shape;3791;p30"/>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792" name="Google Shape;3792;p30"/>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793" name="Google Shape;3793;p30"/>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Dean Hougen</a:t>
            </a:r>
            <a:endParaRPr/>
          </a:p>
        </p:txBody>
      </p:sp>
      <p:sp>
        <p:nvSpPr>
          <p:cNvPr id="3794" name="Google Shape;3794;p30"/>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5" name="Google Shape;3795;p30"/>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Oklahoma</a:t>
            </a:r>
            <a:endParaRPr/>
          </a:p>
        </p:txBody>
      </p:sp>
      <p:sp>
        <p:nvSpPr>
          <p:cNvPr id="3796" name="Google Shape;3796;p30"/>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PILOT PITCH · 5 MIN</a:t>
            </a:r>
            <a:endParaRPr/>
          </a:p>
        </p:txBody>
      </p:sp>
      <p:sp>
        <p:nvSpPr>
          <p:cNvPr id="3797" name="Google Shape;3797;p30"/>
          <p:cNvSpPr txBox="1"/>
          <p:nvPr/>
        </p:nvSpPr>
        <p:spPr>
          <a:xfrm>
            <a:off x="4343400" y="2121408"/>
            <a:ext cx="717804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00">
                <a:solidFill>
                  <a:srgbClr val="082B4C"/>
                </a:solidFill>
                <a:latin typeface="Arial"/>
                <a:ea typeface="Arial"/>
                <a:cs typeface="Arial"/>
                <a:sym typeface="Arial"/>
              </a:rPr>
              <a:t>From Explainable to Informative AI: Understanding the World, Not Just the Model</a:t>
            </a:r>
            <a:endParaRPr/>
          </a:p>
        </p:txBody>
      </p:sp>
      <p:sp>
        <p:nvSpPr>
          <p:cNvPr id="3798" name="Google Shape;3798;p30"/>
          <p:cNvSpPr txBox="1"/>
          <p:nvPr/>
        </p:nvSpPr>
        <p:spPr>
          <a:xfrm>
            <a:off x="4343400" y="2889503"/>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a:solidFill>
                  <a:srgbClr val="5F7385"/>
                </a:solidFill>
                <a:latin typeface="Arial"/>
                <a:ea typeface="Arial"/>
                <a:cs typeface="Arial"/>
                <a:sym typeface="Arial"/>
              </a:rPr>
              <a:t>Session: From Position Papers to Collaborative Pilots</a:t>
            </a:r>
            <a:endParaRPr/>
          </a:p>
        </p:txBody>
      </p:sp>
      <p:sp>
        <p:nvSpPr>
          <p:cNvPr id="3799" name="Google Shape;3799;p30"/>
          <p:cNvSpPr txBox="1"/>
          <p:nvPr/>
        </p:nvSpPr>
        <p:spPr>
          <a:xfrm>
            <a:off x="4343400" y="316382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3:30–4:10 PM CT</a:t>
            </a:r>
            <a:endParaRPr/>
          </a:p>
        </p:txBody>
      </p:sp>
      <p:sp>
        <p:nvSpPr>
          <p:cNvPr id="3800" name="Google Shape;3800;p30"/>
          <p:cNvSpPr txBox="1"/>
          <p:nvPr/>
        </p:nvSpPr>
        <p:spPr>
          <a:xfrm>
            <a:off x="4343400" y="3779226"/>
            <a:ext cx="6335486" cy="13139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Dean Hougen is the Lloyd &amp; Joyce Austin Presidential Professor of Computer Science at the University of Oklahoma, with more than 30 years of experience in artificial intelligence and machine learning. His research spans robotics, deep and interpretable learning, reinforcement learning, evolutionary computation, and multi-agent systems, with more than 115 refereed publications and over $21 million in jointly secured research funding.</a:t>
            </a:r>
            <a:endParaRPr/>
          </a:p>
        </p:txBody>
      </p:sp>
      <p:pic>
        <p:nvPicPr>
          <p:cNvPr descr="Dean Hougen" id="3801" name="Google Shape;3801;p30"/>
          <p:cNvPicPr preferRelativeResize="0"/>
          <p:nvPr/>
        </p:nvPicPr>
        <p:blipFill rotWithShape="1">
          <a:blip r:embed="rId10">
            <a:alphaModFix/>
          </a:blip>
          <a:srcRect b="0" l="0" r="0" t="0"/>
          <a:stretch/>
        </p:blipFill>
        <p:spPr>
          <a:xfrm>
            <a:off x="530539" y="2057017"/>
            <a:ext cx="2807403" cy="2966362"/>
          </a:xfrm>
          <a:prstGeom prst="ellipse">
            <a:avLst/>
          </a:prstGeom>
          <a:noFill/>
          <a:ln>
            <a:noFill/>
          </a:ln>
        </p:spPr>
      </p:pic>
      <p:pic>
        <p:nvPicPr>
          <p:cNvPr descr="University of Oklahoma Logo, symbol, meaning, history, PNG ..." id="3802" name="Google Shape;3802;p30"/>
          <p:cNvPicPr preferRelativeResize="0"/>
          <p:nvPr/>
        </p:nvPicPr>
        <p:blipFill rotWithShape="1">
          <a:blip r:embed="rId11">
            <a:alphaModFix/>
          </a:blip>
          <a:srcRect b="0" l="0" r="0" t="0"/>
          <a:stretch/>
        </p:blipFill>
        <p:spPr>
          <a:xfrm>
            <a:off x="8978449" y="326571"/>
            <a:ext cx="2276302" cy="120703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6" name="Shape 3806"/>
        <p:cNvGrpSpPr/>
        <p:nvPr/>
      </p:nvGrpSpPr>
      <p:grpSpPr>
        <a:xfrm>
          <a:off x="0" y="0"/>
          <a:ext cx="0" cy="0"/>
          <a:chOff x="0" y="0"/>
          <a:chExt cx="0" cy="0"/>
        </a:xfrm>
      </p:grpSpPr>
      <p:sp>
        <p:nvSpPr>
          <p:cNvPr id="3807" name="Google Shape;3807;p31"/>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808" name="Google Shape;3808;p31"/>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09" name="Google Shape;3809;p31"/>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0" name="Google Shape;3810;p31"/>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1" name="Google Shape;3811;p31"/>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2" name="Google Shape;3812;p31"/>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3" name="Google Shape;3813;p31"/>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4" name="Google Shape;3814;p31"/>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5" name="Google Shape;3815;p31"/>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6" name="Google Shape;3816;p31"/>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7" name="Google Shape;3817;p31"/>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8" name="Google Shape;3818;p31"/>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19" name="Google Shape;3819;p31"/>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0" name="Google Shape;3820;p31"/>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1" name="Google Shape;3821;p31"/>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2" name="Google Shape;3822;p31"/>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3" name="Google Shape;3823;p31"/>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4" name="Google Shape;3824;p31"/>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5" name="Google Shape;3825;p31"/>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6" name="Google Shape;3826;p31"/>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7" name="Google Shape;3827;p31"/>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8" name="Google Shape;3828;p31"/>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29" name="Google Shape;3829;p31"/>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0" name="Google Shape;3830;p31"/>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1" name="Google Shape;3831;p31"/>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2" name="Google Shape;3832;p31"/>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3" name="Google Shape;3833;p31"/>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4" name="Google Shape;3834;p31"/>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5" name="Google Shape;3835;p31"/>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6" name="Google Shape;3836;p31"/>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7" name="Google Shape;3837;p31"/>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8" name="Google Shape;3838;p31"/>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39" name="Google Shape;3839;p31"/>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0" name="Google Shape;3840;p31"/>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1" name="Google Shape;3841;p31"/>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2" name="Google Shape;3842;p31"/>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3" name="Google Shape;3843;p31"/>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4" name="Google Shape;3844;p31"/>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5" name="Google Shape;3845;p31"/>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6" name="Google Shape;3846;p31"/>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7" name="Google Shape;3847;p31"/>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8" name="Google Shape;3848;p31"/>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49" name="Google Shape;3849;p31"/>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50" name="Google Shape;3850;p31"/>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51" name="Google Shape;3851;p31"/>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52" name="Google Shape;3852;p31"/>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53" name="Google Shape;3853;p31"/>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54" name="Google Shape;3854;p31"/>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855" name="Google Shape;3855;p31"/>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856" name="Google Shape;3856;p31"/>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7" name="Google Shape;3857;p31"/>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8" name="Google Shape;3858;p31"/>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9" name="Google Shape;3859;p31"/>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0" name="Google Shape;3860;p31"/>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1" name="Google Shape;3861;p31"/>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2" name="Google Shape;3862;p31"/>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3" name="Google Shape;3863;p31"/>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4" name="Google Shape;3864;p31"/>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5" name="Google Shape;3865;p31"/>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6" name="Google Shape;3866;p31"/>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7" name="Google Shape;3867;p31"/>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8" name="Google Shape;3868;p31"/>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9" name="Google Shape;3869;p31"/>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0" name="Google Shape;3870;p31"/>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1" name="Google Shape;3871;p31"/>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2" name="Google Shape;3872;p31"/>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3" name="Google Shape;3873;p31"/>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4" name="Google Shape;3874;p31"/>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5" name="Google Shape;3875;p31"/>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6" name="Google Shape;3876;p31"/>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7" name="Google Shape;3877;p31"/>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8" name="Google Shape;3878;p31"/>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9" name="Google Shape;3879;p31"/>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880" name="Google Shape;3880;p31"/>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881" name="Google Shape;3881;p31"/>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2" name="Google Shape;3882;p31"/>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883" name="Google Shape;3883;p31"/>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884" name="Google Shape;3884;p31"/>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885" name="Google Shape;3885;p31"/>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886" name="Google Shape;3886;p31"/>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887" name="Google Shape;3887;p31"/>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31</a:t>
            </a:r>
            <a:endParaRPr/>
          </a:p>
        </p:txBody>
      </p:sp>
      <p:pic>
        <p:nvPicPr>
          <p:cNvPr descr="PU-H-Full-RGB.png" id="3888" name="Google Shape;3888;p31"/>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889" name="Google Shape;3889;p31"/>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890" name="Google Shape;3890;p31"/>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891" name="Google Shape;3891;p31"/>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400">
                <a:solidFill>
                  <a:srgbClr val="082B4C"/>
                </a:solidFill>
                <a:latin typeface="Arial"/>
                <a:ea typeface="Arial"/>
                <a:cs typeface="Arial"/>
                <a:sym typeface="Arial"/>
              </a:rPr>
              <a:t>David Elbert</a:t>
            </a:r>
            <a:endParaRPr/>
          </a:p>
        </p:txBody>
      </p:sp>
      <p:sp>
        <p:nvSpPr>
          <p:cNvPr id="3892" name="Google Shape;3892;p31"/>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0">
                <a:solidFill>
                  <a:srgbClr val="5F7385"/>
                </a:solidFill>
                <a:latin typeface="Arial"/>
                <a:ea typeface="Arial"/>
                <a:cs typeface="Arial"/>
                <a:sym typeface="Arial"/>
              </a:rPr>
              <a:t>Session Moderator</a:t>
            </a:r>
            <a:endParaRPr/>
          </a:p>
        </p:txBody>
      </p:sp>
      <p:sp>
        <p:nvSpPr>
          <p:cNvPr id="3893" name="Google Shape;3893;p31"/>
          <p:cNvSpPr txBox="1"/>
          <p:nvPr/>
        </p:nvSpPr>
        <p:spPr>
          <a:xfrm>
            <a:off x="4343400" y="128016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Johns Hopkins University</a:t>
            </a:r>
            <a:endParaRPr/>
          </a:p>
        </p:txBody>
      </p:sp>
      <p:sp>
        <p:nvSpPr>
          <p:cNvPr id="3894" name="Google Shape;3894;p31"/>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MODERATOR · 40 MIN</a:t>
            </a:r>
            <a:endParaRPr/>
          </a:p>
        </p:txBody>
      </p:sp>
      <p:sp>
        <p:nvSpPr>
          <p:cNvPr id="3895" name="Google Shape;3895;p31"/>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Shared Agenda for NSDF and Federal Agencies and Labs</a:t>
            </a:r>
            <a:endParaRPr/>
          </a:p>
        </p:txBody>
      </p:sp>
      <p:sp>
        <p:nvSpPr>
          <p:cNvPr id="3896" name="Google Shape;3896;p31"/>
          <p:cNvSpPr txBox="1"/>
          <p:nvPr/>
        </p:nvSpPr>
        <p:spPr>
          <a:xfrm>
            <a:off x="4343400" y="30419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4:10–4:50 PM CT</a:t>
            </a:r>
            <a:endParaRPr/>
          </a:p>
        </p:txBody>
      </p:sp>
      <p:sp>
        <p:nvSpPr>
          <p:cNvPr id="3897" name="Google Shape;3897;p31"/>
          <p:cNvSpPr txBox="1"/>
          <p:nvPr/>
        </p:nvSpPr>
        <p:spPr>
          <a:xfrm>
            <a:off x="4343400" y="3672000"/>
            <a:ext cx="6991350" cy="14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David Elbert is a Faculty Research Scientist at Johns Hopkins University, working at the intersection of materials science and data infrastructure. He designs autonomous, semantic data-provenance systems that connect instruments, databases, analysis pipelines, and AI agents — including linked-data infrastructure for the AIMD-L Process Control Lab at Johns Hopkins and a digital-twin system for NASA’s IMQCAM program.</a:t>
            </a:r>
            <a:endParaRPr/>
          </a:p>
        </p:txBody>
      </p:sp>
      <p:pic>
        <p:nvPicPr>
          <p:cNvPr descr="David Elbert headshot" id="3898" name="Google Shape;3898;p31"/>
          <p:cNvPicPr preferRelativeResize="0"/>
          <p:nvPr/>
        </p:nvPicPr>
        <p:blipFill rotWithShape="1">
          <a:blip r:embed="rId10">
            <a:alphaModFix/>
          </a:blip>
          <a:srcRect b="0" l="0" r="0" t="0"/>
          <a:stretch/>
        </p:blipFill>
        <p:spPr>
          <a:xfrm>
            <a:off x="635636" y="2197761"/>
            <a:ext cx="2572382" cy="3000868"/>
          </a:xfrm>
          <a:prstGeom prst="ellipse">
            <a:avLst/>
          </a:prstGeom>
          <a:noFill/>
          <a:ln>
            <a:noFill/>
          </a:ln>
        </p:spPr>
      </p:pic>
      <p:pic>
        <p:nvPicPr>
          <p:cNvPr descr="Johns Hopkins University logo" id="3899" name="Google Shape;3899;p31"/>
          <p:cNvPicPr preferRelativeResize="0"/>
          <p:nvPr/>
        </p:nvPicPr>
        <p:blipFill rotWithShape="1">
          <a:blip r:embed="rId11">
            <a:alphaModFix/>
          </a:blip>
          <a:srcRect b="0" l="0" r="0" t="0"/>
          <a:stretch/>
        </p:blipFill>
        <p:spPr>
          <a:xfrm>
            <a:off x="9423987" y="157728"/>
            <a:ext cx="1771623" cy="118165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4" name="Shape 3904"/>
        <p:cNvGrpSpPr/>
        <p:nvPr/>
      </p:nvGrpSpPr>
      <p:grpSpPr>
        <a:xfrm>
          <a:off x="0" y="0"/>
          <a:ext cx="0" cy="0"/>
          <a:chOff x="0" y="0"/>
          <a:chExt cx="0" cy="0"/>
        </a:xfrm>
      </p:grpSpPr>
      <p:sp>
        <p:nvSpPr>
          <p:cNvPr id="3905" name="Google Shape;3905;p32"/>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906" name="Google Shape;3906;p32"/>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07" name="Google Shape;3907;p32"/>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08" name="Google Shape;3908;p32"/>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09" name="Google Shape;3909;p32"/>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0" name="Google Shape;3910;p32"/>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1" name="Google Shape;3911;p32"/>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2" name="Google Shape;3912;p32"/>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3" name="Google Shape;3913;p32"/>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4" name="Google Shape;3914;p32"/>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5" name="Google Shape;3915;p32"/>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6" name="Google Shape;3916;p32"/>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7" name="Google Shape;3917;p32"/>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8" name="Google Shape;3918;p32"/>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19" name="Google Shape;3919;p32"/>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0" name="Google Shape;3920;p32"/>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1" name="Google Shape;3921;p32"/>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2" name="Google Shape;3922;p32"/>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3" name="Google Shape;3923;p32"/>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4" name="Google Shape;3924;p32"/>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5" name="Google Shape;3925;p32"/>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6" name="Google Shape;3926;p32"/>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7" name="Google Shape;3927;p32"/>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8" name="Google Shape;3928;p32"/>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29" name="Google Shape;3929;p32"/>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0" name="Google Shape;3930;p32"/>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1" name="Google Shape;3931;p32"/>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2" name="Google Shape;3932;p32"/>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3" name="Google Shape;3933;p32"/>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4" name="Google Shape;3934;p32"/>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5" name="Google Shape;3935;p32"/>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6" name="Google Shape;3936;p32"/>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7" name="Google Shape;3937;p32"/>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8" name="Google Shape;3938;p32"/>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39" name="Google Shape;3939;p32"/>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0" name="Google Shape;3940;p32"/>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1" name="Google Shape;3941;p32"/>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2" name="Google Shape;3942;p32"/>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3" name="Google Shape;3943;p32"/>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4" name="Google Shape;3944;p32"/>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5" name="Google Shape;3945;p32"/>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6" name="Google Shape;3946;p32"/>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7" name="Google Shape;3947;p32"/>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8" name="Google Shape;3948;p32"/>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49" name="Google Shape;3949;p32"/>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50" name="Google Shape;3950;p32"/>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51" name="Google Shape;3951;p32"/>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52" name="Google Shape;3952;p32"/>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953" name="Google Shape;3953;p32"/>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954" name="Google Shape;3954;p32"/>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5" name="Google Shape;3955;p32"/>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6" name="Google Shape;3956;p32"/>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7" name="Google Shape;3957;p32"/>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8" name="Google Shape;3958;p32"/>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9" name="Google Shape;3959;p32"/>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0" name="Google Shape;3960;p32"/>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1" name="Google Shape;3961;p32"/>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2" name="Google Shape;3962;p32"/>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3" name="Google Shape;3963;p32"/>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4" name="Google Shape;3964;p32"/>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5" name="Google Shape;3965;p32"/>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6" name="Google Shape;3966;p32"/>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7" name="Google Shape;3967;p32"/>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8" name="Google Shape;3968;p32"/>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9" name="Google Shape;3969;p32"/>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0" name="Google Shape;3970;p32"/>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1" name="Google Shape;3971;p32"/>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2" name="Google Shape;3972;p32"/>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3" name="Google Shape;3973;p32"/>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4" name="Google Shape;3974;p32"/>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5" name="Google Shape;3975;p32"/>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6" name="Google Shape;3976;p32"/>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7" name="Google Shape;3977;p32"/>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978" name="Google Shape;3978;p32"/>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979" name="Google Shape;3979;p32"/>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0" name="Google Shape;3980;p32"/>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981" name="Google Shape;3981;p32"/>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982" name="Google Shape;3982;p32"/>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983" name="Google Shape;3983;p32"/>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984" name="Google Shape;3984;p32"/>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985" name="Google Shape;3985;p32"/>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32</a:t>
            </a:r>
            <a:endParaRPr/>
          </a:p>
        </p:txBody>
      </p:sp>
      <p:pic>
        <p:nvPicPr>
          <p:cNvPr descr="PU-H-Full-RGB.png" id="3986" name="Google Shape;3986;p32"/>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987" name="Google Shape;3987;p32"/>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988" name="Google Shape;3988;p32"/>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989" name="Google Shape;3989;p32"/>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Kyle Chard</a:t>
            </a:r>
            <a:endParaRPr/>
          </a:p>
        </p:txBody>
      </p:sp>
      <p:sp>
        <p:nvSpPr>
          <p:cNvPr id="3990" name="Google Shape;3990;p32"/>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1" name="Google Shape;3991;p32"/>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University of Chicago</a:t>
            </a:r>
            <a:endParaRPr/>
          </a:p>
        </p:txBody>
      </p:sp>
      <p:sp>
        <p:nvSpPr>
          <p:cNvPr id="3992" name="Google Shape;3992;p32"/>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3993" name="Google Shape;3993;p32"/>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Academy: A Federated Platform for Scientific AI Agents</a:t>
            </a:r>
            <a:endParaRPr/>
          </a:p>
        </p:txBody>
      </p:sp>
      <p:sp>
        <p:nvSpPr>
          <p:cNvPr id="3994" name="Google Shape;3994;p32"/>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Agenda for NSDF and Federal Agencies and Labs</a:t>
            </a:r>
            <a:endParaRPr/>
          </a:p>
        </p:txBody>
      </p:sp>
      <p:sp>
        <p:nvSpPr>
          <p:cNvPr id="3995" name="Google Shape;3995;p32"/>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4:10–4:50 PM CT</a:t>
            </a:r>
            <a:endParaRPr/>
          </a:p>
        </p:txBody>
      </p:sp>
      <p:sp>
        <p:nvSpPr>
          <p:cNvPr id="3996" name="Google Shape;3996;p32"/>
          <p:cNvSpPr txBox="1"/>
          <p:nvPr/>
        </p:nvSpPr>
        <p:spPr>
          <a:xfrm>
            <a:off x="4343400" y="3696930"/>
            <a:ext cx="6479100" cy="1396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Kyle Chard is a Research Associate Professor of Computer Science at the University of Chicago with a joint appointment at Argonne National Laboratory, specializing in high-performance, distributed, cloud, and data-intensive computing. He co-leads Globus Labs and leads NSF-funded research on parallel and distributed computing, scientific reproducibility and automation, research data management, and scalable, cost-aware computing infrastructure.</a:t>
            </a:r>
            <a:endParaRPr/>
          </a:p>
        </p:txBody>
      </p:sp>
      <p:pic>
        <p:nvPicPr>
          <p:cNvPr descr="Kyle Chard" id="3997" name="Google Shape;3997;p32"/>
          <p:cNvPicPr preferRelativeResize="0"/>
          <p:nvPr/>
        </p:nvPicPr>
        <p:blipFill rotWithShape="1">
          <a:blip r:embed="rId10">
            <a:alphaModFix/>
          </a:blip>
          <a:srcRect b="0" l="0" r="0" t="0"/>
          <a:stretch/>
        </p:blipFill>
        <p:spPr>
          <a:xfrm>
            <a:off x="669180" y="2267559"/>
            <a:ext cx="2538838" cy="2872216"/>
          </a:xfrm>
          <a:prstGeom prst="ellipse">
            <a:avLst/>
          </a:prstGeom>
          <a:noFill/>
          <a:ln>
            <a:noFill/>
          </a:ln>
        </p:spPr>
      </p:pic>
      <p:pic>
        <p:nvPicPr>
          <p:cNvPr descr="University of Chicago Logo, symbol, meaning, history, PNG, brand" id="3998" name="Google Shape;3998;p32"/>
          <p:cNvPicPr preferRelativeResize="0"/>
          <p:nvPr/>
        </p:nvPicPr>
        <p:blipFill rotWithShape="1">
          <a:blip r:embed="rId11">
            <a:alphaModFix/>
          </a:blip>
          <a:srcRect b="0" l="0" r="0" t="0"/>
          <a:stretch/>
        </p:blipFill>
        <p:spPr>
          <a:xfrm>
            <a:off x="9223361" y="212272"/>
            <a:ext cx="2031389" cy="137002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3" name="Shape 4003"/>
        <p:cNvGrpSpPr/>
        <p:nvPr/>
      </p:nvGrpSpPr>
      <p:grpSpPr>
        <a:xfrm>
          <a:off x="0" y="0"/>
          <a:ext cx="0" cy="0"/>
          <a:chOff x="0" y="0"/>
          <a:chExt cx="0" cy="0"/>
        </a:xfrm>
      </p:grpSpPr>
      <p:sp>
        <p:nvSpPr>
          <p:cNvPr id="4004" name="Google Shape;4004;p33"/>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5" name="Google Shape;4005;p33"/>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006" name="Google Shape;4006;p33"/>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07" name="Google Shape;4007;p33"/>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08" name="Google Shape;4008;p33"/>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09" name="Google Shape;4009;p33"/>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0" name="Google Shape;4010;p33"/>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1" name="Google Shape;4011;p33"/>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2" name="Google Shape;4012;p33"/>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3" name="Google Shape;4013;p33"/>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4" name="Google Shape;4014;p33"/>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5" name="Google Shape;4015;p33"/>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6" name="Google Shape;4016;p33"/>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7" name="Google Shape;4017;p33"/>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8" name="Google Shape;4018;p33"/>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19" name="Google Shape;4019;p33"/>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0" name="Google Shape;4020;p33"/>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1" name="Google Shape;4021;p33"/>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2" name="Google Shape;4022;p33"/>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3" name="Google Shape;4023;p33"/>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4" name="Google Shape;4024;p33"/>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5" name="Google Shape;4025;p33"/>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6" name="Google Shape;4026;p33"/>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7" name="Google Shape;4027;p33"/>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8" name="Google Shape;4028;p33"/>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29" name="Google Shape;4029;p33"/>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0" name="Google Shape;4030;p33"/>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1" name="Google Shape;4031;p33"/>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2" name="Google Shape;4032;p33"/>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3" name="Google Shape;4033;p33"/>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4" name="Google Shape;4034;p33"/>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5" name="Google Shape;4035;p33"/>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6" name="Google Shape;4036;p33"/>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7" name="Google Shape;4037;p33"/>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8" name="Google Shape;4038;p33"/>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39" name="Google Shape;4039;p33"/>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0" name="Google Shape;4040;p33"/>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1" name="Google Shape;4041;p33"/>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2" name="Google Shape;4042;p33"/>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3" name="Google Shape;4043;p33"/>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4" name="Google Shape;4044;p33"/>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5" name="Google Shape;4045;p33"/>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6" name="Google Shape;4046;p33"/>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7" name="Google Shape;4047;p33"/>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8" name="Google Shape;4048;p33"/>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49" name="Google Shape;4049;p33"/>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50" name="Google Shape;4050;p33"/>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51" name="Google Shape;4051;p33"/>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52" name="Google Shape;4052;p33"/>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053" name="Google Shape;4053;p33"/>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4054" name="Google Shape;4054;p33"/>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5" name="Google Shape;4055;p33"/>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6" name="Google Shape;4056;p33"/>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7" name="Google Shape;4057;p33"/>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8" name="Google Shape;4058;p33"/>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59" name="Google Shape;4059;p33"/>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0" name="Google Shape;4060;p33"/>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1" name="Google Shape;4061;p33"/>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2" name="Google Shape;4062;p33"/>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3" name="Google Shape;4063;p33"/>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4" name="Google Shape;4064;p33"/>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5" name="Google Shape;4065;p33"/>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6" name="Google Shape;4066;p33"/>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7" name="Google Shape;4067;p33"/>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8" name="Google Shape;4068;p33"/>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69" name="Google Shape;4069;p33"/>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0" name="Google Shape;4070;p33"/>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1" name="Google Shape;4071;p33"/>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2" name="Google Shape;4072;p33"/>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3" name="Google Shape;4073;p33"/>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4" name="Google Shape;4074;p33"/>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5" name="Google Shape;4075;p33"/>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6" name="Google Shape;4076;p33"/>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77" name="Google Shape;4077;p33"/>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4078" name="Google Shape;4078;p33"/>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4079" name="Google Shape;4079;p33"/>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80" name="Google Shape;4080;p33"/>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4081" name="Google Shape;4081;p33"/>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4082" name="Google Shape;4082;p33"/>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4083" name="Google Shape;4083;p33"/>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4084" name="Google Shape;4084;p33"/>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4085" name="Google Shape;4085;p33"/>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33</a:t>
            </a:r>
            <a:endParaRPr/>
          </a:p>
        </p:txBody>
      </p:sp>
      <p:pic>
        <p:nvPicPr>
          <p:cNvPr descr="PU-H-Full-RGB.png" id="4086" name="Google Shape;4086;p33"/>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4087" name="Google Shape;4087;p33"/>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4088" name="Google Shape;4088;p33"/>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4089" name="Google Shape;4089;p33"/>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Chris Fancher</a:t>
            </a:r>
            <a:endParaRPr/>
          </a:p>
        </p:txBody>
      </p:sp>
      <p:sp>
        <p:nvSpPr>
          <p:cNvPr id="4090" name="Google Shape;4090;p33"/>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1" name="Google Shape;4091;p33"/>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ORNL</a:t>
            </a:r>
            <a:endParaRPr/>
          </a:p>
        </p:txBody>
      </p:sp>
      <p:sp>
        <p:nvSpPr>
          <p:cNvPr id="4092" name="Google Shape;4092;p33"/>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4093" name="Google Shape;4093;p33"/>
          <p:cNvSpPr txBox="1"/>
          <p:nvPr/>
        </p:nvSpPr>
        <p:spPr>
          <a:xfrm>
            <a:off x="4343400" y="2121408"/>
            <a:ext cx="7178040" cy="441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TBA</a:t>
            </a:r>
            <a:endParaRPr/>
          </a:p>
        </p:txBody>
      </p:sp>
      <p:sp>
        <p:nvSpPr>
          <p:cNvPr id="4094" name="Google Shape;4094;p33"/>
          <p:cNvSpPr txBox="1"/>
          <p:nvPr/>
        </p:nvSpPr>
        <p:spPr>
          <a:xfrm>
            <a:off x="4343400" y="264566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Agenda for NSDF and Federal Agencies and Labs</a:t>
            </a:r>
            <a:endParaRPr/>
          </a:p>
        </p:txBody>
      </p:sp>
      <p:sp>
        <p:nvSpPr>
          <p:cNvPr id="4095" name="Google Shape;4095;p33"/>
          <p:cNvSpPr txBox="1"/>
          <p:nvPr/>
        </p:nvSpPr>
        <p:spPr>
          <a:xfrm>
            <a:off x="4343400" y="291998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4:10–4:50 PM CT</a:t>
            </a:r>
            <a:endParaRPr/>
          </a:p>
        </p:txBody>
      </p:sp>
      <p:sp>
        <p:nvSpPr>
          <p:cNvPr id="4096" name="Google Shape;4096;p33"/>
          <p:cNvSpPr txBox="1"/>
          <p:nvPr/>
        </p:nvSpPr>
        <p:spPr>
          <a:xfrm>
            <a:off x="4335460" y="3499530"/>
            <a:ext cx="6649506" cy="15936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Christopher Fancher is a Senior Research Staff Scientist and Advanced Manufacturing Diffraction Scientist at Oak Ridge National Laboratory, specializing in materials science, advanced characterization, and data science. His research uses X-ray and neutron scattering to understand structure–processing–property relationships in metal additive manufacturing, including how non-equilibrium thermal conditions influence material structure and performance.</a:t>
            </a:r>
            <a:endParaRPr/>
          </a:p>
        </p:txBody>
      </p:sp>
      <p:pic>
        <p:nvPicPr>
          <p:cNvPr descr="Portrait" id="4097" name="Google Shape;4097;p33"/>
          <p:cNvPicPr preferRelativeResize="0"/>
          <p:nvPr/>
        </p:nvPicPr>
        <p:blipFill rotWithShape="1">
          <a:blip r:embed="rId10">
            <a:alphaModFix/>
          </a:blip>
          <a:srcRect b="0" l="0" r="0" t="0"/>
          <a:stretch/>
        </p:blipFill>
        <p:spPr>
          <a:xfrm>
            <a:off x="626107" y="2066967"/>
            <a:ext cx="2620818" cy="3086100"/>
          </a:xfrm>
          <a:prstGeom prst="ellipse">
            <a:avLst/>
          </a:prstGeom>
          <a:noFill/>
          <a:ln>
            <a:noFill/>
          </a:ln>
        </p:spPr>
      </p:pic>
      <p:pic>
        <p:nvPicPr>
          <p:cNvPr descr="Oak Ridge National Laboratory Logo" id="4098" name="Google Shape;4098;p33"/>
          <p:cNvPicPr preferRelativeResize="0"/>
          <p:nvPr/>
        </p:nvPicPr>
        <p:blipFill rotWithShape="1">
          <a:blip r:embed="rId11">
            <a:alphaModFix/>
          </a:blip>
          <a:srcRect b="0" l="0" r="0" t="0"/>
          <a:stretch/>
        </p:blipFill>
        <p:spPr>
          <a:xfrm>
            <a:off x="9606355" y="298602"/>
            <a:ext cx="2270078" cy="116656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3" name="Shape 4103"/>
        <p:cNvGrpSpPr/>
        <p:nvPr/>
      </p:nvGrpSpPr>
      <p:grpSpPr>
        <a:xfrm>
          <a:off x="0" y="0"/>
          <a:ext cx="0" cy="0"/>
          <a:chOff x="0" y="0"/>
          <a:chExt cx="0" cy="0"/>
        </a:xfrm>
      </p:grpSpPr>
      <p:sp>
        <p:nvSpPr>
          <p:cNvPr id="4104" name="Google Shape;4104;p34"/>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5" name="Google Shape;4105;p34"/>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106" name="Google Shape;4106;p34"/>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07" name="Google Shape;4107;p34"/>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08" name="Google Shape;4108;p34"/>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09" name="Google Shape;4109;p34"/>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0" name="Google Shape;4110;p34"/>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1" name="Google Shape;4111;p34"/>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2" name="Google Shape;4112;p34"/>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3" name="Google Shape;4113;p34"/>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4" name="Google Shape;4114;p34"/>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5" name="Google Shape;4115;p34"/>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6" name="Google Shape;4116;p34"/>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7" name="Google Shape;4117;p34"/>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8" name="Google Shape;4118;p34"/>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19" name="Google Shape;4119;p34"/>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0" name="Google Shape;4120;p34"/>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1" name="Google Shape;4121;p34"/>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2" name="Google Shape;4122;p34"/>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3" name="Google Shape;4123;p34"/>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4" name="Google Shape;4124;p34"/>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5" name="Google Shape;4125;p34"/>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6" name="Google Shape;4126;p34"/>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7" name="Google Shape;4127;p34"/>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8" name="Google Shape;4128;p34"/>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29" name="Google Shape;4129;p34"/>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0" name="Google Shape;4130;p34"/>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1" name="Google Shape;4131;p34"/>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2" name="Google Shape;4132;p34"/>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3" name="Google Shape;4133;p34"/>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4" name="Google Shape;4134;p34"/>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5" name="Google Shape;4135;p34"/>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6" name="Google Shape;4136;p34"/>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7" name="Google Shape;4137;p34"/>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8" name="Google Shape;4138;p34"/>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39" name="Google Shape;4139;p34"/>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0" name="Google Shape;4140;p34"/>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1" name="Google Shape;4141;p34"/>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2" name="Google Shape;4142;p34"/>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3" name="Google Shape;4143;p34"/>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4" name="Google Shape;4144;p34"/>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5" name="Google Shape;4145;p34"/>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6" name="Google Shape;4146;p34"/>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7" name="Google Shape;4147;p34"/>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8" name="Google Shape;4148;p34"/>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49" name="Google Shape;4149;p34"/>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50" name="Google Shape;4150;p34"/>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51" name="Google Shape;4151;p34"/>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52" name="Google Shape;4152;p34"/>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153" name="Google Shape;4153;p34"/>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4154" name="Google Shape;4154;p34"/>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5" name="Google Shape;4155;p34"/>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6" name="Google Shape;4156;p34"/>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7" name="Google Shape;4157;p34"/>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8" name="Google Shape;4158;p34"/>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9" name="Google Shape;4159;p34"/>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0" name="Google Shape;4160;p34"/>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1" name="Google Shape;4161;p34"/>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2" name="Google Shape;4162;p34"/>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3" name="Google Shape;4163;p34"/>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4" name="Google Shape;4164;p34"/>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5" name="Google Shape;4165;p34"/>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6" name="Google Shape;4166;p34"/>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7" name="Google Shape;4167;p34"/>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8" name="Google Shape;4168;p34"/>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9" name="Google Shape;4169;p34"/>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0" name="Google Shape;4170;p34"/>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1" name="Google Shape;4171;p34"/>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2" name="Google Shape;4172;p34"/>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3" name="Google Shape;4173;p34"/>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4" name="Google Shape;4174;p34"/>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5" name="Google Shape;4175;p34"/>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6" name="Google Shape;4176;p34"/>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7" name="Google Shape;4177;p34"/>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4178" name="Google Shape;4178;p34"/>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4179" name="Google Shape;4179;p34"/>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0" name="Google Shape;4180;p34"/>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4181" name="Google Shape;4181;p34"/>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4182" name="Google Shape;4182;p34"/>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4183" name="Google Shape;4183;p34"/>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4184" name="Google Shape;4184;p34"/>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4185" name="Google Shape;4185;p34"/>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34</a:t>
            </a:r>
            <a:endParaRPr/>
          </a:p>
        </p:txBody>
      </p:sp>
      <p:pic>
        <p:nvPicPr>
          <p:cNvPr descr="PU-H-Full-RGB.png" id="4186" name="Google Shape;4186;p34"/>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4187" name="Google Shape;4187;p34"/>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4188" name="Google Shape;4188;p34"/>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4189" name="Google Shape;4189;p34"/>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Kristi Potter</a:t>
            </a:r>
            <a:endParaRPr/>
          </a:p>
        </p:txBody>
      </p:sp>
      <p:sp>
        <p:nvSpPr>
          <p:cNvPr id="4190" name="Google Shape;4190;p34"/>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1" name="Google Shape;4191;p34"/>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National Laboratory of the Rockies</a:t>
            </a:r>
            <a:endParaRPr/>
          </a:p>
        </p:txBody>
      </p:sp>
      <p:sp>
        <p:nvSpPr>
          <p:cNvPr id="4192" name="Google Shape;4192;p34"/>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4193" name="Google Shape;4193;p34"/>
          <p:cNvSpPr txBox="1"/>
          <p:nvPr/>
        </p:nvSpPr>
        <p:spPr>
          <a:xfrm>
            <a:off x="4343400" y="2121408"/>
            <a:ext cx="7178040" cy="441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Autonomous Science at NLR</a:t>
            </a:r>
            <a:endParaRPr/>
          </a:p>
        </p:txBody>
      </p:sp>
      <p:sp>
        <p:nvSpPr>
          <p:cNvPr id="4194" name="Google Shape;4194;p34"/>
          <p:cNvSpPr txBox="1"/>
          <p:nvPr/>
        </p:nvSpPr>
        <p:spPr>
          <a:xfrm>
            <a:off x="4343400" y="264566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Agenda for NSDF and Federal Agencies and Labs</a:t>
            </a:r>
            <a:endParaRPr/>
          </a:p>
        </p:txBody>
      </p:sp>
      <p:sp>
        <p:nvSpPr>
          <p:cNvPr id="4195" name="Google Shape;4195;p34"/>
          <p:cNvSpPr txBox="1"/>
          <p:nvPr/>
        </p:nvSpPr>
        <p:spPr>
          <a:xfrm>
            <a:off x="4343400" y="291998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4:10–4:50 PM CT</a:t>
            </a:r>
            <a:endParaRPr/>
          </a:p>
        </p:txBody>
      </p:sp>
      <p:sp>
        <p:nvSpPr>
          <p:cNvPr id="4196" name="Google Shape;4196;p34"/>
          <p:cNvSpPr txBox="1"/>
          <p:nvPr/>
        </p:nvSpPr>
        <p:spPr>
          <a:xfrm>
            <a:off x="4476996" y="3429000"/>
            <a:ext cx="5989618" cy="1676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Kristi Potter is Acting Director of Computational Science at the National Laboratory of the Rockies and a scientist specializing in data visualization, uncertainty visualization, and high-dimensional data analysis. Her research develops visualization methods that communicate uncertainty, error, confidence, and reliability in complex scientific data, with more than 15 years of experience spanning atmospheric science, materials modeling, geographic mapping, and other disciplines.</a:t>
            </a:r>
            <a:endParaRPr/>
          </a:p>
        </p:txBody>
      </p:sp>
      <p:pic>
        <p:nvPicPr>
          <p:cNvPr id="4197" name="Google Shape;4197;p34"/>
          <p:cNvPicPr preferRelativeResize="0"/>
          <p:nvPr/>
        </p:nvPicPr>
        <p:blipFill rotWithShape="1">
          <a:blip r:embed="rId10">
            <a:alphaModFix/>
          </a:blip>
          <a:srcRect b="0" l="0" r="0" t="0"/>
          <a:stretch/>
        </p:blipFill>
        <p:spPr>
          <a:xfrm>
            <a:off x="502919" y="2322136"/>
            <a:ext cx="2835023" cy="2701242"/>
          </a:xfrm>
          <a:prstGeom prst="ellipse">
            <a:avLst/>
          </a:prstGeom>
          <a:noFill/>
          <a:ln>
            <a:noFill/>
          </a:ln>
        </p:spPr>
      </p:pic>
      <p:pic>
        <p:nvPicPr>
          <p:cNvPr descr="National Laboratory of the Rockies Unveils New Logo | NLR" id="4198" name="Google Shape;4198;p34"/>
          <p:cNvPicPr preferRelativeResize="0"/>
          <p:nvPr/>
        </p:nvPicPr>
        <p:blipFill rotWithShape="1">
          <a:blip r:embed="rId11">
            <a:alphaModFix/>
          </a:blip>
          <a:srcRect b="0" l="0" r="0" t="0"/>
          <a:stretch/>
        </p:blipFill>
        <p:spPr>
          <a:xfrm>
            <a:off x="9673780" y="262849"/>
            <a:ext cx="1882014" cy="115639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3" name="Shape 4203"/>
        <p:cNvGrpSpPr/>
        <p:nvPr/>
      </p:nvGrpSpPr>
      <p:grpSpPr>
        <a:xfrm>
          <a:off x="0" y="0"/>
          <a:ext cx="0" cy="0"/>
          <a:chOff x="0" y="0"/>
          <a:chExt cx="0" cy="0"/>
        </a:xfrm>
      </p:grpSpPr>
      <p:sp>
        <p:nvSpPr>
          <p:cNvPr id="4204" name="Google Shape;4204;p35"/>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205" name="Google Shape;4205;p35"/>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06" name="Google Shape;4206;p35"/>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07" name="Google Shape;4207;p35"/>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08" name="Google Shape;4208;p35"/>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09" name="Google Shape;4209;p35"/>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0" name="Google Shape;4210;p35"/>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1" name="Google Shape;4211;p35"/>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2" name="Google Shape;4212;p35"/>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3" name="Google Shape;4213;p35"/>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4" name="Google Shape;4214;p35"/>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5" name="Google Shape;4215;p35"/>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6" name="Google Shape;4216;p35"/>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7" name="Google Shape;4217;p35"/>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8" name="Google Shape;4218;p35"/>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19" name="Google Shape;4219;p35"/>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0" name="Google Shape;4220;p35"/>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1" name="Google Shape;4221;p35"/>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2" name="Google Shape;4222;p35"/>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3" name="Google Shape;4223;p35"/>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4" name="Google Shape;4224;p35"/>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5" name="Google Shape;4225;p35"/>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6" name="Google Shape;4226;p35"/>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7" name="Google Shape;4227;p35"/>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8" name="Google Shape;4228;p35"/>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29" name="Google Shape;4229;p35"/>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0" name="Google Shape;4230;p35"/>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1" name="Google Shape;4231;p35"/>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2" name="Google Shape;4232;p35"/>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3" name="Google Shape;4233;p35"/>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4" name="Google Shape;4234;p35"/>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5" name="Google Shape;4235;p35"/>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6" name="Google Shape;4236;p35"/>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7" name="Google Shape;4237;p35"/>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8" name="Google Shape;4238;p35"/>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39" name="Google Shape;4239;p35"/>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0" name="Google Shape;4240;p35"/>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1" name="Google Shape;4241;p35"/>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2" name="Google Shape;4242;p35"/>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3" name="Google Shape;4243;p35"/>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4" name="Google Shape;4244;p35"/>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5" name="Google Shape;4245;p35"/>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6" name="Google Shape;4246;p35"/>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7" name="Google Shape;4247;p35"/>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8" name="Google Shape;4248;p35"/>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49" name="Google Shape;4249;p35"/>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50" name="Google Shape;4250;p35"/>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51" name="Google Shape;4251;p35"/>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252" name="Google Shape;4252;p35"/>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4253" name="Google Shape;4253;p35"/>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4" name="Google Shape;4254;p35"/>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5" name="Google Shape;4255;p35"/>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6" name="Google Shape;4256;p35"/>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7" name="Google Shape;4257;p35"/>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8" name="Google Shape;4258;p35"/>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9" name="Google Shape;4259;p35"/>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0" name="Google Shape;4260;p35"/>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1" name="Google Shape;4261;p35"/>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2" name="Google Shape;4262;p35"/>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3" name="Google Shape;4263;p35"/>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4" name="Google Shape;4264;p35"/>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5" name="Google Shape;4265;p35"/>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6" name="Google Shape;4266;p35"/>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7" name="Google Shape;4267;p35"/>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8" name="Google Shape;4268;p35"/>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9" name="Google Shape;4269;p35"/>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0" name="Google Shape;4270;p35"/>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1" name="Google Shape;4271;p35"/>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2" name="Google Shape;4272;p35"/>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3" name="Google Shape;4273;p35"/>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4" name="Google Shape;4274;p35"/>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5" name="Google Shape;4275;p35"/>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6" name="Google Shape;4276;p35"/>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4277" name="Google Shape;4277;p35"/>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4278" name="Google Shape;4278;p35"/>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9" name="Google Shape;4279;p35"/>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4280" name="Google Shape;4280;p35"/>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4281" name="Google Shape;4281;p35"/>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4282" name="Google Shape;4282;p35"/>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4283" name="Google Shape;4283;p35"/>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4284" name="Google Shape;4284;p35"/>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35</a:t>
            </a:r>
            <a:endParaRPr/>
          </a:p>
        </p:txBody>
      </p:sp>
      <p:pic>
        <p:nvPicPr>
          <p:cNvPr descr="PU-H-Full-RGB.png" id="4285" name="Google Shape;4285;p35"/>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4286" name="Google Shape;4286;p35"/>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4287" name="Google Shape;4287;p35"/>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4288" name="Google Shape;4288;p35"/>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Maria Chan</a:t>
            </a:r>
            <a:endParaRPr/>
          </a:p>
        </p:txBody>
      </p:sp>
      <p:sp>
        <p:nvSpPr>
          <p:cNvPr id="4289" name="Google Shape;4289;p35"/>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0" name="Google Shape;4290;p35"/>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Argonne National Laboratory</a:t>
            </a:r>
            <a:endParaRPr/>
          </a:p>
        </p:txBody>
      </p:sp>
      <p:sp>
        <p:nvSpPr>
          <p:cNvPr id="4291" name="Google Shape;4291;p35"/>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4292" name="Google Shape;4292;p35"/>
          <p:cNvSpPr txBox="1"/>
          <p:nvPr/>
        </p:nvSpPr>
        <p:spPr>
          <a:xfrm>
            <a:off x="4343400" y="2121408"/>
            <a:ext cx="7178040" cy="71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200">
                <a:solidFill>
                  <a:srgbClr val="082B4C"/>
                </a:solidFill>
                <a:latin typeface="Arial"/>
                <a:ea typeface="Arial"/>
                <a:cs typeface="Arial"/>
                <a:sym typeface="Arial"/>
              </a:rPr>
              <a:t>Integrating AI-Ready Computational and Experimental Data for Materials Science</a:t>
            </a:r>
            <a:endParaRPr/>
          </a:p>
        </p:txBody>
      </p:sp>
      <p:sp>
        <p:nvSpPr>
          <p:cNvPr id="4293" name="Google Shape;4293;p35"/>
          <p:cNvSpPr txBox="1"/>
          <p:nvPr/>
        </p:nvSpPr>
        <p:spPr>
          <a:xfrm>
            <a:off x="4343400" y="291998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Agenda for NSDF and Federal Agencies and Labs</a:t>
            </a:r>
            <a:endParaRPr/>
          </a:p>
        </p:txBody>
      </p:sp>
      <p:sp>
        <p:nvSpPr>
          <p:cNvPr id="4294" name="Google Shape;4294;p35"/>
          <p:cNvSpPr txBox="1"/>
          <p:nvPr/>
        </p:nvSpPr>
        <p:spPr>
          <a:xfrm>
            <a:off x="4343400" y="319430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4:10–4:50 PM CT</a:t>
            </a:r>
            <a:endParaRPr/>
          </a:p>
        </p:txBody>
      </p:sp>
      <p:sp>
        <p:nvSpPr>
          <p:cNvPr id="4295" name="Google Shape;4295;p35"/>
          <p:cNvSpPr txBox="1"/>
          <p:nvPr/>
        </p:nvSpPr>
        <p:spPr>
          <a:xfrm>
            <a:off x="4343400" y="3696930"/>
            <a:ext cx="6600418" cy="1396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Maria Chan is a Scientist at Argonne National Laboratory’s Center for Nanoscale Materials specializing in computational modeling and AI/ML for materials discovery and understanding. Her research integrates first-principles and atomistic modeling, machine learning, and experimental characterization to advance nanomaterials and renewable-energy technologies including batteries, photovoltaics, catalysts, and thermoelectrics.</a:t>
            </a:r>
            <a:endParaRPr/>
          </a:p>
        </p:txBody>
      </p:sp>
      <p:pic>
        <p:nvPicPr>
          <p:cNvPr descr="Maria K. Chan preview image" id="4296" name="Google Shape;4296;p35"/>
          <p:cNvPicPr preferRelativeResize="0"/>
          <p:nvPr/>
        </p:nvPicPr>
        <p:blipFill rotWithShape="1">
          <a:blip r:embed="rId10">
            <a:alphaModFix/>
          </a:blip>
          <a:srcRect b="0" l="0" r="0" t="0"/>
          <a:stretch/>
        </p:blipFill>
        <p:spPr>
          <a:xfrm>
            <a:off x="609838" y="2353698"/>
            <a:ext cx="2666759" cy="2736464"/>
          </a:xfrm>
          <a:prstGeom prst="ellipse">
            <a:avLst/>
          </a:prstGeom>
          <a:noFill/>
          <a:ln>
            <a:noFill/>
          </a:ln>
        </p:spPr>
      </p:pic>
      <p:pic>
        <p:nvPicPr>
          <p:cNvPr descr="File:Argonnelablogo.PNG - Wikimedia Commons" id="4297" name="Google Shape;4297;p35"/>
          <p:cNvPicPr preferRelativeResize="0"/>
          <p:nvPr/>
        </p:nvPicPr>
        <p:blipFill rotWithShape="1">
          <a:blip r:embed="rId11">
            <a:alphaModFix/>
          </a:blip>
          <a:srcRect b="0" l="0" r="0" t="0"/>
          <a:stretch/>
        </p:blipFill>
        <p:spPr>
          <a:xfrm>
            <a:off x="9307576" y="283222"/>
            <a:ext cx="2381503" cy="83255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2" name="Shape 4302"/>
        <p:cNvGrpSpPr/>
        <p:nvPr/>
      </p:nvGrpSpPr>
      <p:grpSpPr>
        <a:xfrm>
          <a:off x="0" y="0"/>
          <a:ext cx="0" cy="0"/>
          <a:chOff x="0" y="0"/>
          <a:chExt cx="0" cy="0"/>
        </a:xfrm>
      </p:grpSpPr>
      <p:sp>
        <p:nvSpPr>
          <p:cNvPr id="4303" name="Google Shape;4303;p36"/>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4" name="Google Shape;4304;p36"/>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305" name="Google Shape;4305;p36"/>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06" name="Google Shape;4306;p36"/>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07" name="Google Shape;4307;p36"/>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08" name="Google Shape;4308;p36"/>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09" name="Google Shape;4309;p36"/>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0" name="Google Shape;4310;p36"/>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1" name="Google Shape;4311;p36"/>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2" name="Google Shape;4312;p36"/>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3" name="Google Shape;4313;p36"/>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4" name="Google Shape;4314;p36"/>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5" name="Google Shape;4315;p36"/>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6" name="Google Shape;4316;p36"/>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7" name="Google Shape;4317;p36"/>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8" name="Google Shape;4318;p36"/>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19" name="Google Shape;4319;p36"/>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0" name="Google Shape;4320;p36"/>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1" name="Google Shape;4321;p36"/>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2" name="Google Shape;4322;p36"/>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3" name="Google Shape;4323;p36"/>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4" name="Google Shape;4324;p36"/>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5" name="Google Shape;4325;p36"/>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6" name="Google Shape;4326;p36"/>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7" name="Google Shape;4327;p36"/>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8" name="Google Shape;4328;p36"/>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29" name="Google Shape;4329;p36"/>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0" name="Google Shape;4330;p36"/>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1" name="Google Shape;4331;p36"/>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2" name="Google Shape;4332;p36"/>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3" name="Google Shape;4333;p36"/>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4" name="Google Shape;4334;p36"/>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5" name="Google Shape;4335;p36"/>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6" name="Google Shape;4336;p36"/>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7" name="Google Shape;4337;p36"/>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8" name="Google Shape;4338;p36"/>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39" name="Google Shape;4339;p36"/>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0" name="Google Shape;4340;p36"/>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1" name="Google Shape;4341;p36"/>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2" name="Google Shape;4342;p36"/>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3" name="Google Shape;4343;p36"/>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4" name="Google Shape;4344;p36"/>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5" name="Google Shape;4345;p36"/>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6" name="Google Shape;4346;p36"/>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7" name="Google Shape;4347;p36"/>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8" name="Google Shape;4348;p36"/>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49" name="Google Shape;4349;p36"/>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50" name="Google Shape;4350;p36"/>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51" name="Google Shape;4351;p36"/>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4352" name="Google Shape;4352;p36"/>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4353" name="Google Shape;4353;p36"/>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4" name="Google Shape;4354;p36"/>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5" name="Google Shape;4355;p36"/>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6" name="Google Shape;4356;p36"/>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7" name="Google Shape;4357;p36"/>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8" name="Google Shape;4358;p36"/>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9" name="Google Shape;4359;p36"/>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0" name="Google Shape;4360;p36"/>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1" name="Google Shape;4361;p36"/>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2" name="Google Shape;4362;p36"/>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3" name="Google Shape;4363;p36"/>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4" name="Google Shape;4364;p36"/>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5" name="Google Shape;4365;p36"/>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6" name="Google Shape;4366;p36"/>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7" name="Google Shape;4367;p36"/>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8" name="Google Shape;4368;p36"/>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9" name="Google Shape;4369;p36"/>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0" name="Google Shape;4370;p36"/>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1" name="Google Shape;4371;p36"/>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2" name="Google Shape;4372;p36"/>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3" name="Google Shape;4373;p36"/>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4" name="Google Shape;4374;p36"/>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5" name="Google Shape;4375;p36"/>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6" name="Google Shape;4376;p36"/>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4377" name="Google Shape;4377;p36"/>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4378" name="Google Shape;4378;p36"/>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9" name="Google Shape;4379;p36"/>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4380" name="Google Shape;4380;p36"/>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4381" name="Google Shape;4381;p36"/>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4382" name="Google Shape;4382;p36"/>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4383" name="Google Shape;4383;p36"/>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4384" name="Google Shape;4384;p36"/>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36</a:t>
            </a:r>
            <a:endParaRPr/>
          </a:p>
        </p:txBody>
      </p:sp>
      <p:pic>
        <p:nvPicPr>
          <p:cNvPr descr="PU-H-Full-RGB.png" id="4385" name="Google Shape;4385;p36"/>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4386" name="Google Shape;4386;p36"/>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4387" name="Google Shape;4387;p36"/>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4388" name="Google Shape;4388;p36"/>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William D. Ratcliff</a:t>
            </a:r>
            <a:endParaRPr/>
          </a:p>
        </p:txBody>
      </p:sp>
      <p:sp>
        <p:nvSpPr>
          <p:cNvPr id="4389" name="Google Shape;4389;p36"/>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0" name="Google Shape;4390;p36"/>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a:solidFill>
                  <a:srgbClr val="1D6F98"/>
                </a:solidFill>
                <a:latin typeface="Arial"/>
                <a:ea typeface="Arial"/>
                <a:cs typeface="Arial"/>
                <a:sym typeface="Arial"/>
              </a:rPr>
              <a:t>NIST Center for Neutron Research</a:t>
            </a:r>
            <a:endParaRPr/>
          </a:p>
        </p:txBody>
      </p:sp>
      <p:sp>
        <p:nvSpPr>
          <p:cNvPr id="4391" name="Google Shape;4391;p36"/>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4392" name="Google Shape;4392;p36"/>
          <p:cNvSpPr txBox="1"/>
          <p:nvPr/>
        </p:nvSpPr>
        <p:spPr>
          <a:xfrm>
            <a:off x="4343400" y="2121408"/>
            <a:ext cx="7178040" cy="91439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00">
                <a:solidFill>
                  <a:srgbClr val="082B4C"/>
                </a:solidFill>
                <a:latin typeface="Arial"/>
                <a:ea typeface="Arial"/>
                <a:cs typeface="Arial"/>
                <a:sym typeface="Arial"/>
              </a:rPr>
              <a:t>AI Readiness and the User Facilities: Autonomy, Metadata, and Agentic AI at the NCNR User Facility</a:t>
            </a:r>
            <a:endParaRPr/>
          </a:p>
        </p:txBody>
      </p:sp>
      <p:sp>
        <p:nvSpPr>
          <p:cNvPr id="4393" name="Google Shape;4393;p36"/>
          <p:cNvSpPr txBox="1"/>
          <p:nvPr/>
        </p:nvSpPr>
        <p:spPr>
          <a:xfrm>
            <a:off x="4343400" y="3118103"/>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Agenda for NSDF and Federal Agencies and Labs</a:t>
            </a:r>
            <a:endParaRPr/>
          </a:p>
        </p:txBody>
      </p:sp>
      <p:sp>
        <p:nvSpPr>
          <p:cNvPr id="4394" name="Google Shape;4394;p36"/>
          <p:cNvSpPr txBox="1"/>
          <p:nvPr/>
        </p:nvSpPr>
        <p:spPr>
          <a:xfrm>
            <a:off x="4343400" y="3392423"/>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4:10–4:50 PM CT</a:t>
            </a:r>
            <a:endParaRPr/>
          </a:p>
        </p:txBody>
      </p:sp>
      <p:sp>
        <p:nvSpPr>
          <p:cNvPr id="4395" name="Google Shape;4395;p36"/>
          <p:cNvSpPr txBox="1"/>
          <p:nvPr/>
        </p:nvSpPr>
        <p:spPr>
          <a:xfrm>
            <a:off x="4343400" y="3955260"/>
            <a:ext cx="6600418" cy="11379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William D. Ratcliff is a physicist at the NIST Center for Neutron Research specializing in condensed matter physics, neutron scattering, quantum materials, and artificial intelligence. An American Physical Society Fellow and two-time NIST Bronze Medal recipient, his current research focuses on topological and multiferroic materials and applying AI to neutron-scattering experiments and analysis.</a:t>
            </a:r>
            <a:endParaRPr/>
          </a:p>
        </p:txBody>
      </p:sp>
      <p:sp>
        <p:nvSpPr>
          <p:cNvPr id="4396" name="Google Shape;4396;p36"/>
          <p:cNvSpPr txBox="1"/>
          <p:nvPr/>
        </p:nvSpPr>
        <p:spPr>
          <a:xfrm>
            <a:off x="8092440" y="4224528"/>
            <a:ext cx="342900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descr="CHIPS FOR AMERICA | NIST" id="4397" name="Google Shape;4397;p36"/>
          <p:cNvPicPr preferRelativeResize="0"/>
          <p:nvPr/>
        </p:nvPicPr>
        <p:blipFill rotWithShape="1">
          <a:blip r:embed="rId10">
            <a:alphaModFix/>
          </a:blip>
          <a:srcRect b="0" l="0" r="0" t="0"/>
          <a:stretch/>
        </p:blipFill>
        <p:spPr>
          <a:xfrm>
            <a:off x="9373432" y="336071"/>
            <a:ext cx="1676400" cy="939800"/>
          </a:xfrm>
          <a:prstGeom prst="rect">
            <a:avLst/>
          </a:prstGeom>
          <a:noFill/>
          <a:ln>
            <a:noFill/>
          </a:ln>
        </p:spPr>
      </p:pic>
      <p:pic>
        <p:nvPicPr>
          <p:cNvPr descr="Picture of Dr. William Ratcliff" id="4398" name="Google Shape;4398;p36"/>
          <p:cNvPicPr preferRelativeResize="0"/>
          <p:nvPr/>
        </p:nvPicPr>
        <p:blipFill rotWithShape="1">
          <a:blip r:embed="rId11">
            <a:alphaModFix/>
          </a:blip>
          <a:srcRect b="0" l="0" r="0" t="0"/>
          <a:stretch/>
        </p:blipFill>
        <p:spPr>
          <a:xfrm>
            <a:off x="606843" y="2282686"/>
            <a:ext cx="2681229" cy="2871779"/>
          </a:xfrm>
          <a:prstGeom prst="ellipse">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6" name="Shape 3206"/>
        <p:cNvGrpSpPr/>
        <p:nvPr/>
      </p:nvGrpSpPr>
      <p:grpSpPr>
        <a:xfrm>
          <a:off x="0" y="0"/>
          <a:ext cx="0" cy="0"/>
          <a:chOff x="0" y="0"/>
          <a:chExt cx="0" cy="0"/>
        </a:xfrm>
      </p:grpSpPr>
      <p:sp>
        <p:nvSpPr>
          <p:cNvPr id="3207" name="Google Shape;3207;p25"/>
          <p:cNvSpPr/>
          <p:nvPr/>
        </p:nvSpPr>
        <p:spPr>
          <a:xfrm>
            <a:off x="305" y="0"/>
            <a:ext cx="12191695" cy="6858000"/>
          </a:xfrm>
          <a:prstGeom prst="rect">
            <a:avLst/>
          </a:prstGeom>
          <a:solidFill>
            <a:srgbClr val="F5FAFC"/>
          </a:solidFill>
          <a:ln cap="flat" cmpd="sng" w="9525">
            <a:solidFill>
              <a:srgbClr val="F5FAF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8" name="Google Shape;3208;p25"/>
          <p:cNvSpPr/>
          <p:nvPr/>
        </p:nvSpPr>
        <p:spPr>
          <a:xfrm>
            <a:off x="0" y="0"/>
            <a:ext cx="3886200" cy="6858000"/>
          </a:xfrm>
          <a:prstGeom prst="rect">
            <a:avLst/>
          </a:prstGeom>
          <a:solidFill>
            <a:srgbClr val="082B4C"/>
          </a:solidFill>
          <a:ln cap="flat" cmpd="sng" w="9525">
            <a:solidFill>
              <a:srgbClr val="082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209" name="Google Shape;3209;p25"/>
          <p:cNvCxnSpPr/>
          <p:nvPr/>
        </p:nvCxnSpPr>
        <p:spPr>
          <a:xfrm rot="10800000">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0" name="Google Shape;3210;p25"/>
          <p:cNvCxnSpPr/>
          <p:nvPr/>
        </p:nvCxnSpPr>
        <p:spPr>
          <a:xfrm rot="10800000">
            <a:off x="2068295" y="3738078"/>
            <a:ext cx="267755" cy="101295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1" name="Google Shape;3211;p25"/>
          <p:cNvCxnSpPr/>
          <p:nvPr/>
        </p:nvCxnSpPr>
        <p:spPr>
          <a:xfrm rot="10800000">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2" name="Google Shape;3212;p25"/>
          <p:cNvCxnSpPr/>
          <p:nvPr/>
        </p:nvCxnSpPr>
        <p:spPr>
          <a:xfrm flipH="1">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3" name="Google Shape;3213;p25"/>
          <p:cNvCxnSpPr/>
          <p:nvPr/>
        </p:nvCxnSpPr>
        <p:spPr>
          <a:xfrm>
            <a:off x="2731884" y="5840588"/>
            <a:ext cx="187078" cy="12145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4" name="Google Shape;3214;p25"/>
          <p:cNvCxnSpPr/>
          <p:nvPr/>
        </p:nvCxnSpPr>
        <p:spPr>
          <a:xfrm flipH="1">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5" name="Google Shape;3215;p25"/>
          <p:cNvCxnSpPr/>
          <p:nvPr/>
        </p:nvCxnSpPr>
        <p:spPr>
          <a:xfrm>
            <a:off x="326732" y="3084371"/>
            <a:ext cx="921450" cy="82974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6" name="Google Shape;3216;p25"/>
          <p:cNvCxnSpPr/>
          <p:nvPr/>
        </p:nvCxnSpPr>
        <p:spPr>
          <a:xfrm rot="10800000">
            <a:off x="272968" y="1582293"/>
            <a:ext cx="53764" cy="15020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7" name="Google Shape;3217;p25"/>
          <p:cNvCxnSpPr/>
          <p:nvPr/>
        </p:nvCxnSpPr>
        <p:spPr>
          <a:xfrm flipH="1">
            <a:off x="2336050" y="4190907"/>
            <a:ext cx="1084189" cy="56012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8" name="Google Shape;3218;p25"/>
          <p:cNvCxnSpPr/>
          <p:nvPr/>
        </p:nvCxnSpPr>
        <p:spPr>
          <a:xfrm>
            <a:off x="3420239" y="4190907"/>
            <a:ext cx="132166" cy="134842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19" name="Google Shape;3219;p25"/>
          <p:cNvCxnSpPr/>
          <p:nvPr/>
        </p:nvCxnSpPr>
        <p:spPr>
          <a:xfrm flipH="1">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0" name="Google Shape;3220;p25"/>
          <p:cNvCxnSpPr/>
          <p:nvPr/>
        </p:nvCxnSpPr>
        <p:spPr>
          <a:xfrm flipH="1">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1" name="Google Shape;3221;p25"/>
          <p:cNvCxnSpPr/>
          <p:nvPr/>
        </p:nvCxnSpPr>
        <p:spPr>
          <a:xfrm rot="10800000">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2" name="Google Shape;3222;p25"/>
          <p:cNvCxnSpPr/>
          <p:nvPr/>
        </p:nvCxnSpPr>
        <p:spPr>
          <a:xfrm flipH="1" rot="10800000">
            <a:off x="1815591" y="1038954"/>
            <a:ext cx="502023" cy="7234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3" name="Google Shape;3223;p25"/>
          <p:cNvCxnSpPr/>
          <p:nvPr/>
        </p:nvCxnSpPr>
        <p:spPr>
          <a:xfrm flipH="1">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4" name="Google Shape;3224;p25"/>
          <p:cNvCxnSpPr/>
          <p:nvPr/>
        </p:nvCxnSpPr>
        <p:spPr>
          <a:xfrm flipH="1">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5" name="Google Shape;3225;p25"/>
          <p:cNvCxnSpPr/>
          <p:nvPr/>
        </p:nvCxnSpPr>
        <p:spPr>
          <a:xfrm flipH="1" rot="10800000">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6" name="Google Shape;3226;p25"/>
          <p:cNvCxnSpPr/>
          <p:nvPr/>
        </p:nvCxnSpPr>
        <p:spPr>
          <a:xfrm flipH="1" rot="10800000">
            <a:off x="272968" y="667440"/>
            <a:ext cx="448582" cy="9148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7" name="Google Shape;3227;p25"/>
          <p:cNvCxnSpPr/>
          <p:nvPr/>
        </p:nvCxnSpPr>
        <p:spPr>
          <a:xfrm>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8" name="Google Shape;3228;p25"/>
          <p:cNvCxnSpPr/>
          <p:nvPr/>
        </p:nvCxnSpPr>
        <p:spPr>
          <a:xfrm flipH="1">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29" name="Google Shape;3229;p25"/>
          <p:cNvCxnSpPr/>
          <p:nvPr/>
        </p:nvCxnSpPr>
        <p:spPr>
          <a:xfrm flipH="1" rot="10800000">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0" name="Google Shape;3230;p25"/>
          <p:cNvCxnSpPr/>
          <p:nvPr/>
        </p:nvCxnSpPr>
        <p:spPr>
          <a:xfrm flipH="1" rot="10800000">
            <a:off x="2819263" y="957522"/>
            <a:ext cx="457335" cy="28001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1" name="Google Shape;3231;p25"/>
          <p:cNvCxnSpPr/>
          <p:nvPr/>
        </p:nvCxnSpPr>
        <p:spPr>
          <a:xfrm flipH="1">
            <a:off x="2819263" y="1111786"/>
            <a:ext cx="106308" cy="12575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2" name="Google Shape;3232;p25"/>
          <p:cNvCxnSpPr/>
          <p:nvPr/>
        </p:nvCxnSpPr>
        <p:spPr>
          <a:xfrm flipH="1" rot="10800000">
            <a:off x="2925571" y="957522"/>
            <a:ext cx="351027" cy="15426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3" name="Google Shape;3233;p25"/>
          <p:cNvCxnSpPr/>
          <p:nvPr/>
        </p:nvCxnSpPr>
        <p:spPr>
          <a:xfrm>
            <a:off x="2317614" y="1038954"/>
            <a:ext cx="501649" cy="19858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4" name="Google Shape;3234;p25"/>
          <p:cNvCxnSpPr/>
          <p:nvPr/>
        </p:nvCxnSpPr>
        <p:spPr>
          <a:xfrm>
            <a:off x="2317614" y="1038954"/>
            <a:ext cx="607957" cy="7283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5" name="Google Shape;3235;p25"/>
          <p:cNvCxnSpPr/>
          <p:nvPr/>
        </p:nvCxnSpPr>
        <p:spPr>
          <a:xfrm>
            <a:off x="234604" y="5533282"/>
            <a:ext cx="686822" cy="41986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6" name="Google Shape;3236;p25"/>
          <p:cNvCxnSpPr/>
          <p:nvPr/>
        </p:nvCxnSpPr>
        <p:spPr>
          <a:xfrm>
            <a:off x="234604" y="5533282"/>
            <a:ext cx="939563" cy="27121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7" name="Google Shape;3237;p25"/>
          <p:cNvCxnSpPr/>
          <p:nvPr/>
        </p:nvCxnSpPr>
        <p:spPr>
          <a:xfrm flipH="1" rot="10800000">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8" name="Google Shape;3238;p25"/>
          <p:cNvCxnSpPr/>
          <p:nvPr/>
        </p:nvCxnSpPr>
        <p:spPr>
          <a:xfrm flipH="1">
            <a:off x="272968" y="1574757"/>
            <a:ext cx="664281" cy="75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39" name="Google Shape;3239;p25"/>
          <p:cNvCxnSpPr/>
          <p:nvPr/>
        </p:nvCxnSpPr>
        <p:spPr>
          <a:xfrm flipH="1">
            <a:off x="2918962" y="5539335"/>
            <a:ext cx="633443" cy="42271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0" name="Google Shape;3240;p25"/>
          <p:cNvCxnSpPr/>
          <p:nvPr/>
        </p:nvCxnSpPr>
        <p:spPr>
          <a:xfrm flipH="1">
            <a:off x="2731884" y="5539335"/>
            <a:ext cx="820521" cy="301253"/>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1" name="Google Shape;3241;p25"/>
          <p:cNvCxnSpPr/>
          <p:nvPr/>
        </p:nvCxnSpPr>
        <p:spPr>
          <a:xfrm rot="10800000">
            <a:off x="1174167" y="5804500"/>
            <a:ext cx="33233" cy="272378"/>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2" name="Google Shape;3242;p25"/>
          <p:cNvCxnSpPr/>
          <p:nvPr/>
        </p:nvCxnSpPr>
        <p:spPr>
          <a:xfrm rot="10800000">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3" name="Google Shape;3243;p25"/>
          <p:cNvCxnSpPr/>
          <p:nvPr/>
        </p:nvCxnSpPr>
        <p:spPr>
          <a:xfrm>
            <a:off x="2052943" y="4365054"/>
            <a:ext cx="283107" cy="385980"/>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4" name="Google Shape;3244;p25"/>
          <p:cNvCxnSpPr/>
          <p:nvPr/>
        </p:nvCxnSpPr>
        <p:spPr>
          <a:xfrm flipH="1" rot="10800000">
            <a:off x="2052943" y="3738078"/>
            <a:ext cx="15352" cy="62697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5" name="Google Shape;3245;p25"/>
          <p:cNvCxnSpPr/>
          <p:nvPr/>
        </p:nvCxnSpPr>
        <p:spPr>
          <a:xfrm flipH="1" rot="10800000">
            <a:off x="921426" y="5804500"/>
            <a:ext cx="252741" cy="14864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6" name="Google Shape;3246;p25"/>
          <p:cNvCxnSpPr/>
          <p:nvPr/>
        </p:nvCxnSpPr>
        <p:spPr>
          <a:xfrm>
            <a:off x="921426" y="5953147"/>
            <a:ext cx="285974" cy="1237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7" name="Google Shape;3247;p25"/>
          <p:cNvCxnSpPr/>
          <p:nvPr/>
        </p:nvCxnSpPr>
        <p:spPr>
          <a:xfrm flipH="1" rot="10800000">
            <a:off x="2565235" y="5840588"/>
            <a:ext cx="166649" cy="2669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8" name="Google Shape;3248;p25"/>
          <p:cNvCxnSpPr/>
          <p:nvPr/>
        </p:nvCxnSpPr>
        <p:spPr>
          <a:xfrm flipH="1" rot="10800000">
            <a:off x="2565235" y="5962045"/>
            <a:ext cx="353727" cy="145529"/>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49" name="Google Shape;3249;p25"/>
          <p:cNvCxnSpPr/>
          <p:nvPr/>
        </p:nvCxnSpPr>
        <p:spPr>
          <a:xfrm rot="10800000">
            <a:off x="2819263" y="1237537"/>
            <a:ext cx="433115" cy="83998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0" name="Google Shape;3250;p25"/>
          <p:cNvCxnSpPr/>
          <p:nvPr/>
        </p:nvCxnSpPr>
        <p:spPr>
          <a:xfrm rot="10800000">
            <a:off x="2925571" y="1111786"/>
            <a:ext cx="326807" cy="96573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1" name="Google Shape;3251;p25"/>
          <p:cNvCxnSpPr/>
          <p:nvPr/>
        </p:nvCxnSpPr>
        <p:spPr>
          <a:xfrm flipH="1">
            <a:off x="937249" y="1275871"/>
            <a:ext cx="513357" cy="298886"/>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2" name="Google Shape;3252;p25"/>
          <p:cNvCxnSpPr/>
          <p:nvPr/>
        </p:nvCxnSpPr>
        <p:spPr>
          <a:xfrm>
            <a:off x="1450606" y="1275871"/>
            <a:ext cx="364985" cy="486525"/>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3" name="Google Shape;3253;p25"/>
          <p:cNvCxnSpPr/>
          <p:nvPr/>
        </p:nvCxnSpPr>
        <p:spPr>
          <a:xfrm>
            <a:off x="721550" y="667440"/>
            <a:ext cx="215699" cy="907317"/>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4" name="Google Shape;3254;p25"/>
          <p:cNvCxnSpPr/>
          <p:nvPr/>
        </p:nvCxnSpPr>
        <p:spPr>
          <a:xfrm>
            <a:off x="721550" y="667440"/>
            <a:ext cx="729056" cy="608431"/>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5" name="Google Shape;3255;p25"/>
          <p:cNvCxnSpPr/>
          <p:nvPr/>
        </p:nvCxnSpPr>
        <p:spPr>
          <a:xfrm flipH="1" rot="10800000">
            <a:off x="1248182" y="3738078"/>
            <a:ext cx="820113" cy="176034"/>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cxnSp>
        <p:nvCxnSpPr>
          <p:cNvPr id="3256" name="Google Shape;3256;p25"/>
          <p:cNvCxnSpPr/>
          <p:nvPr/>
        </p:nvCxnSpPr>
        <p:spPr>
          <a:xfrm>
            <a:off x="1248182" y="3914112"/>
            <a:ext cx="804761" cy="450942"/>
          </a:xfrm>
          <a:prstGeom prst="straightConnector1">
            <a:avLst/>
          </a:prstGeom>
          <a:noFill/>
          <a:ln cap="flat" cmpd="sng" w="12700">
            <a:solidFill>
              <a:srgbClr val="8CC7E8"/>
            </a:solidFill>
            <a:prstDash val="solid"/>
            <a:round/>
            <a:headEnd len="sm" w="sm" type="none"/>
            <a:tailEnd len="sm" w="sm" type="none"/>
          </a:ln>
          <a:effectLst>
            <a:outerShdw blurRad="40000" rotWithShape="0" dir="5400000" dist="20000">
              <a:srgbClr val="000000">
                <a:alpha val="38039"/>
              </a:srgbClr>
            </a:outerShdw>
          </a:effectLst>
        </p:spPr>
      </p:cxnSp>
      <p:sp>
        <p:nvSpPr>
          <p:cNvPr id="3257" name="Google Shape;3257;p25"/>
          <p:cNvSpPr/>
          <p:nvPr/>
        </p:nvSpPr>
        <p:spPr>
          <a:xfrm>
            <a:off x="2267470" y="4682454"/>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8" name="Google Shape;3258;p25"/>
          <p:cNvSpPr/>
          <p:nvPr/>
        </p:nvSpPr>
        <p:spPr>
          <a:xfrm>
            <a:off x="2877814" y="5920897"/>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9" name="Google Shape;3259;p25"/>
          <p:cNvSpPr/>
          <p:nvPr/>
        </p:nvSpPr>
        <p:spPr>
          <a:xfrm>
            <a:off x="2690736" y="579944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0" name="Google Shape;3260;p25"/>
          <p:cNvSpPr/>
          <p:nvPr/>
        </p:nvSpPr>
        <p:spPr>
          <a:xfrm>
            <a:off x="285584" y="30432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1" name="Google Shape;3261;p25"/>
          <p:cNvSpPr/>
          <p:nvPr/>
        </p:nvSpPr>
        <p:spPr>
          <a:xfrm>
            <a:off x="3379091" y="4149759"/>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2" name="Google Shape;3262;p25"/>
          <p:cNvSpPr/>
          <p:nvPr/>
        </p:nvSpPr>
        <p:spPr>
          <a:xfrm>
            <a:off x="3208018" y="888942"/>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3" name="Google Shape;3263;p25"/>
          <p:cNvSpPr/>
          <p:nvPr/>
        </p:nvSpPr>
        <p:spPr>
          <a:xfrm>
            <a:off x="1774443" y="172124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4" name="Google Shape;3264;p25"/>
          <p:cNvSpPr/>
          <p:nvPr/>
        </p:nvSpPr>
        <p:spPr>
          <a:xfrm>
            <a:off x="2027147" y="3696930"/>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5" name="Google Shape;3265;p25"/>
          <p:cNvSpPr/>
          <p:nvPr/>
        </p:nvSpPr>
        <p:spPr>
          <a:xfrm>
            <a:off x="231820" y="1541145"/>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6" name="Google Shape;3266;p25"/>
          <p:cNvSpPr/>
          <p:nvPr/>
        </p:nvSpPr>
        <p:spPr>
          <a:xfrm>
            <a:off x="1133019" y="576335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7" name="Google Shape;3267;p25"/>
          <p:cNvSpPr/>
          <p:nvPr/>
        </p:nvSpPr>
        <p:spPr>
          <a:xfrm>
            <a:off x="2750683" y="1168957"/>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8" name="Google Shape;3268;p25"/>
          <p:cNvSpPr/>
          <p:nvPr/>
        </p:nvSpPr>
        <p:spPr>
          <a:xfrm>
            <a:off x="2884423" y="1070638"/>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9" name="Google Shape;3269;p25"/>
          <p:cNvSpPr/>
          <p:nvPr/>
        </p:nvSpPr>
        <p:spPr>
          <a:xfrm>
            <a:off x="2276466" y="997806"/>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0" name="Google Shape;3270;p25"/>
          <p:cNvSpPr/>
          <p:nvPr/>
        </p:nvSpPr>
        <p:spPr>
          <a:xfrm>
            <a:off x="193456" y="549213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1" name="Google Shape;3271;p25"/>
          <p:cNvSpPr/>
          <p:nvPr/>
        </p:nvSpPr>
        <p:spPr>
          <a:xfrm>
            <a:off x="896101" y="153360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2" name="Google Shape;3272;p25"/>
          <p:cNvSpPr/>
          <p:nvPr/>
        </p:nvSpPr>
        <p:spPr>
          <a:xfrm>
            <a:off x="3483825" y="5470755"/>
            <a:ext cx="137160" cy="137160"/>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3" name="Google Shape;3273;p25"/>
          <p:cNvSpPr/>
          <p:nvPr/>
        </p:nvSpPr>
        <p:spPr>
          <a:xfrm>
            <a:off x="1166252" y="6035730"/>
            <a:ext cx="82296" cy="82296"/>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4" name="Google Shape;3274;p25"/>
          <p:cNvSpPr/>
          <p:nvPr/>
        </p:nvSpPr>
        <p:spPr>
          <a:xfrm>
            <a:off x="2011795" y="432390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5" name="Google Shape;3275;p25"/>
          <p:cNvSpPr/>
          <p:nvPr/>
        </p:nvSpPr>
        <p:spPr>
          <a:xfrm>
            <a:off x="880278" y="5911999"/>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6" name="Google Shape;3276;p25"/>
          <p:cNvSpPr/>
          <p:nvPr/>
        </p:nvSpPr>
        <p:spPr>
          <a:xfrm>
            <a:off x="2524087" y="6066426"/>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7" name="Google Shape;3277;p25"/>
          <p:cNvSpPr/>
          <p:nvPr/>
        </p:nvSpPr>
        <p:spPr>
          <a:xfrm>
            <a:off x="3183798" y="2008942"/>
            <a:ext cx="137160" cy="137160"/>
          </a:xfrm>
          <a:prstGeom prst="ellipse">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8" name="Google Shape;3278;p25"/>
          <p:cNvSpPr/>
          <p:nvPr/>
        </p:nvSpPr>
        <p:spPr>
          <a:xfrm>
            <a:off x="1409458" y="1234723"/>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9" name="Google Shape;3279;p25"/>
          <p:cNvSpPr/>
          <p:nvPr/>
        </p:nvSpPr>
        <p:spPr>
          <a:xfrm>
            <a:off x="680402" y="626292"/>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0" name="Google Shape;3280;p25"/>
          <p:cNvSpPr/>
          <p:nvPr/>
        </p:nvSpPr>
        <p:spPr>
          <a:xfrm>
            <a:off x="1207034" y="3872964"/>
            <a:ext cx="82296" cy="82296"/>
          </a:xfrm>
          <a:prstGeom prst="ellipse">
            <a:avLst/>
          </a:prstGeom>
          <a:solidFill>
            <a:srgbClr val="2BB9D6"/>
          </a:solidFill>
          <a:ln cap="flat" cmpd="sng" w="9525">
            <a:solidFill>
              <a:srgbClr val="2BB9D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00_logo_nsdf(1).png" id="3281" name="Google Shape;3281;p25"/>
          <p:cNvPicPr preferRelativeResize="0"/>
          <p:nvPr/>
        </p:nvPicPr>
        <p:blipFill rotWithShape="1">
          <a:blip r:embed="rId3">
            <a:alphaModFix/>
          </a:blip>
          <a:srcRect b="0" l="0" r="0" t="0"/>
          <a:stretch/>
        </p:blipFill>
        <p:spPr>
          <a:xfrm>
            <a:off x="502920" y="502920"/>
            <a:ext cx="1600200" cy="836468"/>
          </a:xfrm>
          <a:prstGeom prst="rect">
            <a:avLst/>
          </a:prstGeom>
          <a:noFill/>
          <a:ln>
            <a:noFill/>
          </a:ln>
        </p:spPr>
      </p:pic>
      <p:sp>
        <p:nvSpPr>
          <p:cNvPr id="3282" name="Google Shape;3282;p25"/>
          <p:cNvSpPr/>
          <p:nvPr/>
        </p:nvSpPr>
        <p:spPr>
          <a:xfrm>
            <a:off x="4166311" y="5154465"/>
            <a:ext cx="2218701" cy="48600"/>
          </a:xfrm>
          <a:prstGeom prst="rect">
            <a:avLst/>
          </a:prstGeom>
          <a:solidFill>
            <a:srgbClr val="D4AF37"/>
          </a:solidFill>
          <a:ln cap="flat" cmpd="sng" w="9525">
            <a:solidFill>
              <a:srgbClr val="D4AF3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3" name="Google Shape;3283;p25"/>
          <p:cNvSpPr txBox="1"/>
          <p:nvPr/>
        </p:nvSpPr>
        <p:spPr>
          <a:xfrm>
            <a:off x="4193149" y="5402508"/>
            <a:ext cx="2033955" cy="24622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rgbClr val="5F7385"/>
                </a:solidFill>
                <a:latin typeface="Calibri"/>
                <a:ea typeface="Calibri"/>
                <a:cs typeface="Calibri"/>
                <a:sym typeface="Calibri"/>
              </a:rPr>
              <a:t>PARTNER INSTITUTIONS</a:t>
            </a:r>
            <a:endParaRPr/>
          </a:p>
        </p:txBody>
      </p:sp>
      <p:pic>
        <p:nvPicPr>
          <p:cNvPr descr="mlc_lockup_black_green.png" id="3284" name="Google Shape;3284;p25"/>
          <p:cNvPicPr preferRelativeResize="0"/>
          <p:nvPr/>
        </p:nvPicPr>
        <p:blipFill rotWithShape="1">
          <a:blip r:embed="rId4">
            <a:alphaModFix/>
          </a:blip>
          <a:srcRect b="0" l="0" r="0" t="0"/>
          <a:stretch/>
        </p:blipFill>
        <p:spPr>
          <a:xfrm>
            <a:off x="9743508" y="5852881"/>
            <a:ext cx="1078992" cy="324998"/>
          </a:xfrm>
          <a:prstGeom prst="rect">
            <a:avLst/>
          </a:prstGeom>
          <a:noFill/>
          <a:ln>
            <a:noFill/>
          </a:ln>
        </p:spPr>
      </p:pic>
      <p:pic>
        <p:nvPicPr>
          <p:cNvPr descr="NSF-TACC-UT-Black.png" id="3285" name="Google Shape;3285;p25"/>
          <p:cNvPicPr preferRelativeResize="0"/>
          <p:nvPr/>
        </p:nvPicPr>
        <p:blipFill rotWithShape="1">
          <a:blip r:embed="rId5">
            <a:alphaModFix/>
          </a:blip>
          <a:srcRect b="0" l="0" r="0" t="0"/>
          <a:stretch/>
        </p:blipFill>
        <p:spPr>
          <a:xfrm>
            <a:off x="6148139" y="5823156"/>
            <a:ext cx="1874519" cy="384449"/>
          </a:xfrm>
          <a:prstGeom prst="rect">
            <a:avLst/>
          </a:prstGeom>
          <a:noFill/>
          <a:ln>
            <a:noFill/>
          </a:ln>
        </p:spPr>
      </p:pic>
      <p:pic>
        <p:nvPicPr>
          <p:cNvPr descr="UU-Logo-CTR_RED.png" id="3286" name="Google Shape;3286;p25"/>
          <p:cNvPicPr preferRelativeResize="0"/>
          <p:nvPr/>
        </p:nvPicPr>
        <p:blipFill rotWithShape="1">
          <a:blip r:embed="rId6">
            <a:alphaModFix/>
          </a:blip>
          <a:srcRect b="0" l="0" r="0" t="0"/>
          <a:stretch/>
        </p:blipFill>
        <p:spPr>
          <a:xfrm>
            <a:off x="5537125" y="5736488"/>
            <a:ext cx="489821" cy="557784"/>
          </a:xfrm>
          <a:prstGeom prst="rect">
            <a:avLst/>
          </a:prstGeom>
          <a:noFill/>
          <a:ln>
            <a:noFill/>
          </a:ln>
        </p:spPr>
      </p:pic>
      <p:pic>
        <p:nvPicPr>
          <p:cNvPr descr="University-HorizLeftLogo-RGB.png" id="3287" name="Google Shape;3287;p25"/>
          <p:cNvPicPr preferRelativeResize="0"/>
          <p:nvPr/>
        </p:nvPicPr>
        <p:blipFill rotWithShape="1">
          <a:blip r:embed="rId7">
            <a:alphaModFix/>
          </a:blip>
          <a:srcRect b="0" l="0" r="0" t="0"/>
          <a:stretch/>
        </p:blipFill>
        <p:spPr>
          <a:xfrm>
            <a:off x="3964218" y="5687002"/>
            <a:ext cx="1526380" cy="707292"/>
          </a:xfrm>
          <a:prstGeom prst="rect">
            <a:avLst/>
          </a:prstGeom>
          <a:noFill/>
          <a:ln>
            <a:noFill/>
          </a:ln>
        </p:spPr>
      </p:pic>
      <p:sp>
        <p:nvSpPr>
          <p:cNvPr id="3288" name="Google Shape;3288;p25"/>
          <p:cNvSpPr/>
          <p:nvPr/>
        </p:nvSpPr>
        <p:spPr>
          <a:xfrm>
            <a:off x="201168" y="6272784"/>
            <a:ext cx="475488" cy="347472"/>
          </a:xfrm>
          <a:prstGeom prst="roundRect">
            <a:avLst>
              <a:gd fmla="val 16667" name="adj"/>
            </a:avLst>
          </a:prstGeom>
          <a:solidFill>
            <a:srgbClr val="082B4C"/>
          </a:solidFill>
          <a:ln>
            <a:noFill/>
          </a:ln>
          <a:effectLst>
            <a:outerShdw blurRad="40000" rotWithShape="0" dir="5400000" dist="23000">
              <a:srgbClr val="000000">
                <a:alpha val="34902"/>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Calibri"/>
                <a:ea typeface="Calibri"/>
                <a:cs typeface="Calibri"/>
                <a:sym typeface="Calibri"/>
              </a:rPr>
              <a:t>26</a:t>
            </a:r>
            <a:endParaRPr/>
          </a:p>
        </p:txBody>
      </p:sp>
      <p:pic>
        <p:nvPicPr>
          <p:cNvPr descr="PU-H-Full-RGB.png" id="3289" name="Google Shape;3289;p25"/>
          <p:cNvPicPr preferRelativeResize="0"/>
          <p:nvPr/>
        </p:nvPicPr>
        <p:blipFill rotWithShape="1">
          <a:blip r:embed="rId8">
            <a:alphaModFix/>
          </a:blip>
          <a:srcRect b="0" l="0" r="0" t="0"/>
          <a:stretch/>
        </p:blipFill>
        <p:spPr>
          <a:xfrm>
            <a:off x="8148922" y="5884586"/>
            <a:ext cx="1461402" cy="261588"/>
          </a:xfrm>
          <a:prstGeom prst="rect">
            <a:avLst/>
          </a:prstGeom>
          <a:noFill/>
          <a:ln>
            <a:noFill/>
          </a:ln>
        </p:spPr>
      </p:pic>
      <p:pic>
        <p:nvPicPr>
          <p:cNvPr descr="00_logo_nsf.png" id="3290" name="Google Shape;3290;p25"/>
          <p:cNvPicPr preferRelativeResize="0"/>
          <p:nvPr/>
        </p:nvPicPr>
        <p:blipFill rotWithShape="1">
          <a:blip r:embed="rId9">
            <a:alphaModFix/>
          </a:blip>
          <a:srcRect b="0" l="0" r="0" t="0"/>
          <a:stretch/>
        </p:blipFill>
        <p:spPr>
          <a:xfrm>
            <a:off x="11334066" y="6060635"/>
            <a:ext cx="787463" cy="791578"/>
          </a:xfrm>
          <a:prstGeom prst="rect">
            <a:avLst/>
          </a:prstGeom>
          <a:noFill/>
          <a:ln>
            <a:noFill/>
          </a:ln>
        </p:spPr>
      </p:pic>
      <p:sp>
        <p:nvSpPr>
          <p:cNvPr id="3291" name="Google Shape;3291;p25"/>
          <p:cNvSpPr txBox="1"/>
          <p:nvPr/>
        </p:nvSpPr>
        <p:spPr>
          <a:xfrm>
            <a:off x="9478475" y="6469688"/>
            <a:ext cx="1785425" cy="246221"/>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600">
                <a:solidFill>
                  <a:schemeClr val="dk2"/>
                </a:solidFill>
                <a:latin typeface="Calibri"/>
                <a:ea typeface="Calibri"/>
                <a:cs typeface="Calibri"/>
                <a:sym typeface="Calibri"/>
              </a:rPr>
              <a:t>NSF Award #2609465</a:t>
            </a:r>
            <a:endParaRPr/>
          </a:p>
        </p:txBody>
      </p:sp>
      <p:sp>
        <p:nvSpPr>
          <p:cNvPr id="3292" name="Google Shape;3292;p25"/>
          <p:cNvSpPr txBox="1"/>
          <p:nvPr/>
        </p:nvSpPr>
        <p:spPr>
          <a:xfrm>
            <a:off x="4343400" y="411480"/>
            <a:ext cx="46634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a:solidFill>
                  <a:srgbClr val="082B4C"/>
                </a:solidFill>
                <a:latin typeface="Arial"/>
                <a:ea typeface="Arial"/>
                <a:cs typeface="Arial"/>
                <a:sym typeface="Arial"/>
              </a:rPr>
              <a:t>Guangzhi Qu</a:t>
            </a:r>
            <a:endParaRPr/>
          </a:p>
        </p:txBody>
      </p:sp>
      <p:sp>
        <p:nvSpPr>
          <p:cNvPr id="3293" name="Google Shape;3293;p25"/>
          <p:cNvSpPr txBox="1"/>
          <p:nvPr/>
        </p:nvSpPr>
        <p:spPr>
          <a:xfrm>
            <a:off x="4343400" y="960120"/>
            <a:ext cx="4663440"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4" name="Google Shape;3294;p25"/>
          <p:cNvSpPr txBox="1"/>
          <p:nvPr/>
        </p:nvSpPr>
        <p:spPr>
          <a:xfrm>
            <a:off x="4343400" y="960120"/>
            <a:ext cx="4663440" cy="5303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D6F98"/>
                </a:solidFill>
                <a:latin typeface="Arial"/>
                <a:ea typeface="Arial"/>
                <a:cs typeface="Arial"/>
                <a:sym typeface="Arial"/>
              </a:rPr>
              <a:t>Oakland University</a:t>
            </a:r>
            <a:endParaRPr/>
          </a:p>
        </p:txBody>
      </p:sp>
      <p:sp>
        <p:nvSpPr>
          <p:cNvPr id="3295" name="Google Shape;3295;p25"/>
          <p:cNvSpPr txBox="1"/>
          <p:nvPr/>
        </p:nvSpPr>
        <p:spPr>
          <a:xfrm>
            <a:off x="4343400" y="1874519"/>
            <a:ext cx="7178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5F7385"/>
                </a:solidFill>
                <a:latin typeface="Arial"/>
                <a:ea typeface="Arial"/>
                <a:cs typeface="Arial"/>
                <a:sym typeface="Arial"/>
              </a:rPr>
              <a:t>POSITION STATEMENT · 5 MIN</a:t>
            </a:r>
            <a:endParaRPr/>
          </a:p>
        </p:txBody>
      </p:sp>
      <p:sp>
        <p:nvSpPr>
          <p:cNvPr id="3296" name="Google Shape;3296;p25"/>
          <p:cNvSpPr txBox="1"/>
          <p:nvPr/>
        </p:nvSpPr>
        <p:spPr>
          <a:xfrm>
            <a:off x="4343400" y="2121408"/>
            <a:ext cx="7178040" cy="83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600">
                <a:solidFill>
                  <a:srgbClr val="082B4C"/>
                </a:solidFill>
                <a:latin typeface="Arial"/>
                <a:ea typeface="Arial"/>
                <a:cs typeface="Arial"/>
                <a:sym typeface="Arial"/>
              </a:rPr>
              <a:t>Can Autonomous Science Trust What It Perceives?</a:t>
            </a:r>
            <a:endParaRPr/>
          </a:p>
        </p:txBody>
      </p:sp>
      <p:sp>
        <p:nvSpPr>
          <p:cNvPr id="3297" name="Google Shape;3297;p25"/>
          <p:cNvSpPr txBox="1"/>
          <p:nvPr/>
        </p:nvSpPr>
        <p:spPr>
          <a:xfrm>
            <a:off x="4343400" y="3041904"/>
            <a:ext cx="7178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Session: Shared Requirements for Federated Autonomous Science</a:t>
            </a:r>
            <a:endParaRPr/>
          </a:p>
        </p:txBody>
      </p:sp>
      <p:sp>
        <p:nvSpPr>
          <p:cNvPr id="3298" name="Google Shape;3298;p25"/>
          <p:cNvSpPr txBox="1"/>
          <p:nvPr/>
        </p:nvSpPr>
        <p:spPr>
          <a:xfrm>
            <a:off x="4343400" y="3316224"/>
            <a:ext cx="7178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a:solidFill>
                  <a:srgbClr val="5F7385"/>
                </a:solidFill>
                <a:latin typeface="Arial"/>
                <a:ea typeface="Arial"/>
                <a:cs typeface="Arial"/>
                <a:sym typeface="Arial"/>
              </a:rPr>
              <a:t>Monday, October 19, 2026 · 2:15–3:00 PM CT</a:t>
            </a:r>
            <a:endParaRPr/>
          </a:p>
        </p:txBody>
      </p:sp>
      <p:sp>
        <p:nvSpPr>
          <p:cNvPr id="3299" name="Google Shape;3299;p25"/>
          <p:cNvSpPr txBox="1"/>
          <p:nvPr/>
        </p:nvSpPr>
        <p:spPr>
          <a:xfrm>
            <a:off x="4343399" y="3696930"/>
            <a:ext cx="6600419" cy="1396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Guangzhi Qu is a Professor in the Department of Computer Science and Engineering at Oakland University, where his research spans artificial intelligence, applied machine learning, software analysis, embedded systems, multicore computing, and discrete-event simulation. He holds a Ph.D. from the University of Arizona and teaches courses in operating systems, artificial intelligence, and machine learning.</a:t>
            </a:r>
            <a:endParaRPr/>
          </a:p>
        </p:txBody>
      </p:sp>
      <p:pic>
        <p:nvPicPr>
          <p:cNvPr id="9301" name="Picture - Guangzhi Qu headshot"/>
          <p:cNvPicPr>
            <a:picLocks noChangeAspect="1"/>
          </p:cNvPicPr>
          <p:nvPr/>
        </p:nvPicPr>
        <p:blipFill>
          <a:blip r:embed="rId10"/>
          <a:stretch>
            <a:fillRect/>
          </a:stretch>
        </p:blipFill>
        <p:spPr>
          <a:xfrm>
            <a:off x="568690" y="2258711"/>
            <a:ext cx="2719383" cy="2813172"/>
          </a:xfrm>
          <a:prstGeom prst="ellipse">
            <a:avLst/>
          </a:prstGeom>
        </p:spPr>
      </p:pic>
      <p:pic>
        <p:nvPicPr>
          <p:cNvPr id="9302" name="Picture - Oakland University logo"/>
          <p:cNvPicPr>
            <a:picLocks noChangeAspect="1"/>
          </p:cNvPicPr>
          <p:nvPr/>
        </p:nvPicPr>
        <p:blipFill>
          <a:blip r:embed="rId11"/>
          <a:stretch>
            <a:fillRect/>
          </a:stretch>
        </p:blipFill>
        <p:spPr>
          <a:xfrm>
            <a:off x="9205249" y="232632"/>
            <a:ext cx="2342319" cy="128650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9501" name="Background"/>
          <p:cNvSpPr/>
          <p:nvPr/>
        </p:nvSpPr>
        <p:spPr>
          <a:xfrm>
            <a:off x="0" y="0"/>
            <a:ext cx="12192000" cy="6858000"/>
          </a:xfrm>
          <a:prstGeom prst="rect">
            <a:avLst/>
          </a:prstGeom>
          <a:gradFill rotWithShape="1">
            <a:gsLst>
              <a:gs pos="0">
                <a:srgbClr val="071F38"/>
              </a:gs>
              <a:gs pos="55000">
                <a:srgbClr val="082B4C"/>
              </a:gs>
              <a:gs pos="100000">
                <a:srgbClr val="0A2E52"/>
              </a:gs>
            </a:gsLst>
            <a:lin ang="2700000" scaled="1"/>
          </a:gradFill>
          <a:ln>
            <a:noFill/>
          </a:ln>
        </p:spPr>
        <p:txBody>
          <a:bodyPr/>
          <a:lstStyle/>
          <a:p>
            <a:endParaRPr/>
          </a:p>
        </p:txBody>
      </p:sp>
      <p:sp>
        <p:nvSpPr>
          <p:cNvPr id="9502" name="Glow"/>
          <p:cNvSpPr/>
          <p:nvPr/>
        </p:nvSpPr>
        <p:spPr>
          <a:xfrm>
            <a:off x="6921500" y="-3175000"/>
            <a:ext cx="7112000" cy="7112000"/>
          </a:xfrm>
          <a:prstGeom prst="ellipse">
            <a:avLst/>
          </a:prstGeom>
          <a:gradFill>
            <a:gsLst>
              <a:gs pos="0">
                <a:srgbClr val="2BB9D6">
                  <a:alpha val="22000"/>
                </a:srgbClr>
              </a:gs>
              <a:gs pos="55000">
                <a:srgbClr val="2BB9D6">
                  <a:alpha val="11000"/>
                </a:srgbClr>
              </a:gs>
              <a:gs pos="100000">
                <a:srgbClr val="2BB9D6">
                  <a:alpha val="0"/>
                </a:srgbClr>
              </a:gs>
            </a:gsLst>
            <a:path path="circle">
              <a:fillToRect l="50000" t="50000" r="50000" b="50000"/>
            </a:path>
          </a:gradFill>
          <a:ln>
            <a:noFill/>
          </a:ln>
        </p:spPr>
        <p:txBody>
          <a:bodyPr/>
          <a:lstStyle/>
          <a:p>
            <a:endParaRPr/>
          </a:p>
        </p:txBody>
      </p:sp>
      <p:sp>
        <p:nvSpPr>
          <p:cNvPr id="9503" name="Glow"/>
          <p:cNvSpPr/>
          <p:nvPr/>
        </p:nvSpPr>
        <p:spPr>
          <a:xfrm>
            <a:off x="-2159000" y="3810000"/>
            <a:ext cx="6096000" cy="6096000"/>
          </a:xfrm>
          <a:prstGeom prst="ellipse">
            <a:avLst/>
          </a:prstGeom>
          <a:gradFill>
            <a:gsLst>
              <a:gs pos="0">
                <a:srgbClr val="D4AF37">
                  <a:alpha val="10000"/>
                </a:srgbClr>
              </a:gs>
              <a:gs pos="55000">
                <a:srgbClr val="D4AF37">
                  <a:alpha val="5000"/>
                </a:srgbClr>
              </a:gs>
              <a:gs pos="100000">
                <a:srgbClr val="D4AF37">
                  <a:alpha val="0"/>
                </a:srgbClr>
              </a:gs>
            </a:gsLst>
            <a:path path="circle">
              <a:fillToRect l="50000" t="50000" r="50000" b="50000"/>
            </a:path>
          </a:gradFill>
          <a:ln>
            <a:noFill/>
          </a:ln>
        </p:spPr>
        <p:txBody>
          <a:bodyPr/>
          <a:lstStyle/>
          <a:p>
            <a:endParaRPr/>
          </a:p>
        </p:txBody>
      </p:sp>
      <p:cxnSp>
        <p:nvCxnSpPr>
          <p:cNvPr id="9504" name="Connector"/>
          <p:cNvCxnSpPr/>
          <p:nvPr/>
        </p:nvCxnSpPr>
        <p:spPr>
          <a:xfrm flipH="0" flipV="1">
            <a:off x="8572500" y="444500"/>
            <a:ext cx="762000" cy="3175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05" name="Connector"/>
          <p:cNvCxnSpPr/>
          <p:nvPr/>
        </p:nvCxnSpPr>
        <p:spPr>
          <a:xfrm flipH="0" flipV="0">
            <a:off x="9334500" y="444500"/>
            <a:ext cx="762000" cy="4445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06" name="Connector"/>
          <p:cNvCxnSpPr/>
          <p:nvPr/>
        </p:nvCxnSpPr>
        <p:spPr>
          <a:xfrm flipH="1" flipV="0">
            <a:off x="9779000" y="889000"/>
            <a:ext cx="317500" cy="7620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07" name="Connector"/>
          <p:cNvCxnSpPr/>
          <p:nvPr/>
        </p:nvCxnSpPr>
        <p:spPr>
          <a:xfrm flipH="1" flipV="1">
            <a:off x="8953500" y="1524000"/>
            <a:ext cx="825500" cy="1270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08" name="Connector"/>
          <p:cNvCxnSpPr/>
          <p:nvPr/>
        </p:nvCxnSpPr>
        <p:spPr>
          <a:xfrm flipH="1" flipV="1">
            <a:off x="8572500" y="762000"/>
            <a:ext cx="381000" cy="7620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09" name="Connector"/>
          <p:cNvCxnSpPr/>
          <p:nvPr/>
        </p:nvCxnSpPr>
        <p:spPr>
          <a:xfrm flipH="0" flipV="1">
            <a:off x="10096500" y="571500"/>
            <a:ext cx="762000" cy="3175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10" name="Connector"/>
          <p:cNvCxnSpPr/>
          <p:nvPr/>
        </p:nvCxnSpPr>
        <p:spPr>
          <a:xfrm flipH="0" flipV="0">
            <a:off x="10858500" y="571500"/>
            <a:ext cx="571500" cy="4445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11" name="Connector"/>
          <p:cNvCxnSpPr/>
          <p:nvPr/>
        </p:nvCxnSpPr>
        <p:spPr>
          <a:xfrm flipH="0" flipV="1">
            <a:off x="9017000" y="2413000"/>
            <a:ext cx="762000" cy="2540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12" name="Connector"/>
          <p:cNvCxnSpPr/>
          <p:nvPr/>
        </p:nvCxnSpPr>
        <p:spPr>
          <a:xfrm flipH="0" flipV="0">
            <a:off x="9779000" y="2413000"/>
            <a:ext cx="762000" cy="3810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cxnSp>
        <p:nvCxnSpPr>
          <p:cNvPr id="9513" name="Connector"/>
          <p:cNvCxnSpPr/>
          <p:nvPr/>
        </p:nvCxnSpPr>
        <p:spPr>
          <a:xfrm flipH="1" flipV="0">
            <a:off x="10287000" y="2794000"/>
            <a:ext cx="254000" cy="635000"/>
          </a:xfrm>
          <a:prstGeom prst="line">
            <a:avLst/>
          </a:prstGeom>
          <a:ln w="16510">
            <a:solidFill>
              <a:srgbClr val="4C7DA8">
                <a:alpha val="55000"/>
              </a:srgbClr>
            </a:solidFill>
          </a:ln>
        </p:spPr>
        <p:style>
          <a:lnRef idx="1">
            <a:schemeClr val="accent1"/>
          </a:lnRef>
          <a:fillRef idx="0">
            <a:schemeClr val="accent1"/>
          </a:fillRef>
          <a:effectRef idx="0">
            <a:schemeClr val="accent1"/>
          </a:effectRef>
          <a:fontRef idx="minor">
            <a:schemeClr val="tx1"/>
          </a:fontRef>
        </p:style>
      </p:cxnSp>
      <p:sp>
        <p:nvSpPr>
          <p:cNvPr id="9514" name="Node"/>
          <p:cNvSpPr/>
          <p:nvPr/>
        </p:nvSpPr>
        <p:spPr>
          <a:xfrm>
            <a:off x="8552180" y="741680"/>
            <a:ext cx="40640" cy="40640"/>
          </a:xfrm>
          <a:prstGeom prst="ellipse">
            <a:avLst/>
          </a:prstGeom>
          <a:solidFill>
            <a:srgbClr val="8CC7E8">
              <a:alpha val="80000"/>
            </a:srgbClr>
          </a:solidFill>
          <a:ln>
            <a:noFill/>
          </a:ln>
        </p:spPr>
        <p:txBody>
          <a:bodyPr/>
          <a:lstStyle/>
          <a:p>
            <a:endParaRPr/>
          </a:p>
        </p:txBody>
      </p:sp>
      <p:sp>
        <p:nvSpPr>
          <p:cNvPr id="9515" name="Node"/>
          <p:cNvSpPr/>
          <p:nvPr/>
        </p:nvSpPr>
        <p:spPr>
          <a:xfrm>
            <a:off x="9314180" y="424180"/>
            <a:ext cx="40640" cy="40640"/>
          </a:xfrm>
          <a:prstGeom prst="ellipse">
            <a:avLst/>
          </a:prstGeom>
          <a:solidFill>
            <a:srgbClr val="8CC7E8">
              <a:alpha val="80000"/>
            </a:srgbClr>
          </a:solidFill>
          <a:ln>
            <a:noFill/>
          </a:ln>
        </p:spPr>
        <p:txBody>
          <a:bodyPr/>
          <a:lstStyle/>
          <a:p>
            <a:endParaRPr/>
          </a:p>
        </p:txBody>
      </p:sp>
      <p:sp>
        <p:nvSpPr>
          <p:cNvPr id="9516" name="Node"/>
          <p:cNvSpPr/>
          <p:nvPr/>
        </p:nvSpPr>
        <p:spPr>
          <a:xfrm>
            <a:off x="10064750" y="857250"/>
            <a:ext cx="63500" cy="63500"/>
          </a:xfrm>
          <a:prstGeom prst="ellipse">
            <a:avLst/>
          </a:prstGeom>
          <a:solidFill>
            <a:srgbClr val="D4AF37">
              <a:alpha val="100000"/>
            </a:srgbClr>
          </a:solidFill>
          <a:ln>
            <a:noFill/>
          </a:ln>
        </p:spPr>
        <p:txBody>
          <a:bodyPr/>
          <a:lstStyle/>
          <a:p>
            <a:endParaRPr/>
          </a:p>
        </p:txBody>
      </p:sp>
      <p:sp>
        <p:nvSpPr>
          <p:cNvPr id="9517" name="Node"/>
          <p:cNvSpPr/>
          <p:nvPr/>
        </p:nvSpPr>
        <p:spPr>
          <a:xfrm>
            <a:off x="9758680" y="1630680"/>
            <a:ext cx="40640" cy="40640"/>
          </a:xfrm>
          <a:prstGeom prst="ellipse">
            <a:avLst/>
          </a:prstGeom>
          <a:solidFill>
            <a:srgbClr val="8CC7E8">
              <a:alpha val="80000"/>
            </a:srgbClr>
          </a:solidFill>
          <a:ln>
            <a:noFill/>
          </a:ln>
        </p:spPr>
        <p:txBody>
          <a:bodyPr/>
          <a:lstStyle/>
          <a:p>
            <a:endParaRPr/>
          </a:p>
        </p:txBody>
      </p:sp>
      <p:sp>
        <p:nvSpPr>
          <p:cNvPr id="9518" name="Node"/>
          <p:cNvSpPr/>
          <p:nvPr/>
        </p:nvSpPr>
        <p:spPr>
          <a:xfrm>
            <a:off x="8933180" y="1503680"/>
            <a:ext cx="40640" cy="40640"/>
          </a:xfrm>
          <a:prstGeom prst="ellipse">
            <a:avLst/>
          </a:prstGeom>
          <a:solidFill>
            <a:srgbClr val="8CC7E8">
              <a:alpha val="80000"/>
            </a:srgbClr>
          </a:solidFill>
          <a:ln>
            <a:noFill/>
          </a:ln>
        </p:spPr>
        <p:txBody>
          <a:bodyPr/>
          <a:lstStyle/>
          <a:p>
            <a:endParaRPr/>
          </a:p>
        </p:txBody>
      </p:sp>
      <p:sp>
        <p:nvSpPr>
          <p:cNvPr id="9519" name="Node"/>
          <p:cNvSpPr/>
          <p:nvPr/>
        </p:nvSpPr>
        <p:spPr>
          <a:xfrm>
            <a:off x="10838180" y="551180"/>
            <a:ext cx="40640" cy="40640"/>
          </a:xfrm>
          <a:prstGeom prst="ellipse">
            <a:avLst/>
          </a:prstGeom>
          <a:solidFill>
            <a:srgbClr val="8CC7E8">
              <a:alpha val="80000"/>
            </a:srgbClr>
          </a:solidFill>
          <a:ln>
            <a:noFill/>
          </a:ln>
        </p:spPr>
        <p:txBody>
          <a:bodyPr/>
          <a:lstStyle/>
          <a:p>
            <a:endParaRPr/>
          </a:p>
        </p:txBody>
      </p:sp>
      <p:sp>
        <p:nvSpPr>
          <p:cNvPr id="9520" name="Node"/>
          <p:cNvSpPr/>
          <p:nvPr/>
        </p:nvSpPr>
        <p:spPr>
          <a:xfrm>
            <a:off x="11409680" y="995680"/>
            <a:ext cx="40640" cy="40640"/>
          </a:xfrm>
          <a:prstGeom prst="ellipse">
            <a:avLst/>
          </a:prstGeom>
          <a:solidFill>
            <a:srgbClr val="8CC7E8">
              <a:alpha val="80000"/>
            </a:srgbClr>
          </a:solidFill>
          <a:ln>
            <a:noFill/>
          </a:ln>
        </p:spPr>
        <p:txBody>
          <a:bodyPr/>
          <a:lstStyle/>
          <a:p>
            <a:endParaRPr/>
          </a:p>
        </p:txBody>
      </p:sp>
      <p:sp>
        <p:nvSpPr>
          <p:cNvPr id="9521" name="Node"/>
          <p:cNvSpPr/>
          <p:nvPr/>
        </p:nvSpPr>
        <p:spPr>
          <a:xfrm>
            <a:off x="8996680" y="2646680"/>
            <a:ext cx="40640" cy="40640"/>
          </a:xfrm>
          <a:prstGeom prst="ellipse">
            <a:avLst/>
          </a:prstGeom>
          <a:solidFill>
            <a:srgbClr val="8CC7E8">
              <a:alpha val="80000"/>
            </a:srgbClr>
          </a:solidFill>
          <a:ln>
            <a:noFill/>
          </a:ln>
        </p:spPr>
        <p:txBody>
          <a:bodyPr/>
          <a:lstStyle/>
          <a:p>
            <a:endParaRPr/>
          </a:p>
        </p:txBody>
      </p:sp>
      <p:sp>
        <p:nvSpPr>
          <p:cNvPr id="9522" name="Node"/>
          <p:cNvSpPr/>
          <p:nvPr/>
        </p:nvSpPr>
        <p:spPr>
          <a:xfrm>
            <a:off x="9747250" y="2381250"/>
            <a:ext cx="63500" cy="63500"/>
          </a:xfrm>
          <a:prstGeom prst="ellipse">
            <a:avLst/>
          </a:prstGeom>
          <a:solidFill>
            <a:srgbClr val="D4AF37">
              <a:alpha val="100000"/>
            </a:srgbClr>
          </a:solidFill>
          <a:ln>
            <a:noFill/>
          </a:ln>
        </p:spPr>
        <p:txBody>
          <a:bodyPr/>
          <a:lstStyle/>
          <a:p>
            <a:endParaRPr/>
          </a:p>
        </p:txBody>
      </p:sp>
      <p:sp>
        <p:nvSpPr>
          <p:cNvPr id="9523" name="Node"/>
          <p:cNvSpPr/>
          <p:nvPr/>
        </p:nvSpPr>
        <p:spPr>
          <a:xfrm>
            <a:off x="10520680" y="2773680"/>
            <a:ext cx="40640" cy="40640"/>
          </a:xfrm>
          <a:prstGeom prst="ellipse">
            <a:avLst/>
          </a:prstGeom>
          <a:solidFill>
            <a:srgbClr val="8CC7E8">
              <a:alpha val="80000"/>
            </a:srgbClr>
          </a:solidFill>
          <a:ln>
            <a:noFill/>
          </a:ln>
        </p:spPr>
        <p:txBody>
          <a:bodyPr/>
          <a:lstStyle/>
          <a:p>
            <a:endParaRPr/>
          </a:p>
        </p:txBody>
      </p:sp>
      <p:sp>
        <p:nvSpPr>
          <p:cNvPr id="9524" name="Node"/>
          <p:cNvSpPr/>
          <p:nvPr/>
        </p:nvSpPr>
        <p:spPr>
          <a:xfrm>
            <a:off x="10266680" y="3408680"/>
            <a:ext cx="40640" cy="40640"/>
          </a:xfrm>
          <a:prstGeom prst="ellipse">
            <a:avLst/>
          </a:prstGeom>
          <a:solidFill>
            <a:srgbClr val="8CC7E8">
              <a:alpha val="80000"/>
            </a:srgbClr>
          </a:solidFill>
          <a:ln>
            <a:noFill/>
          </a:ln>
        </p:spPr>
        <p:txBody>
          <a:bodyPr/>
          <a:lstStyle/>
          <a:p>
            <a:endParaRPr/>
          </a:p>
        </p:txBody>
      </p:sp>
      <p:pic>
        <p:nvPicPr>
          <p:cNvPr id="9525" name="NSDF logo"/>
          <p:cNvPicPr>
            <a:picLocks noChangeAspect="1"/>
          </p:cNvPicPr>
          <p:nvPr/>
        </p:nvPicPr>
        <p:blipFill>
          <a:blip r:embed="rIdNsdfLogo"/>
          <a:stretch>
            <a:fillRect/>
          </a:stretch>
        </p:blipFill>
        <p:spPr>
          <a:xfrm>
            <a:off x="508000" y="203200"/>
            <a:ext cx="680085" cy="355600"/>
          </a:xfrm>
          <a:prstGeom prst="rect">
            <a:avLst/>
          </a:prstGeom>
        </p:spPr>
      </p:pic>
      <p:sp>
        <p:nvSpPr>
          <p:cNvPr id="9526" name="Wordmark"/>
          <p:cNvSpPr txBox="1"/>
          <p:nvPr/>
        </p:nvSpPr>
        <p:spPr>
          <a:xfrm>
            <a:off x="1352550" y="203200"/>
            <a:ext cx="3937000" cy="355600"/>
          </a:xfrm>
          <a:prstGeom prst="rect">
            <a:avLst/>
          </a:prstGeom>
          <a:noFill/>
        </p:spPr>
        <p:txBody>
          <a:bodyPr wrap="none" lIns="0" tIns="0" rIns="0" bIns="0" anchor="ctr">
            <a:noAutofit/>
          </a:bodyPr>
          <a:lstStyle/>
          <a:p>
            <a:pPr algn="l"/>
            <a:r>
              <a:rPr lang="en-US" sz="1500" b="1" i="0" dirty="0">
                <a:solidFill>
                  <a:srgbClr val="FFFFFF"/>
                </a:solidFill>
                <a:latin typeface="Arial"/>
                <a:cs typeface="Arial"/>
              </a:rPr>
              <a:t>NATIONAL SCIENCE DATA FABRIC</a:t>
            </a:r>
          </a:p>
        </p:txBody>
      </p:sp>
      <p:sp>
        <p:nvSpPr>
          <p:cNvPr id="9527" name="Date pill (nav)"/>
          <p:cNvSpPr/>
          <p:nvPr/>
        </p:nvSpPr>
        <p:spPr>
          <a:xfrm>
            <a:off x="9842500" y="203200"/>
            <a:ext cx="1841500" cy="342900"/>
          </a:xfrm>
          <a:prstGeom prst="roundRect">
            <a:avLst>
              <a:gd name="adj" fmla="val 50000"/>
            </a:avLst>
          </a:prstGeom>
          <a:solidFill>
            <a:srgbClr val="FFFFFF">
              <a:alpha val="7000"/>
            </a:srgbClr>
          </a:solidFill>
          <a:ln w="9525">
            <a:solidFill>
              <a:srgbClr val="8CC7E8">
                <a:alpha val="55000"/>
              </a:srgbClr>
            </a:solidFill>
          </a:ln>
        </p:spPr>
        <p:txBody>
          <a:bodyPr wrap="square" lIns="0" tIns="0" rIns="0" bIns="0" anchor="ctr">
            <a:noAutofit/>
          </a:bodyPr>
          <a:lstStyle/>
          <a:p>
            <a:pPr algn="ctr"/>
            <a:r>
              <a:rPr lang="en-US" sz="1400" b="1" dirty="0">
                <a:solidFill>
                  <a:srgbClr val="8CC7E8"/>
                </a:solidFill>
                <a:latin typeface="Arial"/>
                <a:cs typeface="Arial"/>
              </a:rPr>
              <a:t>OCT 19–20, 2026</a:t>
            </a:r>
          </a:p>
        </p:txBody>
      </p:sp>
      <p:sp>
        <p:nvSpPr>
          <p:cNvPr id="9528" name="Eyebrow"/>
          <p:cNvSpPr txBox="1"/>
          <p:nvPr/>
        </p:nvSpPr>
        <p:spPr>
          <a:xfrm>
            <a:off x="508000" y="1257300"/>
            <a:ext cx="4445000" cy="228600"/>
          </a:xfrm>
          <a:prstGeom prst="rect">
            <a:avLst/>
          </a:prstGeom>
          <a:noFill/>
        </p:spPr>
        <p:txBody>
          <a:bodyPr wrap="square" lIns="0" tIns="0" rIns="0" bIns="0" anchor="t">
            <a:noAutofit/>
          </a:bodyPr>
          <a:lstStyle/>
          <a:p>
            <a:pPr algn="l"/>
            <a:r>
              <a:rPr lang="en-US" sz="1500" b="1" i="0" spc="250" dirty="0">
                <a:solidFill>
                  <a:srgbClr val="D4AF37"/>
                </a:solidFill>
                <a:latin typeface="Arial"/>
                <a:cs typeface="Arial"/>
              </a:rPr>
              <a:t>—  NSDF SUMMIT 2026</a:t>
            </a:r>
          </a:p>
        </p:txBody>
      </p:sp>
      <p:sp>
        <p:nvSpPr>
          <p:cNvPr id="9529" name="Title line 1"/>
          <p:cNvSpPr txBox="1"/>
          <p:nvPr/>
        </p:nvSpPr>
        <p:spPr>
          <a:xfrm>
            <a:off x="508000" y="1587500"/>
            <a:ext cx="6985000" cy="1333500"/>
          </a:xfrm>
          <a:prstGeom prst="rect">
            <a:avLst/>
          </a:prstGeom>
          <a:noFill/>
        </p:spPr>
        <p:txBody>
          <a:bodyPr wrap="square" lIns="0" tIns="0" rIns="0" bIns="0" anchor="t">
            <a:noAutofit/>
          </a:bodyPr>
          <a:lstStyle/>
          <a:p>
            <a:pPr algn="l"/>
            <a:r>
              <a:rPr lang="en-US" sz="4800" b="1" i="0" dirty="0">
                <a:solidFill>
                  <a:srgbClr val="FFFFFF"/>
                </a:solidFill>
                <a:latin typeface="Arial"/>
                <a:cs typeface="Arial"/>
              </a:rPr>
              <a:t>Federated</a:t>
            </a:r>
          </a:p>
        </p:txBody>
      </p:sp>
      <p:sp>
        <p:nvSpPr>
          <p:cNvPr id="9530" name="Title line 2"/>
          <p:cNvSpPr txBox="1"/>
          <p:nvPr/>
        </p:nvSpPr>
        <p:spPr>
          <a:xfrm>
            <a:off x="508000" y="2190750"/>
            <a:ext cx="8255000" cy="889000"/>
          </a:xfrm>
          <a:prstGeom prst="rect">
            <a:avLst/>
          </a:prstGeom>
          <a:noFill/>
        </p:spPr>
        <p:txBody>
          <a:bodyPr wrap="square" lIns="0" tIns="0" rIns="0" bIns="0" anchor="t">
            <a:noAutofit/>
          </a:bodyPr>
          <a:lstStyle/>
          <a:p>
            <a:pPr algn="l"/>
            <a:r>
              <a:rPr lang="en-US" sz="4800" b="1" i="0" dirty="0">
                <a:solidFill>
                  <a:srgbClr val="2BB9D6"/>
                </a:solidFill>
                <a:latin typeface="Arial"/>
                <a:cs typeface="Arial"/>
              </a:rPr>
              <a:t>Autonomous Science</a:t>
            </a:r>
          </a:p>
        </p:txBody>
      </p:sp>
      <p:sp>
        <p:nvSpPr>
          <p:cNvPr id="9531" name="Description"/>
          <p:cNvSpPr txBox="1"/>
          <p:nvPr/>
        </p:nvSpPr>
        <p:spPr>
          <a:xfrm>
            <a:off x="508000" y="3175000"/>
            <a:ext cx="6731000" cy="825500"/>
          </a:xfrm>
          <a:prstGeom prst="rect">
            <a:avLst/>
          </a:prstGeom>
          <a:noFill/>
        </p:spPr>
        <p:txBody>
          <a:bodyPr wrap="square" lIns="0" tIns="0" rIns="0" bIns="0" anchor="t">
            <a:noAutofit/>
          </a:bodyPr>
          <a:lstStyle/>
          <a:p>
            <a:pPr algn="l"/>
            <a:r>
              <a:rPr lang="en-US" sz="1500" b="0" i="0" dirty="0">
                <a:solidFill>
                  <a:srgbClr val="B9C8D6"/>
                </a:solidFill>
                <a:latin typeface="Arial"/>
                <a:cs typeface="Arial"/>
              </a:rPr>
              <a:t>A working meeting bringing together academia, industry, national labs, and cyberinfrastructure organizations to build the digital backbone for trustworthy autonomous scientific discovery.</a:t>
            </a:r>
          </a:p>
        </p:txBody>
      </p:sp>
      <p:sp>
        <p:nvSpPr>
          <p:cNvPr id="9532" name="Pill date"/>
          <p:cNvSpPr/>
          <p:nvPr/>
        </p:nvSpPr>
        <p:spPr>
          <a:xfrm>
            <a:off x="508000" y="4127500"/>
            <a:ext cx="2794000" cy="355600"/>
          </a:xfrm>
          <a:prstGeom prst="roundRect">
            <a:avLst>
              <a:gd name="adj" fmla="val 50000"/>
            </a:avLst>
          </a:prstGeom>
          <a:solidFill>
            <a:srgbClr val="FFFFFF">
              <a:alpha val="6000"/>
            </a:srgbClr>
          </a:solidFill>
          <a:ln>
            <a:noFill/>
          </a:ln>
        </p:spPr>
        <p:txBody>
          <a:bodyPr wrap="square" lIns="0" tIns="0" rIns="0" bIns="0" anchor="ctr">
            <a:noAutofit/>
          </a:bodyPr>
          <a:lstStyle/>
          <a:p>
            <a:pPr algn="ctr"/>
            <a:r>
              <a:rPr lang="en-US" sz="1400" b="0" dirty="0">
                <a:solidFill>
                  <a:srgbClr val="D4AF37"/>
                </a:solidFill>
                <a:latin typeface="Arial"/>
                <a:cs typeface="Arial"/>
              </a:rPr>
              <a:t>●  </a:t>
            </a:r>
            <a:r>
              <a:rPr lang="en-US" sz="1500" b="1" dirty="0">
                <a:solidFill>
                  <a:srgbClr val="FFFFFF"/>
                </a:solidFill>
                <a:latin typeface="Arial"/>
                <a:cs typeface="Arial"/>
              </a:rPr>
              <a:t>Mon–Tue, Oct 19–20, 2026</a:t>
            </a:r>
          </a:p>
        </p:txBody>
      </p:sp>
      <p:sp>
        <p:nvSpPr>
          <p:cNvPr id="9533" name="Pill location"/>
          <p:cNvSpPr/>
          <p:nvPr/>
        </p:nvSpPr>
        <p:spPr>
          <a:xfrm>
            <a:off x="3429000" y="4127500"/>
            <a:ext cx="4445000" cy="355600"/>
          </a:xfrm>
          <a:prstGeom prst="roundRect">
            <a:avLst>
              <a:gd name="adj" fmla="val 50000"/>
            </a:avLst>
          </a:prstGeom>
          <a:solidFill>
            <a:srgbClr val="FFFFFF">
              <a:alpha val="6000"/>
            </a:srgbClr>
          </a:solidFill>
          <a:ln>
            <a:noFill/>
          </a:ln>
        </p:spPr>
        <p:txBody>
          <a:bodyPr wrap="square" lIns="0" tIns="0" rIns="0" bIns="0" anchor="ctr">
            <a:noAutofit/>
          </a:bodyPr>
          <a:lstStyle/>
          <a:p>
            <a:pPr algn="ctr"/>
            <a:r>
              <a:rPr lang="en-US" sz="1400" b="0" dirty="0">
                <a:solidFill>
                  <a:srgbClr val="D4AF37"/>
                </a:solidFill>
                <a:latin typeface="Arial"/>
                <a:cs typeface="Arial"/>
              </a:rPr>
              <a:t>●  </a:t>
            </a:r>
            <a:r>
              <a:rPr lang="en-US" sz="1500" b="1" dirty="0">
                <a:solidFill>
                  <a:srgbClr val="FFFFFF"/>
                </a:solidFill>
                <a:latin typeface="Arial"/>
                <a:cs typeface="Arial"/>
              </a:rPr>
              <a:t>Discovery Partners Institute</a:t>
            </a:r>
            <a:r>
              <a:rPr lang="en-US" sz="1500" b="0" dirty="0">
                <a:solidFill>
                  <a:srgbClr val="8CC7E8"/>
                </a:solidFill>
                <a:latin typeface="Arial"/>
                <a:cs typeface="Arial"/>
              </a:rPr>
              <a:t>  · Chicago, IL</a:t>
            </a:r>
          </a:p>
        </p:txBody>
      </p:sp>
      <p:sp>
        <p:nvSpPr>
          <p:cNvPr id="9534" name="Pill pact"/>
          <p:cNvSpPr/>
          <p:nvPr/>
        </p:nvSpPr>
        <p:spPr>
          <a:xfrm>
            <a:off x="8001000" y="4127500"/>
            <a:ext cx="2540000" cy="355600"/>
          </a:xfrm>
          <a:prstGeom prst="roundRect">
            <a:avLst>
              <a:gd name="adj" fmla="val 50000"/>
            </a:avLst>
          </a:prstGeom>
          <a:solidFill>
            <a:srgbClr val="FFFFFF">
              <a:alpha val="6000"/>
            </a:srgbClr>
          </a:solidFill>
          <a:ln>
            <a:noFill/>
          </a:ln>
        </p:spPr>
        <p:txBody>
          <a:bodyPr wrap="square" lIns="0" tIns="0" rIns="0" bIns="0" anchor="ctr">
            <a:noAutofit/>
          </a:bodyPr>
          <a:lstStyle/>
          <a:p>
            <a:pPr algn="ctr"/>
            <a:r>
              <a:rPr lang="en-US" sz="1400" b="0" dirty="0">
                <a:solidFill>
                  <a:srgbClr val="D4AF37"/>
                </a:solidFill>
                <a:latin typeface="Arial"/>
                <a:cs typeface="Arial"/>
              </a:rPr>
              <a:t>●  </a:t>
            </a:r>
            <a:r>
              <a:rPr lang="en-US" sz="1500" b="1" dirty="0">
                <a:solidFill>
                  <a:srgbClr val="FFFFFF"/>
                </a:solidFill>
                <a:latin typeface="Arial"/>
                <a:cs typeface="Arial"/>
              </a:rPr>
              <a:t>Held with </a:t>
            </a:r>
            <a:r>
              <a:rPr lang="en-US" sz="1500" b="0" dirty="0">
                <a:solidFill>
                  <a:srgbClr val="8CC7E8"/>
                </a:solidFill>
                <a:latin typeface="Arial"/>
                <a:cs typeface="Arial"/>
              </a:rPr>
              <a:t>PACT 2026</a:t>
            </a:r>
          </a:p>
        </p:txBody>
      </p:sp>
      <p:pic>
        <p:nvPicPr>
          <p:cNvPr id="9535" name="Chicago skyline"/>
          <p:cNvPicPr>
            <a:picLocks noChangeAspect="1"/>
          </p:cNvPicPr>
          <p:nvPr/>
        </p:nvPicPr>
        <p:blipFill>
          <a:blip r:embed="rIdSkyline"/>
          <a:stretch>
            <a:fillRect/>
          </a:stretch>
        </p:blipFill>
        <p:spPr>
          <a:xfrm>
            <a:off x="7366000" y="5016500"/>
            <a:ext cx="4953000" cy="1460500"/>
          </a:xfrm>
          <a:prstGeom prst="rect">
            <a:avLst/>
          </a:prstGeom>
        </p:spPr>
      </p:pic>
      <p:sp>
        <p:nvSpPr>
          <p:cNvPr id="9536" name="Footer band"/>
          <p:cNvSpPr/>
          <p:nvPr/>
        </p:nvSpPr>
        <p:spPr>
          <a:xfrm>
            <a:off x="0" y="5803900"/>
            <a:ext cx="12192000" cy="1054100"/>
          </a:xfrm>
          <a:prstGeom prst="rect">
            <a:avLst/>
          </a:prstGeom>
          <a:solidFill>
            <a:srgbClr val="071F38">
              <a:alpha val="60000"/>
            </a:srgbClr>
          </a:solidFill>
          <a:ln w="9525">
            <a:solidFill>
              <a:srgbClr val="8CC7E8">
                <a:alpha val="25000"/>
              </a:srgbClr>
            </a:solidFill>
            <a:headEnd type="none"/>
            <a:tailEnd type="none"/>
          </a:ln>
        </p:spPr>
        <p:txBody>
          <a:bodyPr/>
          <a:lstStyle/>
          <a:p>
            <a:endParaRPr/>
          </a:p>
        </p:txBody>
      </p:sp>
      <p:sp>
        <p:nvSpPr>
          <p:cNvPr id="9537" name="Partner label line1"/>
          <p:cNvSpPr txBox="1"/>
          <p:nvPr/>
        </p:nvSpPr>
        <p:spPr>
          <a:xfrm>
            <a:off x="508000" y="5956300"/>
            <a:ext cx="1333500" cy="228600"/>
          </a:xfrm>
          <a:prstGeom prst="rect">
            <a:avLst/>
          </a:prstGeom>
          <a:noFill/>
        </p:spPr>
        <p:txBody>
          <a:bodyPr wrap="none" lIns="0" tIns="0" rIns="0" bIns="0" anchor="t">
            <a:noAutofit/>
          </a:bodyPr>
          <a:lstStyle/>
          <a:p>
            <a:pPr algn="l"/>
            <a:r>
              <a:rPr lang="en-US" sz="1100" b="1" i="0" spc="150" dirty="0">
                <a:solidFill>
                  <a:srgbClr val="8CC7E8"/>
                </a:solidFill>
                <a:latin typeface="Arial"/>
                <a:cs typeface="Arial"/>
              </a:rPr>
              <a:t>PARTNER</a:t>
            </a:r>
          </a:p>
        </p:txBody>
      </p:sp>
      <p:sp>
        <p:nvSpPr>
          <p:cNvPr id="9538" name="Partner label line2"/>
          <p:cNvSpPr txBox="1"/>
          <p:nvPr/>
        </p:nvSpPr>
        <p:spPr>
          <a:xfrm>
            <a:off x="508000" y="6210300"/>
            <a:ext cx="1333500" cy="228600"/>
          </a:xfrm>
          <a:prstGeom prst="rect">
            <a:avLst/>
          </a:prstGeom>
          <a:noFill/>
        </p:spPr>
        <p:txBody>
          <a:bodyPr wrap="none" lIns="0" tIns="0" rIns="0" bIns="0" anchor="t">
            <a:noAutofit/>
          </a:bodyPr>
          <a:lstStyle/>
          <a:p>
            <a:pPr algn="l"/>
            <a:r>
              <a:rPr lang="en-US" sz="1100" b="1" i="0" spc="150" dirty="0">
                <a:solidFill>
                  <a:srgbClr val="8CC7E8"/>
                </a:solidFill>
                <a:latin typeface="Arial"/>
                <a:cs typeface="Arial"/>
              </a:rPr>
              <a:t>INSTITUTIONS</a:t>
            </a:r>
          </a:p>
        </p:txBody>
      </p:sp>
      <p:sp>
        <p:nvSpPr>
          <p:cNvPr id="9539" name="Partner card"/>
          <p:cNvSpPr/>
          <p:nvPr/>
        </p:nvSpPr>
        <p:spPr>
          <a:xfrm>
            <a:off x="2032000" y="5969000"/>
            <a:ext cx="7556500" cy="812800"/>
          </a:xfrm>
          <a:prstGeom prst="roundRect">
            <a:avLst>
              <a:gd name="adj" fmla="val 16000"/>
            </a:avLst>
          </a:prstGeom>
          <a:solidFill>
            <a:srgbClr val="FFFFFF">
              <a:alpha val="96000"/>
            </a:srgbClr>
          </a:solidFill>
          <a:ln>
            <a:noFill/>
          </a:ln>
        </p:spPr>
        <p:txBody>
          <a:bodyPr/>
          <a:lstStyle/>
          <a:p>
            <a:endParaRPr/>
          </a:p>
        </p:txBody>
      </p:sp>
      <p:pic>
        <p:nvPicPr>
          <p:cNvPr id="9540" name="Partner logo"/>
          <p:cNvPicPr>
            <a:picLocks noChangeAspect="1"/>
          </p:cNvPicPr>
          <p:nvPr/>
        </p:nvPicPr>
        <p:blipFill>
          <a:blip r:embed="rIdTenn"/>
          <a:stretch>
            <a:fillRect/>
          </a:stretch>
        </p:blipFill>
        <p:spPr>
          <a:xfrm>
            <a:off x="2086927" y="6021705"/>
            <a:ext cx="1526540" cy="707390"/>
          </a:xfrm>
          <a:prstGeom prst="rect">
            <a:avLst/>
          </a:prstGeom>
        </p:spPr>
      </p:pic>
      <p:pic>
        <p:nvPicPr>
          <p:cNvPr id="9541" name="Partner logo"/>
          <p:cNvPicPr>
            <a:picLocks noChangeAspect="1"/>
          </p:cNvPicPr>
          <p:nvPr/>
        </p:nvPicPr>
        <p:blipFill>
          <a:blip r:embed="rIdUtah"/>
          <a:stretch>
            <a:fillRect/>
          </a:stretch>
        </p:blipFill>
        <p:spPr>
          <a:xfrm>
            <a:off x="3867467" y="6096635"/>
            <a:ext cx="489585" cy="557530"/>
          </a:xfrm>
          <a:prstGeom prst="rect">
            <a:avLst/>
          </a:prstGeom>
        </p:spPr>
      </p:pic>
      <p:pic>
        <p:nvPicPr>
          <p:cNvPr id="9542" name="Partner logo"/>
          <p:cNvPicPr>
            <a:picLocks noChangeAspect="1"/>
          </p:cNvPicPr>
          <p:nvPr/>
        </p:nvPicPr>
        <p:blipFill>
          <a:blip r:embed="rIdTaccTexas"/>
          <a:stretch>
            <a:fillRect/>
          </a:stretch>
        </p:blipFill>
        <p:spPr>
          <a:xfrm>
            <a:off x="4611052" y="6244590"/>
            <a:ext cx="1461135" cy="261620"/>
          </a:xfrm>
          <a:prstGeom prst="rect">
            <a:avLst/>
          </a:prstGeom>
        </p:spPr>
      </p:pic>
      <p:pic>
        <p:nvPicPr>
          <p:cNvPr id="9543" name="Partner logo"/>
          <p:cNvPicPr>
            <a:picLocks noChangeAspect="1"/>
          </p:cNvPicPr>
          <p:nvPr/>
        </p:nvPicPr>
        <p:blipFill>
          <a:blip r:embed="rIdPurdue"/>
          <a:stretch>
            <a:fillRect/>
          </a:stretch>
        </p:blipFill>
        <p:spPr>
          <a:xfrm>
            <a:off x="6326188" y="6212840"/>
            <a:ext cx="1078865" cy="325120"/>
          </a:xfrm>
          <a:prstGeom prst="rect">
            <a:avLst/>
          </a:prstGeom>
        </p:spPr>
      </p:pic>
      <p:pic>
        <p:nvPicPr>
          <p:cNvPr id="9544" name="Partner logo"/>
          <p:cNvPicPr>
            <a:picLocks noChangeAspect="1"/>
          </p:cNvPicPr>
          <p:nvPr/>
        </p:nvPicPr>
        <p:blipFill>
          <a:blip r:embed="rIdMl"/>
          <a:stretch>
            <a:fillRect/>
          </a:stretch>
        </p:blipFill>
        <p:spPr>
          <a:xfrm>
            <a:off x="7659053" y="6183312"/>
            <a:ext cx="1874520" cy="384175"/>
          </a:xfrm>
          <a:prstGeom prst="rect">
            <a:avLst/>
          </a:prstGeom>
        </p:spPr>
      </p:pic>
      <p:pic>
        <p:nvPicPr>
          <p:cNvPr id="9545" name="NSF seal"/>
          <p:cNvPicPr>
            <a:picLocks noChangeAspect="1"/>
          </p:cNvPicPr>
          <p:nvPr/>
        </p:nvPicPr>
        <p:blipFill>
          <a:blip r:embed="rIdNsfSeal"/>
          <a:stretch>
            <a:fillRect/>
          </a:stretch>
        </p:blipFill>
        <p:spPr>
          <a:xfrm>
            <a:off x="9779000" y="6197600"/>
            <a:ext cx="317500" cy="317500"/>
          </a:xfrm>
          <a:prstGeom prst="rect">
            <a:avLst/>
          </a:prstGeom>
        </p:spPr>
      </p:pic>
      <p:sp>
        <p:nvSpPr>
          <p:cNvPr id="9546" name="NSF award"/>
          <p:cNvSpPr txBox="1"/>
          <p:nvPr/>
        </p:nvSpPr>
        <p:spPr>
          <a:xfrm>
            <a:off x="10172700" y="6261100"/>
            <a:ext cx="1511300" cy="190500"/>
          </a:xfrm>
          <a:prstGeom prst="rect">
            <a:avLst/>
          </a:prstGeom>
          <a:noFill/>
        </p:spPr>
        <p:txBody>
          <a:bodyPr wrap="none" lIns="0" tIns="0" rIns="0" bIns="0" anchor="t">
            <a:noAutofit/>
          </a:bodyPr>
          <a:lstStyle/>
          <a:p>
            <a:pPr algn="l"/>
            <a:r>
              <a:rPr lang="en-US" sz="1300" b="0" i="0" dirty="0">
                <a:solidFill>
                  <a:srgbClr val="8CC7E8"/>
                </a:solidFill>
                <a:latin typeface="Arial"/>
                <a:cs typeface="Arial"/>
              </a:rPr>
              <a:t>NSF Award #2609465</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